
<file path=[Content_Types].xml><?xml version="1.0" encoding="utf-8"?>
<Types xmlns="http://schemas.openxmlformats.org/package/2006/content-types">
  <Default Extension="fntdata" ContentType="application/x-fontdata"/>
  <Default Extension="jpeg" ContentType="image/jpeg"/>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Lst>
  <p:sldSz cx="18288000" cy="10287000"/>
  <p:notesSz cx="6858000" cy="9144000"/>
  <p:embeddedFontLst>
    <p:embeddedFont>
      <p:font typeface="Poppins" panose="00000500000000000000" pitchFamily="2" charset="0"/>
      <p:regular r:id="rId21"/>
    </p:embeddedFont>
    <p:embeddedFont>
      <p:font typeface="Poppins Bold" panose="00000800000000000000" charset="0"/>
      <p:regular r:id="rId22"/>
    </p:embeddedFont>
    <p:embeddedFont>
      <p:font typeface="Poppins Heavy" panose="020B0604020202020204" charset="0"/>
      <p:regular r:id="rId23"/>
    </p:embeddedFont>
    <p:embeddedFont>
      <p:font typeface="Poppins Light" panose="00000400000000000000" pitchFamily="2" charset="0"/>
      <p:regular r:id="rId24"/>
    </p:embeddedFont>
    <p:embeddedFont>
      <p:font typeface="Poppins Ultra-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ah Brown" userId="c19fa0da-a98e-401c-a4d8-baee66dd4639" providerId="ADAL" clId="{131A1677-E85F-447F-B172-C2C5C7B105E7}"/>
    <pc:docChg chg="custSel addSld delSld modSld">
      <pc:chgData name="Noah Brown" userId="c19fa0da-a98e-401c-a4d8-baee66dd4639" providerId="ADAL" clId="{131A1677-E85F-447F-B172-C2C5C7B105E7}" dt="2026-10-21T02:35:06.988" v="5522" actId="313"/>
      <pc:docMkLst>
        <pc:docMk/>
      </pc:docMkLst>
      <pc:sldChg chg="addSp modSp mod">
        <pc:chgData name="Noah Brown" userId="c19fa0da-a98e-401c-a4d8-baee66dd4639" providerId="ADAL" clId="{131A1677-E85F-447F-B172-C2C5C7B105E7}" dt="2026-10-14T02:36:39.045" v="2859" actId="1076"/>
        <pc:sldMkLst>
          <pc:docMk/>
          <pc:sldMk cId="0" sldId="265"/>
        </pc:sldMkLst>
        <pc:spChg chg="mod">
          <ac:chgData name="Noah Brown" userId="c19fa0da-a98e-401c-a4d8-baee66dd4639" providerId="ADAL" clId="{131A1677-E85F-447F-B172-C2C5C7B105E7}" dt="2026-10-14T02:35:32.494" v="2732" actId="1076"/>
          <ac:spMkLst>
            <pc:docMk/>
            <pc:sldMk cId="0" sldId="265"/>
            <ac:spMk id="4" creationId="{00000000-0000-0000-0000-000000000000}"/>
          </ac:spMkLst>
        </pc:spChg>
        <pc:spChg chg="mod">
          <ac:chgData name="Noah Brown" userId="c19fa0da-a98e-401c-a4d8-baee66dd4639" providerId="ADAL" clId="{131A1677-E85F-447F-B172-C2C5C7B105E7}" dt="2026-10-14T02:34:40.437" v="2671" actId="1076"/>
          <ac:spMkLst>
            <pc:docMk/>
            <pc:sldMk cId="0" sldId="265"/>
            <ac:spMk id="5" creationId="{00000000-0000-0000-0000-000000000000}"/>
          </ac:spMkLst>
        </pc:spChg>
        <pc:spChg chg="mod">
          <ac:chgData name="Noah Brown" userId="c19fa0da-a98e-401c-a4d8-baee66dd4639" providerId="ADAL" clId="{131A1677-E85F-447F-B172-C2C5C7B105E7}" dt="2026-10-14T02:36:39.045" v="2859" actId="1076"/>
          <ac:spMkLst>
            <pc:docMk/>
            <pc:sldMk cId="0" sldId="265"/>
            <ac:spMk id="6" creationId="{00000000-0000-0000-0000-000000000000}"/>
          </ac:spMkLst>
        </pc:spChg>
        <pc:picChg chg="add mod">
          <ac:chgData name="Noah Brown" userId="c19fa0da-a98e-401c-a4d8-baee66dd4639" providerId="ADAL" clId="{131A1677-E85F-447F-B172-C2C5C7B105E7}" dt="2026-10-14T02:34:42.922" v="2672" actId="14100"/>
          <ac:picMkLst>
            <pc:docMk/>
            <pc:sldMk cId="0" sldId="265"/>
            <ac:picMk id="8" creationId="{AF86E3AE-B7BA-61F9-41EC-117E64F57B17}"/>
          </ac:picMkLst>
        </pc:picChg>
      </pc:sldChg>
      <pc:sldChg chg="addSp modSp mod">
        <pc:chgData name="Noah Brown" userId="c19fa0da-a98e-401c-a4d8-baee66dd4639" providerId="ADAL" clId="{131A1677-E85F-447F-B172-C2C5C7B105E7}" dt="2026-10-14T03:08:02.858" v="3692" actId="20577"/>
        <pc:sldMkLst>
          <pc:docMk/>
          <pc:sldMk cId="0" sldId="266"/>
        </pc:sldMkLst>
        <pc:spChg chg="mod">
          <ac:chgData name="Noah Brown" userId="c19fa0da-a98e-401c-a4d8-baee66dd4639" providerId="ADAL" clId="{131A1677-E85F-447F-B172-C2C5C7B105E7}" dt="2026-10-14T03:00:45.690" v="3677" actId="1076"/>
          <ac:spMkLst>
            <pc:docMk/>
            <pc:sldMk cId="0" sldId="266"/>
            <ac:spMk id="4" creationId="{00000000-0000-0000-0000-000000000000}"/>
          </ac:spMkLst>
        </pc:spChg>
        <pc:spChg chg="mod">
          <ac:chgData name="Noah Brown" userId="c19fa0da-a98e-401c-a4d8-baee66dd4639" providerId="ADAL" clId="{131A1677-E85F-447F-B172-C2C5C7B105E7}" dt="2026-10-14T03:00:41.872" v="3676" actId="1076"/>
          <ac:spMkLst>
            <pc:docMk/>
            <pc:sldMk cId="0" sldId="266"/>
            <ac:spMk id="5" creationId="{00000000-0000-0000-0000-000000000000}"/>
          </ac:spMkLst>
        </pc:spChg>
        <pc:spChg chg="mod">
          <ac:chgData name="Noah Brown" userId="c19fa0da-a98e-401c-a4d8-baee66dd4639" providerId="ADAL" clId="{131A1677-E85F-447F-B172-C2C5C7B105E7}" dt="2026-10-14T03:08:02.858" v="3692" actId="20577"/>
          <ac:spMkLst>
            <pc:docMk/>
            <pc:sldMk cId="0" sldId="266"/>
            <ac:spMk id="6" creationId="{00000000-0000-0000-0000-000000000000}"/>
          </ac:spMkLst>
        </pc:spChg>
        <pc:picChg chg="add mod">
          <ac:chgData name="Noah Brown" userId="c19fa0da-a98e-401c-a4d8-baee66dd4639" providerId="ADAL" clId="{131A1677-E85F-447F-B172-C2C5C7B105E7}" dt="2026-10-14T03:01:02.248" v="3682" actId="14100"/>
          <ac:picMkLst>
            <pc:docMk/>
            <pc:sldMk cId="0" sldId="266"/>
            <ac:picMk id="8" creationId="{CD3AEF30-DBC5-35EC-8301-0AF8E02EC168}"/>
          </ac:picMkLst>
        </pc:picChg>
      </pc:sldChg>
      <pc:sldChg chg="addSp modSp mod">
        <pc:chgData name="Noah Brown" userId="c19fa0da-a98e-401c-a4d8-baee66dd4639" providerId="ADAL" clId="{131A1677-E85F-447F-B172-C2C5C7B105E7}" dt="2026-10-21T02:35:06.988" v="5522" actId="313"/>
        <pc:sldMkLst>
          <pc:docMk/>
          <pc:sldMk cId="0" sldId="267"/>
        </pc:sldMkLst>
        <pc:spChg chg="mod">
          <ac:chgData name="Noah Brown" userId="c19fa0da-a98e-401c-a4d8-baee66dd4639" providerId="ADAL" clId="{131A1677-E85F-447F-B172-C2C5C7B105E7}" dt="2026-10-14T03:49:41.193" v="3815" actId="313"/>
          <ac:spMkLst>
            <pc:docMk/>
            <pc:sldMk cId="0" sldId="267"/>
            <ac:spMk id="4" creationId="{00000000-0000-0000-0000-000000000000}"/>
          </ac:spMkLst>
        </pc:spChg>
        <pc:spChg chg="mod">
          <ac:chgData name="Noah Brown" userId="c19fa0da-a98e-401c-a4d8-baee66dd4639" providerId="ADAL" clId="{131A1677-E85F-447F-B172-C2C5C7B105E7}" dt="2026-10-14T03:49:46.188" v="3816" actId="1076"/>
          <ac:spMkLst>
            <pc:docMk/>
            <pc:sldMk cId="0" sldId="267"/>
            <ac:spMk id="5" creationId="{00000000-0000-0000-0000-000000000000}"/>
          </ac:spMkLst>
        </pc:spChg>
        <pc:spChg chg="mod">
          <ac:chgData name="Noah Brown" userId="c19fa0da-a98e-401c-a4d8-baee66dd4639" providerId="ADAL" clId="{131A1677-E85F-447F-B172-C2C5C7B105E7}" dt="2026-10-21T02:35:06.988" v="5522" actId="313"/>
          <ac:spMkLst>
            <pc:docMk/>
            <pc:sldMk cId="0" sldId="267"/>
            <ac:spMk id="6" creationId="{00000000-0000-0000-0000-000000000000}"/>
          </ac:spMkLst>
        </pc:spChg>
        <pc:picChg chg="add mod">
          <ac:chgData name="Noah Brown" userId="c19fa0da-a98e-401c-a4d8-baee66dd4639" providerId="ADAL" clId="{131A1677-E85F-447F-B172-C2C5C7B105E7}" dt="2026-10-14T03:51:39.927" v="3951" actId="1076"/>
          <ac:picMkLst>
            <pc:docMk/>
            <pc:sldMk cId="0" sldId="267"/>
            <ac:picMk id="8" creationId="{F24B84F3-7A88-07C9-8196-810F4B098317}"/>
          </ac:picMkLst>
        </pc:picChg>
      </pc:sldChg>
      <pc:sldChg chg="addSp delSp modSp mod">
        <pc:chgData name="Noah Brown" userId="c19fa0da-a98e-401c-a4d8-baee66dd4639" providerId="ADAL" clId="{131A1677-E85F-447F-B172-C2C5C7B105E7}" dt="2026-10-20T02:40:01.737" v="4529" actId="20577"/>
        <pc:sldMkLst>
          <pc:docMk/>
          <pc:sldMk cId="0" sldId="268"/>
        </pc:sldMkLst>
        <pc:spChg chg="mod">
          <ac:chgData name="Noah Brown" userId="c19fa0da-a98e-401c-a4d8-baee66dd4639" providerId="ADAL" clId="{131A1677-E85F-447F-B172-C2C5C7B105E7}" dt="2026-10-20T02:38:22.761" v="4373" actId="1076"/>
          <ac:spMkLst>
            <pc:docMk/>
            <pc:sldMk cId="0" sldId="268"/>
            <ac:spMk id="4" creationId="{00000000-0000-0000-0000-000000000000}"/>
          </ac:spMkLst>
        </pc:spChg>
        <pc:spChg chg="del mod">
          <ac:chgData name="Noah Brown" userId="c19fa0da-a98e-401c-a4d8-baee66dd4639" providerId="ADAL" clId="{131A1677-E85F-447F-B172-C2C5C7B105E7}" dt="2026-10-20T02:38:05.067" v="4367"/>
          <ac:spMkLst>
            <pc:docMk/>
            <pc:sldMk cId="0" sldId="268"/>
            <ac:spMk id="5" creationId="{00000000-0000-0000-0000-000000000000}"/>
          </ac:spMkLst>
        </pc:spChg>
        <pc:spChg chg="mod">
          <ac:chgData name="Noah Brown" userId="c19fa0da-a98e-401c-a4d8-baee66dd4639" providerId="ADAL" clId="{131A1677-E85F-447F-B172-C2C5C7B105E7}" dt="2026-10-20T02:40:01.737" v="4529" actId="20577"/>
          <ac:spMkLst>
            <pc:docMk/>
            <pc:sldMk cId="0" sldId="268"/>
            <ac:spMk id="6" creationId="{00000000-0000-0000-0000-000000000000}"/>
          </ac:spMkLst>
        </pc:spChg>
        <pc:picChg chg="add mod">
          <ac:chgData name="Noah Brown" userId="c19fa0da-a98e-401c-a4d8-baee66dd4639" providerId="ADAL" clId="{131A1677-E85F-447F-B172-C2C5C7B105E7}" dt="2026-10-20T02:38:18.695" v="4372" actId="1076"/>
          <ac:picMkLst>
            <pc:docMk/>
            <pc:sldMk cId="0" sldId="268"/>
            <ac:picMk id="8" creationId="{C2DE093F-2A07-74E5-86FB-34D08B4509A5}"/>
          </ac:picMkLst>
        </pc:picChg>
      </pc:sldChg>
      <pc:sldChg chg="addSp delSp modSp mod">
        <pc:chgData name="Noah Brown" userId="c19fa0da-a98e-401c-a4d8-baee66dd4639" providerId="ADAL" clId="{131A1677-E85F-447F-B172-C2C5C7B105E7}" dt="2026-10-20T02:54:33.054" v="4974" actId="20577"/>
        <pc:sldMkLst>
          <pc:docMk/>
          <pc:sldMk cId="0" sldId="269"/>
        </pc:sldMkLst>
        <pc:spChg chg="mod">
          <ac:chgData name="Noah Brown" userId="c19fa0da-a98e-401c-a4d8-baee66dd4639" providerId="ADAL" clId="{131A1677-E85F-447F-B172-C2C5C7B105E7}" dt="2026-10-20T02:54:33.054" v="4974" actId="20577"/>
          <ac:spMkLst>
            <pc:docMk/>
            <pc:sldMk cId="0" sldId="269"/>
            <ac:spMk id="4" creationId="{00000000-0000-0000-0000-000000000000}"/>
          </ac:spMkLst>
        </pc:spChg>
        <pc:picChg chg="add del mod">
          <ac:chgData name="Noah Brown" userId="c19fa0da-a98e-401c-a4d8-baee66dd4639" providerId="ADAL" clId="{131A1677-E85F-447F-B172-C2C5C7B105E7}" dt="2026-10-20T02:41:22.099" v="4534" actId="478"/>
          <ac:picMkLst>
            <pc:docMk/>
            <pc:sldMk cId="0" sldId="269"/>
            <ac:picMk id="7" creationId="{199DB38C-C024-5C2A-1438-499E5B9866F6}"/>
          </ac:picMkLst>
        </pc:picChg>
      </pc:sldChg>
      <pc:sldChg chg="addSp delSp modSp mod">
        <pc:chgData name="Noah Brown" userId="c19fa0da-a98e-401c-a4d8-baee66dd4639" providerId="ADAL" clId="{131A1677-E85F-447F-B172-C2C5C7B105E7}" dt="2026-10-20T02:58:05.370" v="5200" actId="20577"/>
        <pc:sldMkLst>
          <pc:docMk/>
          <pc:sldMk cId="0" sldId="270"/>
        </pc:sldMkLst>
        <pc:spChg chg="del mod">
          <ac:chgData name="Noah Brown" userId="c19fa0da-a98e-401c-a4d8-baee66dd4639" providerId="ADAL" clId="{131A1677-E85F-447F-B172-C2C5C7B105E7}" dt="2026-10-20T02:41:43.419" v="4542"/>
          <ac:spMkLst>
            <pc:docMk/>
            <pc:sldMk cId="0" sldId="270"/>
            <ac:spMk id="2" creationId="{00000000-0000-0000-0000-000000000000}"/>
          </ac:spMkLst>
        </pc:spChg>
        <pc:spChg chg="mod">
          <ac:chgData name="Noah Brown" userId="c19fa0da-a98e-401c-a4d8-baee66dd4639" providerId="ADAL" clId="{131A1677-E85F-447F-B172-C2C5C7B105E7}" dt="2026-10-20T02:58:05.370" v="5200" actId="20577"/>
          <ac:spMkLst>
            <pc:docMk/>
            <pc:sldMk cId="0" sldId="270"/>
            <ac:spMk id="3" creationId="{00000000-0000-0000-0000-000000000000}"/>
          </ac:spMkLst>
        </pc:spChg>
        <pc:spChg chg="mod">
          <ac:chgData name="Noah Brown" userId="c19fa0da-a98e-401c-a4d8-baee66dd4639" providerId="ADAL" clId="{131A1677-E85F-447F-B172-C2C5C7B105E7}" dt="2026-10-20T02:41:50.748" v="4543" actId="1076"/>
          <ac:spMkLst>
            <pc:docMk/>
            <pc:sldMk cId="0" sldId="270"/>
            <ac:spMk id="4" creationId="{00000000-0000-0000-0000-000000000000}"/>
          </ac:spMkLst>
        </pc:spChg>
        <pc:picChg chg="add mod">
          <ac:chgData name="Noah Brown" userId="c19fa0da-a98e-401c-a4d8-baee66dd4639" providerId="ADAL" clId="{131A1677-E85F-447F-B172-C2C5C7B105E7}" dt="2026-10-20T02:41:40.184" v="4540" actId="14100"/>
          <ac:picMkLst>
            <pc:docMk/>
            <pc:sldMk cId="0" sldId="270"/>
            <ac:picMk id="8" creationId="{9668097E-A23C-CC23-7961-3F5A385522B3}"/>
          </ac:picMkLst>
        </pc:picChg>
      </pc:sldChg>
      <pc:sldChg chg="addSp delSp modSp new mod setBg modAnim">
        <pc:chgData name="Noah Brown" userId="c19fa0da-a98e-401c-a4d8-baee66dd4639" providerId="ADAL" clId="{131A1677-E85F-447F-B172-C2C5C7B105E7}" dt="2026-10-13T03:38:32.513" v="2553" actId="26606"/>
        <pc:sldMkLst>
          <pc:docMk/>
          <pc:sldMk cId="2505960784" sldId="275"/>
        </pc:sldMkLst>
        <pc:spChg chg="add mod">
          <ac:chgData name="Noah Brown" userId="c19fa0da-a98e-401c-a4d8-baee66dd4639" providerId="ADAL" clId="{131A1677-E85F-447F-B172-C2C5C7B105E7}" dt="2026-10-13T03:38:32.513" v="2553" actId="26606"/>
          <ac:spMkLst>
            <pc:docMk/>
            <pc:sldMk cId="2505960784" sldId="275"/>
            <ac:spMk id="7" creationId="{8F440C7E-5A9F-863B-B908-4A7F8AB88BCE}"/>
          </ac:spMkLst>
        </pc:spChg>
        <pc:spChg chg="add mod">
          <ac:chgData name="Noah Brown" userId="c19fa0da-a98e-401c-a4d8-baee66dd4639" providerId="ADAL" clId="{131A1677-E85F-447F-B172-C2C5C7B105E7}" dt="2026-10-13T03:38:32.513" v="2553" actId="26606"/>
          <ac:spMkLst>
            <pc:docMk/>
            <pc:sldMk cId="2505960784" sldId="275"/>
            <ac:spMk id="9" creationId="{8372984D-25B5-4B49-BF8B-398EEF4DBF91}"/>
          </ac:spMkLst>
        </pc:spChg>
        <pc:spChg chg="add">
          <ac:chgData name="Noah Brown" userId="c19fa0da-a98e-401c-a4d8-baee66dd4639" providerId="ADAL" clId="{131A1677-E85F-447F-B172-C2C5C7B105E7}" dt="2026-10-13T03:38:32.513" v="2553" actId="26606"/>
          <ac:spMkLst>
            <pc:docMk/>
            <pc:sldMk cId="2505960784" sldId="275"/>
            <ac:spMk id="14" creationId="{D75A5B51-0925-4835-8511-A0DD17EAA97C}"/>
          </ac:spMkLst>
        </pc:spChg>
        <pc:spChg chg="add">
          <ac:chgData name="Noah Brown" userId="c19fa0da-a98e-401c-a4d8-baee66dd4639" providerId="ADAL" clId="{131A1677-E85F-447F-B172-C2C5C7B105E7}" dt="2026-10-13T03:38:32.513" v="2553" actId="26606"/>
          <ac:spMkLst>
            <pc:docMk/>
            <pc:sldMk cId="2505960784" sldId="275"/>
            <ac:spMk id="16" creationId="{5CDFD20D-8E4F-4E3A-AF87-93F23E0DBFB3}"/>
          </ac:spMkLst>
        </pc:spChg>
        <pc:picChg chg="add mod ord">
          <ac:chgData name="Noah Brown" userId="c19fa0da-a98e-401c-a4d8-baee66dd4639" providerId="ADAL" clId="{131A1677-E85F-447F-B172-C2C5C7B105E7}" dt="2026-10-13T03:38:32.513" v="2553" actId="26606"/>
          <ac:picMkLst>
            <pc:docMk/>
            <pc:sldMk cId="2505960784" sldId="275"/>
            <ac:picMk id="3" creationId="{183AE8C9-FBDF-D5D6-16BF-8F2A1214CB51}"/>
          </ac:picMkLst>
        </pc:picChg>
        <pc:picChg chg="add mod ord">
          <ac:chgData name="Noah Brown" userId="c19fa0da-a98e-401c-a4d8-baee66dd4639" providerId="ADAL" clId="{131A1677-E85F-447F-B172-C2C5C7B105E7}" dt="2026-10-13T03:38:32.513" v="2553" actId="26606"/>
          <ac:picMkLst>
            <pc:docMk/>
            <pc:sldMk cId="2505960784" sldId="275"/>
            <ac:picMk id="5" creationId="{5712B8E6-0368-9BE4-2A76-485A1D2ECA12}"/>
          </ac:picMkLst>
        </pc:picChg>
        <pc:picChg chg="add mod ord">
          <ac:chgData name="Noah Brown" userId="c19fa0da-a98e-401c-a4d8-baee66dd4639" providerId="ADAL" clId="{131A1677-E85F-447F-B172-C2C5C7B105E7}" dt="2026-10-13T03:38:32.513" v="2553" actId="26606"/>
          <ac:picMkLst>
            <pc:docMk/>
            <pc:sldMk cId="2505960784" sldId="275"/>
            <ac:picMk id="8" creationId="{09C6E910-01DD-6C6C-6D8B-7D82ACD3033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304800" y="1750074"/>
            <a:ext cx="11702278" cy="3896572"/>
            <a:chOff x="0" y="0"/>
            <a:chExt cx="1835157" cy="611062"/>
          </a:xfrm>
        </p:grpSpPr>
        <p:sp>
          <p:nvSpPr>
            <p:cNvPr id="3" name="Freeform 3"/>
            <p:cNvSpPr/>
            <p:nvPr/>
          </p:nvSpPr>
          <p:spPr>
            <a:xfrm>
              <a:off x="0" y="0"/>
              <a:ext cx="1835157" cy="611062"/>
            </a:xfrm>
            <a:custGeom>
              <a:avLst/>
              <a:gdLst/>
              <a:ahLst/>
              <a:cxnLst/>
              <a:rect l="l" t="t" r="r" b="b"/>
              <a:pathLst>
                <a:path w="1835157" h="611062">
                  <a:moveTo>
                    <a:pt x="15216" y="0"/>
                  </a:moveTo>
                  <a:lnTo>
                    <a:pt x="1819941" y="0"/>
                  </a:lnTo>
                  <a:cubicBezTo>
                    <a:pt x="1823977" y="0"/>
                    <a:pt x="1827847" y="1603"/>
                    <a:pt x="1830700" y="4457"/>
                  </a:cubicBezTo>
                  <a:cubicBezTo>
                    <a:pt x="1833554" y="7310"/>
                    <a:pt x="1835157" y="11181"/>
                    <a:pt x="1835157" y="15216"/>
                  </a:cubicBezTo>
                  <a:lnTo>
                    <a:pt x="1835157" y="595846"/>
                  </a:lnTo>
                  <a:cubicBezTo>
                    <a:pt x="1835157" y="604250"/>
                    <a:pt x="1828345" y="611062"/>
                    <a:pt x="1819941" y="611062"/>
                  </a:cubicBezTo>
                  <a:lnTo>
                    <a:pt x="15216" y="611062"/>
                  </a:lnTo>
                  <a:cubicBezTo>
                    <a:pt x="6813" y="611062"/>
                    <a:pt x="0" y="604250"/>
                    <a:pt x="0" y="595846"/>
                  </a:cubicBezTo>
                  <a:lnTo>
                    <a:pt x="0" y="15216"/>
                  </a:lnTo>
                  <a:cubicBezTo>
                    <a:pt x="0" y="6813"/>
                    <a:pt x="6813" y="0"/>
                    <a:pt x="15216" y="0"/>
                  </a:cubicBezTo>
                  <a:close/>
                </a:path>
              </a:pathLst>
            </a:custGeom>
            <a:blipFill>
              <a:blip r:embed="rId2"/>
              <a:stretch>
                <a:fillRect t="-16821" b="-16821"/>
              </a:stretch>
            </a:blipFill>
          </p:spPr>
          <p:txBody>
            <a:bodyPr/>
            <a:lstStyle/>
            <a:p>
              <a:endParaRPr lang="en-AU"/>
            </a:p>
          </p:txBody>
        </p:sp>
      </p:grpSp>
      <p:sp>
        <p:nvSpPr>
          <p:cNvPr id="4" name="TextBox 4"/>
          <p:cNvSpPr txBox="1"/>
          <p:nvPr/>
        </p:nvSpPr>
        <p:spPr>
          <a:xfrm>
            <a:off x="7200089" y="8163750"/>
            <a:ext cx="10842221" cy="1619479"/>
          </a:xfrm>
          <a:prstGeom prst="rect">
            <a:avLst/>
          </a:prstGeom>
        </p:spPr>
        <p:txBody>
          <a:bodyPr lIns="0" tIns="0" rIns="0" bIns="0" rtlCol="0" anchor="t">
            <a:spAutoFit/>
          </a:bodyPr>
          <a:lstStyle/>
          <a:p>
            <a:pPr marL="0" lvl="0" indent="0" algn="ctr">
              <a:lnSpc>
                <a:spcPts val="10048"/>
              </a:lnSpc>
            </a:pPr>
            <a:r>
              <a:rPr lang="en-US" sz="13956" b="1">
                <a:solidFill>
                  <a:srgbClr val="333446"/>
                </a:solidFill>
                <a:latin typeface="Poppins Ultra-Bold"/>
                <a:ea typeface="Poppins Ultra-Bold"/>
                <a:cs typeface="Poppins Ultra-Bold"/>
                <a:sym typeface="Poppins Ultra-Bold"/>
              </a:rPr>
              <a:t>PORTFOLIO</a:t>
            </a:r>
          </a:p>
        </p:txBody>
      </p:sp>
      <p:sp>
        <p:nvSpPr>
          <p:cNvPr id="5" name="TextBox 5"/>
          <p:cNvSpPr txBox="1"/>
          <p:nvPr/>
        </p:nvSpPr>
        <p:spPr>
          <a:xfrm>
            <a:off x="10574586" y="5758440"/>
            <a:ext cx="6684714" cy="1256787"/>
          </a:xfrm>
          <a:prstGeom prst="rect">
            <a:avLst/>
          </a:prstGeom>
        </p:spPr>
        <p:txBody>
          <a:bodyPr lIns="0" tIns="0" rIns="0" bIns="0" rtlCol="0" anchor="t">
            <a:spAutoFit/>
          </a:bodyPr>
          <a:lstStyle/>
          <a:p>
            <a:pPr marL="0" lvl="0" indent="0" algn="r">
              <a:lnSpc>
                <a:spcPts val="4381"/>
              </a:lnSpc>
            </a:pPr>
            <a:r>
              <a:rPr lang="en-US" sz="6085">
                <a:solidFill>
                  <a:srgbClr val="333446"/>
                </a:solidFill>
                <a:latin typeface="Poppins Light"/>
                <a:ea typeface="Poppins Light"/>
                <a:cs typeface="Poppins Light"/>
                <a:sym typeface="Poppins Light"/>
              </a:rPr>
              <a:t>YEAR 9 STEM DIGITAL</a:t>
            </a:r>
          </a:p>
        </p:txBody>
      </p:sp>
      <p:sp>
        <p:nvSpPr>
          <p:cNvPr id="6" name="TextBox 6"/>
          <p:cNvSpPr txBox="1"/>
          <p:nvPr/>
        </p:nvSpPr>
        <p:spPr>
          <a:xfrm>
            <a:off x="10370897" y="1143037"/>
            <a:ext cx="6888403" cy="578107"/>
          </a:xfrm>
          <a:prstGeom prst="rect">
            <a:avLst/>
          </a:prstGeom>
        </p:spPr>
        <p:txBody>
          <a:bodyPr lIns="0" tIns="0" rIns="0" bIns="0" rtlCol="0" anchor="t">
            <a:spAutoFit/>
          </a:bodyPr>
          <a:lstStyle/>
          <a:p>
            <a:pPr marL="0" lvl="0" indent="0" algn="r">
              <a:lnSpc>
                <a:spcPts val="2142"/>
              </a:lnSpc>
            </a:pPr>
            <a:r>
              <a:rPr lang="en-US" sz="2975" spc="-59" dirty="0">
                <a:solidFill>
                  <a:srgbClr val="333446"/>
                </a:solidFill>
                <a:latin typeface="Poppins"/>
                <a:ea typeface="Poppins"/>
                <a:cs typeface="Poppins"/>
                <a:sym typeface="Poppins"/>
              </a:rPr>
              <a:t>STUDENT NAME: Noah_______________</a:t>
            </a:r>
          </a:p>
        </p:txBody>
      </p:sp>
      <p:sp>
        <p:nvSpPr>
          <p:cNvPr id="7" name="TextBox 7"/>
          <p:cNvSpPr txBox="1"/>
          <p:nvPr/>
        </p:nvSpPr>
        <p:spPr>
          <a:xfrm>
            <a:off x="1028700" y="1143000"/>
            <a:ext cx="6888403" cy="333794"/>
          </a:xfrm>
          <a:prstGeom prst="rect">
            <a:avLst/>
          </a:prstGeom>
        </p:spPr>
        <p:txBody>
          <a:bodyPr lIns="0" tIns="0" rIns="0" bIns="0" rtlCol="0" anchor="t">
            <a:spAutoFit/>
          </a:bodyPr>
          <a:lstStyle/>
          <a:p>
            <a:pPr marL="0" lvl="0" indent="0" algn="l">
              <a:lnSpc>
                <a:spcPts val="2142"/>
              </a:lnSpc>
            </a:pPr>
            <a:r>
              <a:rPr lang="en-US" sz="2975" spc="-59">
                <a:solidFill>
                  <a:srgbClr val="333446"/>
                </a:solidFill>
                <a:latin typeface="Poppins"/>
                <a:ea typeface="Poppins"/>
                <a:cs typeface="Poppins"/>
                <a:sym typeface="Poppins"/>
              </a:rPr>
              <a:t>RECORDING MY LEARNING JOURNEY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8997686" y="4550231"/>
            <a:ext cx="9290314" cy="5736769"/>
          </a:xfrm>
          <a:custGeom>
            <a:avLst/>
            <a:gdLst/>
            <a:ahLst/>
            <a:cxnLst/>
            <a:rect l="l" t="t" r="r" b="b"/>
            <a:pathLst>
              <a:path w="9290314" h="5736769">
                <a:moveTo>
                  <a:pt x="0" y="0"/>
                </a:moveTo>
                <a:lnTo>
                  <a:pt x="9290314" y="0"/>
                </a:lnTo>
                <a:lnTo>
                  <a:pt x="9290314" y="5736769"/>
                </a:lnTo>
                <a:lnTo>
                  <a:pt x="0" y="5736769"/>
                </a:lnTo>
                <a:lnTo>
                  <a:pt x="0" y="0"/>
                </a:lnTo>
                <a:close/>
              </a:path>
            </a:pathLst>
          </a:custGeom>
          <a:blipFill>
            <a:blip r:embed="rId2"/>
            <a:stretch>
              <a:fillRect/>
            </a:stretch>
          </a:blipFill>
        </p:spPr>
        <p:txBody>
          <a:bodyPr/>
          <a:lstStyle/>
          <a:p>
            <a:endParaRPr lang="en-AU"/>
          </a:p>
        </p:txBody>
      </p:sp>
      <p:sp>
        <p:nvSpPr>
          <p:cNvPr id="4" name="TextBox 4"/>
          <p:cNvSpPr txBox="1"/>
          <p:nvPr/>
        </p:nvSpPr>
        <p:spPr>
          <a:xfrm>
            <a:off x="425286" y="-34202"/>
            <a:ext cx="16834014" cy="1765868"/>
          </a:xfrm>
          <a:prstGeom prst="rect">
            <a:avLst/>
          </a:prstGeom>
        </p:spPr>
        <p:txBody>
          <a:bodyPr lIns="0" tIns="0" rIns="0" bIns="0" rtlCol="0" anchor="t">
            <a:spAutoFit/>
          </a:bodyPr>
          <a:lstStyle/>
          <a:p>
            <a:pPr marL="0" lvl="0" indent="0" algn="ctr">
              <a:lnSpc>
                <a:spcPts val="14473"/>
              </a:lnSpc>
              <a:spcBef>
                <a:spcPct val="0"/>
              </a:spcBef>
            </a:pPr>
            <a:r>
              <a:rPr lang="en-US" sz="10338" spc="-206" dirty="0">
                <a:solidFill>
                  <a:srgbClr val="333446"/>
                </a:solidFill>
                <a:latin typeface="Poppins Light"/>
                <a:ea typeface="Poppins Light"/>
                <a:cs typeface="Poppins Light"/>
                <a:sym typeface="Poppins Light"/>
              </a:rPr>
              <a:t>MY ROBOTICS EXPERIENCE</a:t>
            </a:r>
          </a:p>
        </p:txBody>
      </p:sp>
      <p:sp>
        <p:nvSpPr>
          <p:cNvPr id="6" name="TextBox 5">
            <a:extLst>
              <a:ext uri="{FF2B5EF4-FFF2-40B4-BE49-F238E27FC236}">
                <a16:creationId xmlns:a16="http://schemas.microsoft.com/office/drawing/2014/main" id="{9123ECEA-94A4-41A5-7E84-982030BCEE40}"/>
              </a:ext>
            </a:extLst>
          </p:cNvPr>
          <p:cNvSpPr txBox="1"/>
          <p:nvPr/>
        </p:nvSpPr>
        <p:spPr>
          <a:xfrm>
            <a:off x="1371600" y="3238500"/>
            <a:ext cx="7968986" cy="4401205"/>
          </a:xfrm>
          <a:prstGeom prst="rect">
            <a:avLst/>
          </a:prstGeom>
          <a:noFill/>
        </p:spPr>
        <p:txBody>
          <a:bodyPr wrap="square" rtlCol="0">
            <a:spAutoFit/>
          </a:bodyPr>
          <a:lstStyle/>
          <a:p>
            <a:r>
              <a:rPr lang="en-AU" sz="4000" dirty="0"/>
              <a:t>Year 7 and 8 digital makers</a:t>
            </a:r>
          </a:p>
          <a:p>
            <a:r>
              <a:rPr lang="en-AU" sz="4000" dirty="0"/>
              <a:t> .Block Coding</a:t>
            </a:r>
          </a:p>
          <a:p>
            <a:r>
              <a:rPr lang="en-AU" sz="4000" dirty="0"/>
              <a:t> .Micro Bits</a:t>
            </a:r>
          </a:p>
          <a:p>
            <a:r>
              <a:rPr lang="en-AU" sz="4000" dirty="0"/>
              <a:t> .Made and Coded a Useless Box</a:t>
            </a:r>
          </a:p>
          <a:p>
            <a:r>
              <a:rPr lang="en-AU" sz="4000" dirty="0"/>
              <a:t>Scratch Jr and Scratch in Primary School (made games)</a:t>
            </a:r>
          </a:p>
          <a:p>
            <a:r>
              <a:rPr lang="en-AU" sz="4000" dirty="0"/>
              <a:t>Made an arcade in Journeys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3" name="TextBox 3"/>
          <p:cNvSpPr txBox="1"/>
          <p:nvPr/>
        </p:nvSpPr>
        <p:spPr>
          <a:xfrm>
            <a:off x="3132407" y="41998"/>
            <a:ext cx="10665202" cy="2801270"/>
          </a:xfrm>
          <a:prstGeom prst="rect">
            <a:avLst/>
          </a:prstGeom>
        </p:spPr>
        <p:txBody>
          <a:bodyPr lIns="0" tIns="0" rIns="0" bIns="0" rtlCol="0" anchor="t">
            <a:spAutoFit/>
          </a:bodyPr>
          <a:lstStyle/>
          <a:p>
            <a:pPr marL="0" lvl="0" indent="0" algn="ctr">
              <a:lnSpc>
                <a:spcPts val="10974"/>
              </a:lnSpc>
              <a:spcBef>
                <a:spcPct val="0"/>
              </a:spcBef>
            </a:pPr>
            <a:r>
              <a:rPr lang="en-US" sz="7838" spc="-156">
                <a:solidFill>
                  <a:srgbClr val="333446"/>
                </a:solidFill>
                <a:latin typeface="Poppins Light"/>
                <a:ea typeface="Poppins Light"/>
                <a:cs typeface="Poppins Light"/>
                <a:sym typeface="Poppins Light"/>
              </a:rPr>
              <a:t>WHAT I HOPE TO LEARN</a:t>
            </a:r>
          </a:p>
          <a:p>
            <a:pPr marL="0" lvl="0" indent="0" algn="ctr">
              <a:lnSpc>
                <a:spcPts val="10974"/>
              </a:lnSpc>
              <a:spcBef>
                <a:spcPct val="0"/>
              </a:spcBef>
            </a:pPr>
            <a:endParaRPr lang="en-US" sz="7838" spc="-156">
              <a:solidFill>
                <a:srgbClr val="333446"/>
              </a:solidFill>
              <a:latin typeface="Poppins Light"/>
              <a:ea typeface="Poppins Light"/>
              <a:cs typeface="Poppins Light"/>
              <a:sym typeface="Poppins Light"/>
            </a:endParaRPr>
          </a:p>
        </p:txBody>
      </p:sp>
      <p:grpSp>
        <p:nvGrpSpPr>
          <p:cNvPr id="4" name="Group 4"/>
          <p:cNvGrpSpPr/>
          <p:nvPr/>
        </p:nvGrpSpPr>
        <p:grpSpPr>
          <a:xfrm>
            <a:off x="9501984" y="3520356"/>
            <a:ext cx="7757316" cy="5732894"/>
            <a:chOff x="0" y="0"/>
            <a:chExt cx="584408" cy="431895"/>
          </a:xfrm>
        </p:grpSpPr>
        <p:sp>
          <p:nvSpPr>
            <p:cNvPr id="5" name="Freeform 5"/>
            <p:cNvSpPr/>
            <p:nvPr/>
          </p:nvSpPr>
          <p:spPr>
            <a:xfrm>
              <a:off x="0" y="0"/>
              <a:ext cx="584408" cy="431895"/>
            </a:xfrm>
            <a:custGeom>
              <a:avLst/>
              <a:gdLst/>
              <a:ahLst/>
              <a:cxnLst/>
              <a:rect l="l" t="t" r="r" b="b"/>
              <a:pathLst>
                <a:path w="584408" h="431895">
                  <a:moveTo>
                    <a:pt x="22954" y="0"/>
                  </a:moveTo>
                  <a:lnTo>
                    <a:pt x="561454" y="0"/>
                  </a:lnTo>
                  <a:cubicBezTo>
                    <a:pt x="567542" y="0"/>
                    <a:pt x="573380" y="2418"/>
                    <a:pt x="577685" y="6723"/>
                  </a:cubicBezTo>
                  <a:cubicBezTo>
                    <a:pt x="581990" y="11028"/>
                    <a:pt x="584408" y="16866"/>
                    <a:pt x="584408" y="22954"/>
                  </a:cubicBezTo>
                  <a:lnTo>
                    <a:pt x="584408" y="408941"/>
                  </a:lnTo>
                  <a:cubicBezTo>
                    <a:pt x="584408" y="415029"/>
                    <a:pt x="581990" y="420868"/>
                    <a:pt x="577685" y="425172"/>
                  </a:cubicBezTo>
                  <a:cubicBezTo>
                    <a:pt x="573380" y="429477"/>
                    <a:pt x="567542" y="431895"/>
                    <a:pt x="561454" y="431895"/>
                  </a:cubicBezTo>
                  <a:lnTo>
                    <a:pt x="22954" y="431895"/>
                  </a:lnTo>
                  <a:cubicBezTo>
                    <a:pt x="16866" y="431895"/>
                    <a:pt x="11028" y="429477"/>
                    <a:pt x="6723" y="425172"/>
                  </a:cubicBezTo>
                  <a:cubicBezTo>
                    <a:pt x="2418" y="420868"/>
                    <a:pt x="0" y="415029"/>
                    <a:pt x="0" y="408941"/>
                  </a:cubicBezTo>
                  <a:lnTo>
                    <a:pt x="0" y="22954"/>
                  </a:lnTo>
                  <a:cubicBezTo>
                    <a:pt x="0" y="16866"/>
                    <a:pt x="2418" y="11028"/>
                    <a:pt x="6723" y="6723"/>
                  </a:cubicBezTo>
                  <a:cubicBezTo>
                    <a:pt x="11028" y="2418"/>
                    <a:pt x="16866" y="0"/>
                    <a:pt x="22954" y="0"/>
                  </a:cubicBezTo>
                  <a:close/>
                </a:path>
              </a:pathLst>
            </a:custGeom>
            <a:blipFill>
              <a:blip r:embed="rId2"/>
              <a:stretch>
                <a:fillRect l="-14827" r="-14827"/>
              </a:stretch>
            </a:blipFill>
          </p:spPr>
          <p:txBody>
            <a:bodyPr/>
            <a:lstStyle/>
            <a:p>
              <a:endParaRPr lang="en-AU"/>
            </a:p>
          </p:txBody>
        </p:sp>
      </p:grpSp>
      <p:sp>
        <p:nvSpPr>
          <p:cNvPr id="7" name="TextBox 6">
            <a:extLst>
              <a:ext uri="{FF2B5EF4-FFF2-40B4-BE49-F238E27FC236}">
                <a16:creationId xmlns:a16="http://schemas.microsoft.com/office/drawing/2014/main" id="{44EB6A24-B54F-2F75-4259-DEB02E5CFAFA}"/>
              </a:ext>
            </a:extLst>
          </p:cNvPr>
          <p:cNvSpPr txBox="1"/>
          <p:nvPr/>
        </p:nvSpPr>
        <p:spPr>
          <a:xfrm>
            <a:off x="609600" y="4076700"/>
            <a:ext cx="9144000" cy="2554545"/>
          </a:xfrm>
          <a:prstGeom prst="rect">
            <a:avLst/>
          </a:prstGeom>
          <a:noFill/>
        </p:spPr>
        <p:txBody>
          <a:bodyPr wrap="square">
            <a:spAutoFit/>
          </a:bodyPr>
          <a:lstStyle/>
          <a:p>
            <a:r>
              <a:rPr lang="en-AU" sz="4000" dirty="0"/>
              <a:t>I hope to learn how to code a robot to learn on its own</a:t>
            </a:r>
          </a:p>
          <a:p>
            <a:r>
              <a:rPr lang="en-AU" sz="4000" dirty="0"/>
              <a:t>I hope to learn how to build effective things for different purposes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436283" y="3495858"/>
            <a:ext cx="17415433" cy="180340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333446"/>
                </a:solidFill>
                <a:latin typeface="Poppins Light"/>
                <a:ea typeface="Poppins Light"/>
                <a:cs typeface="Poppins Light"/>
                <a:sym typeface="Poppins Light"/>
              </a:rPr>
              <a:t>UNIT GUIDE</a:t>
            </a:r>
          </a:p>
        </p:txBody>
      </p:sp>
      <p:sp>
        <p:nvSpPr>
          <p:cNvPr id="3" name="TextBox 3"/>
          <p:cNvSpPr txBox="1"/>
          <p:nvPr/>
        </p:nvSpPr>
        <p:spPr>
          <a:xfrm>
            <a:off x="1028700" y="6625559"/>
            <a:ext cx="5087534" cy="458394"/>
          </a:xfrm>
          <a:prstGeom prst="rect">
            <a:avLst/>
          </a:prstGeom>
        </p:spPr>
        <p:txBody>
          <a:bodyPr lIns="0" tIns="0" rIns="0" bIns="0" rtlCol="0" anchor="t">
            <a:spAutoFit/>
          </a:bodyPr>
          <a:lstStyle/>
          <a:p>
            <a:pPr marL="0" lvl="0" indent="0" algn="ctr">
              <a:lnSpc>
                <a:spcPts val="3609"/>
              </a:lnSpc>
              <a:spcBef>
                <a:spcPct val="0"/>
              </a:spcBef>
            </a:pPr>
            <a:r>
              <a:rPr lang="en-US" sz="2800" b="1" spc="-51" dirty="0">
                <a:solidFill>
                  <a:srgbClr val="333446"/>
                </a:solidFill>
                <a:latin typeface="Poppins Heavy"/>
                <a:ea typeface="Poppins Heavy"/>
                <a:cs typeface="Poppins Heavy"/>
                <a:sym typeface="Poppins Heavy"/>
              </a:rPr>
              <a:t>HOW TO USE EACH UNIT</a:t>
            </a:r>
          </a:p>
        </p:txBody>
      </p:sp>
      <p:sp>
        <p:nvSpPr>
          <p:cNvPr id="4" name="TextBox 4"/>
          <p:cNvSpPr txBox="1"/>
          <p:nvPr/>
        </p:nvSpPr>
        <p:spPr>
          <a:xfrm>
            <a:off x="1164145" y="7460174"/>
            <a:ext cx="4816643" cy="2645468"/>
          </a:xfrm>
          <a:prstGeom prst="rect">
            <a:avLst/>
          </a:prstGeom>
        </p:spPr>
        <p:txBody>
          <a:bodyPr lIns="0" tIns="0" rIns="0" bIns="0" rtlCol="0" anchor="t">
            <a:spAutoFit/>
          </a:bodyPr>
          <a:lstStyle/>
          <a:p>
            <a:pPr marL="0" lvl="0" indent="0" algn="just">
              <a:lnSpc>
                <a:spcPts val="2277"/>
              </a:lnSpc>
              <a:spcBef>
                <a:spcPct val="0"/>
              </a:spcBef>
            </a:pPr>
            <a:r>
              <a:rPr lang="en-US" dirty="0">
                <a:solidFill>
                  <a:srgbClr val="333446"/>
                </a:solidFill>
                <a:latin typeface="Poppins"/>
                <a:ea typeface="Poppins"/>
                <a:cs typeface="Poppins"/>
                <a:sym typeface="Poppins"/>
              </a:rPr>
              <a:t>Each unit slide includes the same prompts to help you document your learning consistently. Fill in each section as you work through the unit activities.</a:t>
            </a:r>
          </a:p>
          <a:p>
            <a:pPr marL="0" lvl="0" indent="0" algn="just">
              <a:lnSpc>
                <a:spcPts val="2277"/>
              </a:lnSpc>
              <a:spcBef>
                <a:spcPct val="0"/>
              </a:spcBef>
            </a:pPr>
            <a:endParaRPr lang="en-US" dirty="0">
              <a:solidFill>
                <a:srgbClr val="333446"/>
              </a:solidFill>
              <a:latin typeface="Poppins"/>
              <a:ea typeface="Poppins"/>
              <a:cs typeface="Poppins"/>
              <a:sym typeface="Poppins"/>
            </a:endParaRPr>
          </a:p>
          <a:p>
            <a:pPr marL="0" lvl="0" indent="0" algn="just">
              <a:lnSpc>
                <a:spcPts val="2277"/>
              </a:lnSpc>
              <a:spcBef>
                <a:spcPct val="0"/>
              </a:spcBef>
            </a:pPr>
            <a:r>
              <a:rPr lang="en-US" dirty="0">
                <a:solidFill>
                  <a:srgbClr val="333446"/>
                </a:solidFill>
                <a:latin typeface="Poppins"/>
                <a:ea typeface="Poppins"/>
                <a:cs typeface="Poppins"/>
                <a:sym typeface="Poppins"/>
              </a:rPr>
              <a:t>Delete the prompts once each section is completed.</a:t>
            </a:r>
          </a:p>
          <a:p>
            <a:pPr marL="0" lvl="0" indent="0" algn="just">
              <a:lnSpc>
                <a:spcPts val="2277"/>
              </a:lnSpc>
              <a:spcBef>
                <a:spcPct val="0"/>
              </a:spcBef>
            </a:pPr>
            <a:endParaRPr lang="en-US" dirty="0">
              <a:solidFill>
                <a:srgbClr val="333446"/>
              </a:solidFill>
              <a:latin typeface="Poppins"/>
              <a:ea typeface="Poppins"/>
              <a:cs typeface="Poppins"/>
              <a:sym typeface="Poppins"/>
            </a:endParaRPr>
          </a:p>
          <a:p>
            <a:pPr marL="0" lvl="0" indent="0" algn="just">
              <a:lnSpc>
                <a:spcPts val="2277"/>
              </a:lnSpc>
              <a:spcBef>
                <a:spcPct val="0"/>
              </a:spcBef>
            </a:pPr>
            <a:r>
              <a:rPr lang="en-US" dirty="0">
                <a:solidFill>
                  <a:srgbClr val="333446"/>
                </a:solidFill>
                <a:latin typeface="Poppins"/>
                <a:ea typeface="Poppins"/>
                <a:cs typeface="Poppins"/>
                <a:sym typeface="Poppins"/>
              </a:rPr>
              <a:t>Add more slides as required.</a:t>
            </a:r>
          </a:p>
        </p:txBody>
      </p:sp>
      <p:sp>
        <p:nvSpPr>
          <p:cNvPr id="5" name="TextBox 5"/>
          <p:cNvSpPr txBox="1"/>
          <p:nvPr/>
        </p:nvSpPr>
        <p:spPr>
          <a:xfrm>
            <a:off x="6753456" y="6637164"/>
            <a:ext cx="4960681" cy="446789"/>
          </a:xfrm>
          <a:prstGeom prst="rect">
            <a:avLst/>
          </a:prstGeom>
        </p:spPr>
        <p:txBody>
          <a:bodyPr wrap="square" lIns="0" tIns="0" rIns="0" bIns="0" rtlCol="0" anchor="t">
            <a:spAutoFit/>
          </a:bodyPr>
          <a:lstStyle/>
          <a:p>
            <a:pPr marL="0" lvl="0" indent="0" algn="ctr">
              <a:lnSpc>
                <a:spcPts val="3609"/>
              </a:lnSpc>
              <a:spcBef>
                <a:spcPct val="0"/>
              </a:spcBef>
            </a:pPr>
            <a:r>
              <a:rPr lang="en-US" sz="2800" b="1" spc="-51" dirty="0">
                <a:solidFill>
                  <a:srgbClr val="333446"/>
                </a:solidFill>
                <a:latin typeface="Poppins Heavy"/>
                <a:ea typeface="Poppins Heavy"/>
                <a:cs typeface="Poppins Heavy"/>
                <a:sym typeface="Poppins Heavy"/>
              </a:rPr>
              <a:t>WHAT YOU WILL DOCUMENT</a:t>
            </a:r>
          </a:p>
        </p:txBody>
      </p:sp>
      <p:sp>
        <p:nvSpPr>
          <p:cNvPr id="6" name="TextBox 6"/>
          <p:cNvSpPr txBox="1"/>
          <p:nvPr/>
        </p:nvSpPr>
        <p:spPr>
          <a:xfrm>
            <a:off x="12543262" y="6625559"/>
            <a:ext cx="4554061" cy="458394"/>
          </a:xfrm>
          <a:prstGeom prst="rect">
            <a:avLst/>
          </a:prstGeom>
        </p:spPr>
        <p:txBody>
          <a:bodyPr lIns="0" tIns="0" rIns="0" bIns="0" rtlCol="0" anchor="t">
            <a:spAutoFit/>
          </a:bodyPr>
          <a:lstStyle/>
          <a:p>
            <a:pPr marL="0" lvl="0" indent="0" algn="ctr">
              <a:lnSpc>
                <a:spcPts val="3609"/>
              </a:lnSpc>
              <a:spcBef>
                <a:spcPct val="0"/>
              </a:spcBef>
            </a:pPr>
            <a:r>
              <a:rPr lang="en-US" sz="2800" b="1" spc="-51" dirty="0">
                <a:solidFill>
                  <a:srgbClr val="333446"/>
                </a:solidFill>
                <a:latin typeface="Poppins Heavy"/>
                <a:ea typeface="Poppins Heavy"/>
                <a:cs typeface="Poppins Heavy"/>
                <a:sym typeface="Poppins Heavy"/>
              </a:rPr>
              <a:t>TIPS FOR SUCCESS</a:t>
            </a:r>
          </a:p>
        </p:txBody>
      </p:sp>
      <p:sp>
        <p:nvSpPr>
          <p:cNvPr id="7" name="TextBox 7"/>
          <p:cNvSpPr txBox="1"/>
          <p:nvPr/>
        </p:nvSpPr>
        <p:spPr>
          <a:xfrm>
            <a:off x="6825476" y="7460174"/>
            <a:ext cx="4816643" cy="1760610"/>
          </a:xfrm>
          <a:prstGeom prst="rect">
            <a:avLst/>
          </a:prstGeom>
        </p:spPr>
        <p:txBody>
          <a:bodyPr lIns="0" tIns="0" rIns="0" bIns="0" rtlCol="0" anchor="t">
            <a:spAutoFit/>
          </a:bodyPr>
          <a:lstStyle/>
          <a:p>
            <a:pPr marL="0" lvl="0" indent="0" algn="just">
              <a:lnSpc>
                <a:spcPts val="2277"/>
              </a:lnSpc>
              <a:spcBef>
                <a:spcPct val="0"/>
              </a:spcBef>
            </a:pPr>
            <a:r>
              <a:rPr lang="en-US" dirty="0">
                <a:solidFill>
                  <a:srgbClr val="333446"/>
                </a:solidFill>
                <a:latin typeface="Poppins"/>
                <a:ea typeface="Poppins"/>
                <a:cs typeface="Poppins"/>
                <a:sym typeface="Poppins"/>
              </a:rPr>
              <a:t>Each unit includes: What I Learned, Key Vocabulary (3-5 terms), Code &amp; Programming Notes, Challenges &amp; Solutions, Pros &amp; Cons, and Reflection Questions. Complete each section after finishing the unit activities.</a:t>
            </a:r>
          </a:p>
        </p:txBody>
      </p:sp>
      <p:sp>
        <p:nvSpPr>
          <p:cNvPr id="8" name="TextBox 8"/>
          <p:cNvSpPr txBox="1"/>
          <p:nvPr/>
        </p:nvSpPr>
        <p:spPr>
          <a:xfrm>
            <a:off x="12443265" y="7460174"/>
            <a:ext cx="4816643" cy="1170705"/>
          </a:xfrm>
          <a:prstGeom prst="rect">
            <a:avLst/>
          </a:prstGeom>
        </p:spPr>
        <p:txBody>
          <a:bodyPr lIns="0" tIns="0" rIns="0" bIns="0" rtlCol="0" anchor="t">
            <a:spAutoFit/>
          </a:bodyPr>
          <a:lstStyle/>
          <a:p>
            <a:pPr marL="0" lvl="0" indent="0" algn="just">
              <a:lnSpc>
                <a:spcPts val="2277"/>
              </a:lnSpc>
              <a:spcBef>
                <a:spcPct val="0"/>
              </a:spcBef>
            </a:pPr>
            <a:r>
              <a:rPr lang="en-US" dirty="0">
                <a:solidFill>
                  <a:srgbClr val="333446"/>
                </a:solidFill>
                <a:latin typeface="Poppins"/>
                <a:ea typeface="Poppins"/>
                <a:cs typeface="Poppins"/>
                <a:sym typeface="Poppins"/>
              </a:rPr>
              <a:t>Use your own words. Include screenshots or sketches where possible. Be honest in your reflections. Ask your teacher if you are unsure what to write in any section.</a:t>
            </a:r>
          </a:p>
        </p:txBody>
      </p:sp>
      <p:grpSp>
        <p:nvGrpSpPr>
          <p:cNvPr id="9" name="Group 9"/>
          <p:cNvGrpSpPr/>
          <p:nvPr/>
        </p:nvGrpSpPr>
        <p:grpSpPr>
          <a:xfrm>
            <a:off x="1028700" y="233663"/>
            <a:ext cx="16199915" cy="2891208"/>
            <a:chOff x="0" y="0"/>
            <a:chExt cx="1220443" cy="217813"/>
          </a:xfrm>
        </p:grpSpPr>
        <p:sp>
          <p:nvSpPr>
            <p:cNvPr id="10" name="Freeform 10"/>
            <p:cNvSpPr/>
            <p:nvPr/>
          </p:nvSpPr>
          <p:spPr>
            <a:xfrm>
              <a:off x="0" y="0"/>
              <a:ext cx="1220443" cy="217813"/>
            </a:xfrm>
            <a:custGeom>
              <a:avLst/>
              <a:gdLst/>
              <a:ahLst/>
              <a:cxnLst/>
              <a:rect l="l" t="t" r="r" b="b"/>
              <a:pathLst>
                <a:path w="1220443" h="217813">
                  <a:moveTo>
                    <a:pt x="10992" y="0"/>
                  </a:moveTo>
                  <a:lnTo>
                    <a:pt x="1209451" y="0"/>
                  </a:lnTo>
                  <a:cubicBezTo>
                    <a:pt x="1215522" y="0"/>
                    <a:pt x="1220443" y="4921"/>
                    <a:pt x="1220443" y="10992"/>
                  </a:cubicBezTo>
                  <a:lnTo>
                    <a:pt x="1220443" y="206821"/>
                  </a:lnTo>
                  <a:cubicBezTo>
                    <a:pt x="1220443" y="209737"/>
                    <a:pt x="1219285" y="212532"/>
                    <a:pt x="1217223" y="214594"/>
                  </a:cubicBezTo>
                  <a:cubicBezTo>
                    <a:pt x="1215162" y="216655"/>
                    <a:pt x="1212366" y="217813"/>
                    <a:pt x="1209451" y="217813"/>
                  </a:cubicBezTo>
                  <a:lnTo>
                    <a:pt x="10992" y="217813"/>
                  </a:lnTo>
                  <a:cubicBezTo>
                    <a:pt x="8076" y="217813"/>
                    <a:pt x="5281" y="216655"/>
                    <a:pt x="3219" y="214594"/>
                  </a:cubicBezTo>
                  <a:cubicBezTo>
                    <a:pt x="1158" y="212532"/>
                    <a:pt x="0" y="209737"/>
                    <a:pt x="0" y="206821"/>
                  </a:cubicBezTo>
                  <a:lnTo>
                    <a:pt x="0" y="10992"/>
                  </a:lnTo>
                  <a:cubicBezTo>
                    <a:pt x="0" y="8076"/>
                    <a:pt x="1158" y="5281"/>
                    <a:pt x="3219" y="3219"/>
                  </a:cubicBezTo>
                  <a:cubicBezTo>
                    <a:pt x="5281" y="1158"/>
                    <a:pt x="8076" y="0"/>
                    <a:pt x="10992" y="0"/>
                  </a:cubicBezTo>
                  <a:close/>
                </a:path>
              </a:pathLst>
            </a:custGeom>
            <a:blipFill>
              <a:blip r:embed="rId2"/>
              <a:stretch>
                <a:fillRect t="-109690" b="-109690"/>
              </a:stretch>
            </a:blipFill>
          </p:spPr>
          <p:txBody>
            <a:bodyPr/>
            <a:lstStyle/>
            <a:p>
              <a:endParaRPr lang="en-AU"/>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3602653" y="0"/>
            <a:ext cx="4685347" cy="4685347"/>
          </a:xfrm>
          <a:custGeom>
            <a:avLst/>
            <a:gdLst/>
            <a:ahLst/>
            <a:cxnLst/>
            <a:rect l="l" t="t" r="r" b="b"/>
            <a:pathLst>
              <a:path w="4685347" h="4685347">
                <a:moveTo>
                  <a:pt x="0" y="0"/>
                </a:moveTo>
                <a:lnTo>
                  <a:pt x="4685347" y="0"/>
                </a:lnTo>
                <a:lnTo>
                  <a:pt x="4685347" y="4685347"/>
                </a:lnTo>
                <a:lnTo>
                  <a:pt x="0" y="4685347"/>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43415"/>
            <a:ext cx="13334999" cy="1350370"/>
          </a:xfrm>
          <a:prstGeom prst="rect">
            <a:avLst/>
          </a:prstGeom>
        </p:spPr>
        <p:txBody>
          <a:bodyPr wrap="square" lIns="0" tIns="0" rIns="0" bIns="0" rtlCol="0" anchor="t">
            <a:spAutoFit/>
          </a:bodyPr>
          <a:lstStyle/>
          <a:p>
            <a:pPr marL="0" lvl="0" indent="0" algn="ctr">
              <a:lnSpc>
                <a:spcPts val="11751"/>
              </a:lnSpc>
              <a:spcBef>
                <a:spcPct val="0"/>
              </a:spcBef>
            </a:pPr>
            <a:r>
              <a:rPr lang="en-US" sz="6000" dirty="0">
                <a:solidFill>
                  <a:srgbClr val="333446"/>
                </a:solidFill>
                <a:latin typeface="Poppins Light"/>
                <a:ea typeface="Poppins Light"/>
                <a:cs typeface="Poppins Light"/>
                <a:sym typeface="Poppins Light"/>
              </a:rPr>
              <a:t>UNIT 1 – DRIVE WITH A CONTROLLER</a:t>
            </a:r>
          </a:p>
        </p:txBody>
      </p:sp>
      <p:sp>
        <p:nvSpPr>
          <p:cNvPr id="5" name="TextBox 5"/>
          <p:cNvSpPr txBox="1"/>
          <p:nvPr/>
        </p:nvSpPr>
        <p:spPr>
          <a:xfrm>
            <a:off x="751316" y="1866900"/>
            <a:ext cx="7868063" cy="625877"/>
          </a:xfrm>
          <a:prstGeom prst="rect">
            <a:avLst/>
          </a:prstGeom>
        </p:spPr>
        <p:txBody>
          <a:bodyPr lIns="0" tIns="0" rIns="0" bIns="0" rtlCol="0" anchor="t">
            <a:spAutoFit/>
          </a:bodyPr>
          <a:lstStyle/>
          <a:p>
            <a:pPr algn="just">
              <a:lnSpc>
                <a:spcPts val="2528"/>
              </a:lnSpc>
            </a:pPr>
            <a:r>
              <a:rPr lang="en-US" sz="1805" dirty="0">
                <a:solidFill>
                  <a:srgbClr val="333446"/>
                </a:solidFill>
                <a:latin typeface="Poppins"/>
                <a:ea typeface="Poppins"/>
                <a:cs typeface="Poppins"/>
                <a:sym typeface="Poppins"/>
              </a:rPr>
              <a:t>Add an annotated image of the remote that explains how to use it.</a:t>
            </a:r>
          </a:p>
          <a:p>
            <a:pPr algn="just">
              <a:lnSpc>
                <a:spcPts val="2528"/>
              </a:lnSpc>
            </a:pPr>
            <a:endParaRPr lang="en-US" sz="1805" dirty="0">
              <a:solidFill>
                <a:srgbClr val="333446"/>
              </a:solidFill>
              <a:latin typeface="Poppins"/>
              <a:ea typeface="Poppins"/>
              <a:cs typeface="Poppins"/>
              <a:sym typeface="Poppins"/>
            </a:endParaRPr>
          </a:p>
        </p:txBody>
      </p:sp>
      <p:pic>
        <p:nvPicPr>
          <p:cNvPr id="8" name="Picture 7">
            <a:extLst>
              <a:ext uri="{FF2B5EF4-FFF2-40B4-BE49-F238E27FC236}">
                <a16:creationId xmlns:a16="http://schemas.microsoft.com/office/drawing/2014/main" id="{62B71BF6-7D11-66CD-A82D-89B8BF9CA730}"/>
              </a:ext>
            </a:extLst>
          </p:cNvPr>
          <p:cNvPicPr>
            <a:picLocks noChangeAspect="1"/>
          </p:cNvPicPr>
          <p:nvPr/>
        </p:nvPicPr>
        <p:blipFill>
          <a:blip r:embed="rId3"/>
          <a:stretch>
            <a:fillRect/>
          </a:stretch>
        </p:blipFill>
        <p:spPr>
          <a:xfrm rot="20016368">
            <a:off x="3302429" y="3878564"/>
            <a:ext cx="6730138" cy="4724466"/>
          </a:xfrm>
          <a:prstGeom prst="rect">
            <a:avLst/>
          </a:prstGeom>
        </p:spPr>
      </p:pic>
      <p:cxnSp>
        <p:nvCxnSpPr>
          <p:cNvPr id="10" name="Straight Arrow Connector 9">
            <a:extLst>
              <a:ext uri="{FF2B5EF4-FFF2-40B4-BE49-F238E27FC236}">
                <a16:creationId xmlns:a16="http://schemas.microsoft.com/office/drawing/2014/main" id="{213FF42F-6AA4-C40D-7345-02F4BB58DAB4}"/>
              </a:ext>
            </a:extLst>
          </p:cNvPr>
          <p:cNvCxnSpPr/>
          <p:nvPr/>
        </p:nvCxnSpPr>
        <p:spPr>
          <a:xfrm>
            <a:off x="7239000" y="5753100"/>
            <a:ext cx="6363653" cy="1371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D6D99BE-37FC-874A-BBED-6E74E0E6FEE5}"/>
              </a:ext>
            </a:extLst>
          </p:cNvPr>
          <p:cNvCxnSpPr>
            <a:cxnSpLocks/>
          </p:cNvCxnSpPr>
          <p:nvPr/>
        </p:nvCxnSpPr>
        <p:spPr>
          <a:xfrm flipH="1" flipV="1">
            <a:off x="2819400" y="4152900"/>
            <a:ext cx="2667000" cy="990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F0C69F9-2F65-8575-3F87-A6DCAE31E230}"/>
              </a:ext>
            </a:extLst>
          </p:cNvPr>
          <p:cNvSpPr txBox="1"/>
          <p:nvPr/>
        </p:nvSpPr>
        <p:spPr>
          <a:xfrm>
            <a:off x="381000" y="3162300"/>
            <a:ext cx="2667000" cy="4154984"/>
          </a:xfrm>
          <a:prstGeom prst="rect">
            <a:avLst/>
          </a:prstGeom>
          <a:noFill/>
        </p:spPr>
        <p:txBody>
          <a:bodyPr wrap="square" rtlCol="0">
            <a:spAutoFit/>
          </a:bodyPr>
          <a:lstStyle/>
          <a:p>
            <a:r>
              <a:rPr lang="en-AU" sz="4000" dirty="0"/>
              <a:t>Joystick</a:t>
            </a:r>
            <a:r>
              <a:rPr lang="en-AU" dirty="0"/>
              <a:t>: </a:t>
            </a:r>
            <a:r>
              <a:rPr lang="en-AU" sz="3200" dirty="0"/>
              <a:t>Controls movement and rotation. The further you move it the faster the bot goes</a:t>
            </a:r>
          </a:p>
        </p:txBody>
      </p:sp>
      <p:sp>
        <p:nvSpPr>
          <p:cNvPr id="19" name="TextBox 18">
            <a:extLst>
              <a:ext uri="{FF2B5EF4-FFF2-40B4-BE49-F238E27FC236}">
                <a16:creationId xmlns:a16="http://schemas.microsoft.com/office/drawing/2014/main" id="{B559108D-211A-22D5-1664-63E6FEEDA473}"/>
              </a:ext>
            </a:extLst>
          </p:cNvPr>
          <p:cNvSpPr txBox="1"/>
          <p:nvPr/>
        </p:nvSpPr>
        <p:spPr>
          <a:xfrm>
            <a:off x="12801600" y="7394049"/>
            <a:ext cx="9186530" cy="830997"/>
          </a:xfrm>
          <a:prstGeom prst="rect">
            <a:avLst/>
          </a:prstGeom>
          <a:noFill/>
        </p:spPr>
        <p:txBody>
          <a:bodyPr wrap="square">
            <a:spAutoFit/>
          </a:bodyPr>
          <a:lstStyle/>
          <a:p>
            <a:r>
              <a:rPr lang="en-AU" sz="4800" dirty="0"/>
              <a:t>Down Button</a:t>
            </a:r>
            <a:r>
              <a:rPr lang="en-AU" sz="3200" dirty="0"/>
              <a:t>: Kicks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3602653" y="27214"/>
            <a:ext cx="4685347" cy="4685347"/>
          </a:xfrm>
          <a:custGeom>
            <a:avLst/>
            <a:gdLst/>
            <a:ahLst/>
            <a:cxnLst/>
            <a:rect l="l" t="t" r="r" b="b"/>
            <a:pathLst>
              <a:path w="4685347" h="4685347">
                <a:moveTo>
                  <a:pt x="0" y="0"/>
                </a:moveTo>
                <a:lnTo>
                  <a:pt x="4685347" y="0"/>
                </a:lnTo>
                <a:lnTo>
                  <a:pt x="4685347" y="4685347"/>
                </a:lnTo>
                <a:lnTo>
                  <a:pt x="0" y="4685347"/>
                </a:lnTo>
                <a:lnTo>
                  <a:pt x="0" y="0"/>
                </a:lnTo>
                <a:close/>
              </a:path>
            </a:pathLst>
          </a:custGeom>
          <a:blipFill>
            <a:blip r:embed="rId2"/>
            <a:stretch>
              <a:fillRect/>
            </a:stretch>
          </a:blipFill>
        </p:spPr>
        <p:txBody>
          <a:bodyPr/>
          <a:lstStyle/>
          <a:p>
            <a:endParaRPr lang="en-AU"/>
          </a:p>
        </p:txBody>
      </p:sp>
      <p:sp>
        <p:nvSpPr>
          <p:cNvPr id="4" name="TextBox 4"/>
          <p:cNvSpPr txBox="1"/>
          <p:nvPr/>
        </p:nvSpPr>
        <p:spPr>
          <a:xfrm>
            <a:off x="1143000" y="5981700"/>
            <a:ext cx="9439968" cy="2569165"/>
          </a:xfrm>
          <a:prstGeom prst="rect">
            <a:avLst/>
          </a:prstGeom>
        </p:spPr>
        <p:txBody>
          <a:bodyPr wrap="square" lIns="0" tIns="0" rIns="0" bIns="0" rtlCol="0" anchor="t">
            <a:spAutoFit/>
          </a:bodyPr>
          <a:lstStyle/>
          <a:p>
            <a:pPr marL="0" lvl="0" indent="0" algn="just">
              <a:lnSpc>
                <a:spcPts val="2170"/>
              </a:lnSpc>
            </a:pPr>
            <a:r>
              <a:rPr lang="en-US" sz="3200" dirty="0">
                <a:solidFill>
                  <a:srgbClr val="333446"/>
                </a:solidFill>
                <a:latin typeface="Poppins"/>
                <a:ea typeface="Poppins"/>
                <a:cs typeface="Poppins"/>
                <a:sym typeface="Poppins"/>
              </a:rPr>
              <a:t>WHAT I LEARNED</a:t>
            </a:r>
          </a:p>
          <a:p>
            <a:pPr marL="0" lvl="0" indent="0" algn="just">
              <a:lnSpc>
                <a:spcPts val="2170"/>
              </a:lnSpc>
            </a:pPr>
            <a:endParaRPr lang="en-US" sz="3200" dirty="0">
              <a:solidFill>
                <a:srgbClr val="333446"/>
              </a:solidFill>
              <a:latin typeface="Poppins"/>
              <a:ea typeface="Poppins"/>
              <a:cs typeface="Poppins"/>
              <a:sym typeface="Poppins"/>
            </a:endParaRPr>
          </a:p>
          <a:p>
            <a:pPr algn="just">
              <a:lnSpc>
                <a:spcPts val="2170"/>
              </a:lnSpc>
            </a:pPr>
            <a:r>
              <a:rPr lang="en-US" sz="2800" dirty="0">
                <a:solidFill>
                  <a:srgbClr val="333446"/>
                </a:solidFill>
                <a:latin typeface="Poppins"/>
                <a:ea typeface="Poppins"/>
                <a:cs typeface="Poppins"/>
                <a:sym typeface="Poppins"/>
              </a:rPr>
              <a:t>Controller</a:t>
            </a:r>
          </a:p>
          <a:p>
            <a:pPr algn="l">
              <a:lnSpc>
                <a:spcPts val="2170"/>
              </a:lnSpc>
            </a:pPr>
            <a:r>
              <a:rPr lang="en-US" sz="2800" dirty="0">
                <a:solidFill>
                  <a:srgbClr val="333446"/>
                </a:solidFill>
                <a:latin typeface="Poppins"/>
                <a:ea typeface="Poppins"/>
                <a:cs typeface="Poppins"/>
                <a:sym typeface="Poppins"/>
              </a:rPr>
              <a:t>Messages</a:t>
            </a:r>
          </a:p>
          <a:p>
            <a:pPr algn="l">
              <a:lnSpc>
                <a:spcPts val="2170"/>
              </a:lnSpc>
            </a:pPr>
            <a:r>
              <a:rPr lang="en-US" sz="2800" dirty="0">
                <a:solidFill>
                  <a:srgbClr val="333446"/>
                </a:solidFill>
                <a:latin typeface="Poppins"/>
                <a:ea typeface="Poppins"/>
                <a:cs typeface="Poppins"/>
                <a:sym typeface="Poppins"/>
              </a:rPr>
              <a:t>Movement </a:t>
            </a:r>
          </a:p>
          <a:p>
            <a:pPr algn="l">
              <a:lnSpc>
                <a:spcPts val="2170"/>
              </a:lnSpc>
            </a:pPr>
            <a:r>
              <a:rPr lang="en-US" sz="2800" dirty="0">
                <a:solidFill>
                  <a:srgbClr val="333446"/>
                </a:solidFill>
                <a:latin typeface="Poppins"/>
                <a:ea typeface="Poppins"/>
                <a:cs typeface="Poppins"/>
                <a:sym typeface="Poppins"/>
              </a:rPr>
              <a:t>Code</a:t>
            </a:r>
          </a:p>
          <a:p>
            <a:pPr algn="l">
              <a:lnSpc>
                <a:spcPts val="2170"/>
              </a:lnSpc>
            </a:pPr>
            <a:r>
              <a:rPr lang="en-US" sz="2800" dirty="0">
                <a:solidFill>
                  <a:srgbClr val="333446"/>
                </a:solidFill>
                <a:latin typeface="Poppins"/>
                <a:ea typeface="Poppins"/>
                <a:cs typeface="Poppins"/>
                <a:sym typeface="Poppins"/>
              </a:rPr>
              <a:t>AI Vision</a:t>
            </a:r>
          </a:p>
          <a:p>
            <a:pPr algn="l">
              <a:lnSpc>
                <a:spcPts val="2170"/>
              </a:lnSpc>
            </a:pPr>
            <a:r>
              <a:rPr lang="en-US" sz="2800" dirty="0">
                <a:solidFill>
                  <a:srgbClr val="333446"/>
                </a:solidFill>
                <a:latin typeface="Poppins"/>
                <a:ea typeface="Poppins"/>
                <a:cs typeface="Poppins"/>
                <a:sym typeface="Poppins"/>
              </a:rPr>
              <a:t>Pairing</a:t>
            </a:r>
          </a:p>
          <a:p>
            <a:pPr algn="l">
              <a:lnSpc>
                <a:spcPts val="2170"/>
              </a:lnSpc>
            </a:pPr>
            <a:r>
              <a:rPr lang="en-US" sz="2800" dirty="0">
                <a:solidFill>
                  <a:srgbClr val="333446"/>
                </a:solidFill>
                <a:latin typeface="Poppins"/>
                <a:ea typeface="Poppins"/>
                <a:cs typeface="Poppins"/>
                <a:sym typeface="Poppins"/>
              </a:rPr>
              <a:t>April Tags</a:t>
            </a:r>
          </a:p>
        </p:txBody>
      </p:sp>
      <p:sp>
        <p:nvSpPr>
          <p:cNvPr id="5" name="TextBox 5"/>
          <p:cNvSpPr txBox="1"/>
          <p:nvPr/>
        </p:nvSpPr>
        <p:spPr>
          <a:xfrm>
            <a:off x="466032" y="2022707"/>
            <a:ext cx="7868063" cy="1943994"/>
          </a:xfrm>
          <a:prstGeom prst="rect">
            <a:avLst/>
          </a:prstGeom>
        </p:spPr>
        <p:txBody>
          <a:bodyPr lIns="0" tIns="0" rIns="0" bIns="0" rtlCol="0" anchor="t">
            <a:spAutoFit/>
          </a:bodyPr>
          <a:lstStyle/>
          <a:p>
            <a:pPr marL="0" lvl="0" indent="0" algn="just">
              <a:lnSpc>
                <a:spcPts val="2528"/>
              </a:lnSpc>
            </a:pPr>
            <a:r>
              <a:rPr lang="en-US" sz="3200" dirty="0">
                <a:solidFill>
                  <a:srgbClr val="333446"/>
                </a:solidFill>
                <a:latin typeface="Poppins"/>
                <a:ea typeface="Poppins"/>
                <a:cs typeface="Poppins"/>
                <a:sym typeface="Poppins"/>
              </a:rPr>
              <a:t>CHALLENGES &amp; SOLUTIONS</a:t>
            </a:r>
          </a:p>
          <a:p>
            <a:pPr marL="0" lvl="0" indent="0" algn="just">
              <a:lnSpc>
                <a:spcPts val="2528"/>
              </a:lnSpc>
            </a:pPr>
            <a:endParaRPr lang="en-US" sz="3200" dirty="0">
              <a:solidFill>
                <a:srgbClr val="333446"/>
              </a:solidFill>
              <a:latin typeface="Poppins"/>
              <a:ea typeface="Poppins"/>
              <a:cs typeface="Poppins"/>
              <a:sym typeface="Poppins"/>
            </a:endParaRPr>
          </a:p>
          <a:p>
            <a:pPr marL="0" lvl="0" indent="0" algn="just">
              <a:lnSpc>
                <a:spcPts val="2528"/>
              </a:lnSpc>
            </a:pPr>
            <a:r>
              <a:rPr lang="en-US" sz="2800" dirty="0">
                <a:solidFill>
                  <a:srgbClr val="333446"/>
                </a:solidFill>
                <a:latin typeface="Poppins"/>
                <a:ea typeface="Poppins"/>
                <a:cs typeface="Poppins"/>
                <a:sym typeface="Poppins"/>
              </a:rPr>
              <a:t>Being able to control the direction and pace of the bot was very challenging but with patience and time we were able to work with it fluently.</a:t>
            </a:r>
          </a:p>
        </p:txBody>
      </p:sp>
      <p:sp>
        <p:nvSpPr>
          <p:cNvPr id="6" name="TextBox 6"/>
          <p:cNvSpPr txBox="1"/>
          <p:nvPr/>
        </p:nvSpPr>
        <p:spPr>
          <a:xfrm>
            <a:off x="6858000" y="5055484"/>
            <a:ext cx="7868063" cy="4140108"/>
          </a:xfrm>
          <a:prstGeom prst="rect">
            <a:avLst/>
          </a:prstGeom>
        </p:spPr>
        <p:txBody>
          <a:bodyPr lIns="0" tIns="0" rIns="0" bIns="0" rtlCol="0" anchor="t">
            <a:spAutoFit/>
          </a:bodyPr>
          <a:lstStyle/>
          <a:p>
            <a:pPr marL="0" lvl="0" indent="0" algn="just">
              <a:lnSpc>
                <a:spcPts val="1968"/>
              </a:lnSpc>
            </a:pPr>
            <a:r>
              <a:rPr lang="en-US" sz="2800" dirty="0">
                <a:solidFill>
                  <a:srgbClr val="333446"/>
                </a:solidFill>
                <a:latin typeface="Poppins"/>
                <a:ea typeface="Poppins"/>
                <a:cs typeface="Poppins"/>
                <a:sym typeface="Poppins"/>
              </a:rPr>
              <a:t>PROS &amp; CONS OF USING A REMOTE</a:t>
            </a:r>
          </a:p>
          <a:p>
            <a:pPr marL="0" lvl="0" indent="0" algn="just">
              <a:lnSpc>
                <a:spcPts val="1968"/>
              </a:lnSpc>
            </a:pPr>
            <a:endParaRPr lang="en-US" sz="2800" dirty="0">
              <a:solidFill>
                <a:srgbClr val="333446"/>
              </a:solidFill>
              <a:latin typeface="Poppins"/>
              <a:ea typeface="Poppins"/>
              <a:cs typeface="Poppins"/>
              <a:sym typeface="Poppins"/>
            </a:endParaRPr>
          </a:p>
          <a:p>
            <a:pPr marL="0" lvl="0" indent="0" algn="just">
              <a:lnSpc>
                <a:spcPts val="1968"/>
              </a:lnSpc>
            </a:pPr>
            <a:r>
              <a:rPr lang="en-US" sz="2800" dirty="0">
                <a:solidFill>
                  <a:srgbClr val="333446"/>
                </a:solidFill>
                <a:latin typeface="Poppins"/>
                <a:ea typeface="Poppins"/>
                <a:cs typeface="Poppins"/>
                <a:sym typeface="Poppins"/>
              </a:rPr>
              <a:t>Pros: You have total control when things go wrong</a:t>
            </a:r>
          </a:p>
          <a:p>
            <a:pPr marL="0" lvl="0" indent="0" algn="just">
              <a:lnSpc>
                <a:spcPts val="1968"/>
              </a:lnSpc>
            </a:pPr>
            <a:endParaRPr lang="en-US" sz="2800" dirty="0">
              <a:solidFill>
                <a:srgbClr val="333446"/>
              </a:solidFill>
              <a:latin typeface="Poppins"/>
              <a:ea typeface="Poppins"/>
              <a:cs typeface="Poppins"/>
              <a:sym typeface="Poppins"/>
            </a:endParaRPr>
          </a:p>
          <a:p>
            <a:pPr marL="0" lvl="0" indent="0" algn="just">
              <a:lnSpc>
                <a:spcPts val="1968"/>
              </a:lnSpc>
            </a:pPr>
            <a:endParaRPr lang="en-US" sz="2800" dirty="0">
              <a:solidFill>
                <a:srgbClr val="333446"/>
              </a:solidFill>
              <a:latin typeface="Poppins"/>
              <a:ea typeface="Poppins"/>
              <a:cs typeface="Poppins"/>
              <a:sym typeface="Poppins"/>
            </a:endParaRPr>
          </a:p>
          <a:p>
            <a:pPr marL="0" lvl="0" indent="0" algn="just">
              <a:lnSpc>
                <a:spcPts val="1968"/>
              </a:lnSpc>
            </a:pPr>
            <a:endParaRPr lang="en-US" sz="2800" dirty="0">
              <a:solidFill>
                <a:srgbClr val="333446"/>
              </a:solidFill>
              <a:latin typeface="Poppins"/>
              <a:ea typeface="Poppins"/>
              <a:cs typeface="Poppins"/>
              <a:sym typeface="Poppins"/>
            </a:endParaRPr>
          </a:p>
          <a:p>
            <a:pPr marL="0" lvl="0" indent="0" algn="just">
              <a:lnSpc>
                <a:spcPts val="1968"/>
              </a:lnSpc>
            </a:pPr>
            <a:endParaRPr lang="en-US" sz="2800" dirty="0">
              <a:solidFill>
                <a:srgbClr val="333446"/>
              </a:solidFill>
              <a:latin typeface="Poppins"/>
              <a:ea typeface="Poppins"/>
              <a:cs typeface="Poppins"/>
              <a:sym typeface="Poppins"/>
            </a:endParaRPr>
          </a:p>
          <a:p>
            <a:pPr marL="0" lvl="0" indent="0" algn="just">
              <a:lnSpc>
                <a:spcPts val="1968"/>
              </a:lnSpc>
            </a:pPr>
            <a:r>
              <a:rPr lang="en-US" sz="2800" dirty="0">
                <a:solidFill>
                  <a:srgbClr val="333446"/>
                </a:solidFill>
                <a:latin typeface="Poppins"/>
                <a:ea typeface="Poppins"/>
                <a:cs typeface="Poppins"/>
                <a:sym typeface="Poppins"/>
              </a:rPr>
              <a:t>Cons: It takes a lot of focus and effort</a:t>
            </a:r>
          </a:p>
          <a:p>
            <a:pPr marL="0" lvl="0" indent="0" algn="just">
              <a:lnSpc>
                <a:spcPts val="1968"/>
              </a:lnSpc>
            </a:pPr>
            <a:endParaRPr lang="en-US" sz="1405" dirty="0">
              <a:solidFill>
                <a:srgbClr val="333446"/>
              </a:solidFill>
              <a:latin typeface="Poppins"/>
              <a:ea typeface="Poppins"/>
              <a:cs typeface="Poppins"/>
              <a:sym typeface="Poppins"/>
            </a:endParaRPr>
          </a:p>
          <a:p>
            <a:pPr marL="0" lvl="0" indent="0" algn="just">
              <a:lnSpc>
                <a:spcPts val="1968"/>
              </a:lnSpc>
            </a:pPr>
            <a:endParaRPr lang="en-US" sz="1405" dirty="0">
              <a:solidFill>
                <a:srgbClr val="333446"/>
              </a:solidFill>
              <a:latin typeface="Poppins"/>
              <a:ea typeface="Poppins"/>
              <a:cs typeface="Poppins"/>
              <a:sym typeface="Poppins"/>
            </a:endParaRPr>
          </a:p>
          <a:p>
            <a:pPr marL="0" lvl="0" indent="0" algn="just">
              <a:lnSpc>
                <a:spcPts val="1968"/>
              </a:lnSpc>
            </a:pPr>
            <a:endParaRPr lang="en-US" sz="1405" dirty="0">
              <a:solidFill>
                <a:srgbClr val="333446"/>
              </a:solidFill>
              <a:latin typeface="Poppins"/>
              <a:ea typeface="Poppins"/>
              <a:cs typeface="Poppins"/>
              <a:sym typeface="Poppins"/>
            </a:endParaRPr>
          </a:p>
          <a:p>
            <a:pPr marL="0" lvl="0" indent="0" algn="just">
              <a:lnSpc>
                <a:spcPts val="1968"/>
              </a:lnSpc>
            </a:pPr>
            <a:endParaRPr lang="en-US" sz="1405" dirty="0">
              <a:solidFill>
                <a:srgbClr val="333446"/>
              </a:solidFill>
              <a:latin typeface="Poppins"/>
              <a:ea typeface="Poppins"/>
              <a:cs typeface="Poppins"/>
              <a:sym typeface="Poppins"/>
            </a:endParaRPr>
          </a:p>
          <a:p>
            <a:pPr marL="0" lvl="0" indent="0" algn="just">
              <a:lnSpc>
                <a:spcPts val="1968"/>
              </a:lnSpc>
            </a:pPr>
            <a:r>
              <a:rPr lang="en-US" sz="3200" dirty="0">
                <a:solidFill>
                  <a:srgbClr val="333446"/>
                </a:solidFill>
                <a:latin typeface="Poppins"/>
                <a:ea typeface="Poppins"/>
                <a:cs typeface="Poppins"/>
                <a:sym typeface="Poppins"/>
              </a:rPr>
              <a:t>REFLECTION</a:t>
            </a:r>
          </a:p>
          <a:p>
            <a:pPr marL="0" lvl="0" indent="0" algn="just">
              <a:lnSpc>
                <a:spcPts val="1968"/>
              </a:lnSpc>
            </a:pPr>
            <a:r>
              <a:rPr lang="en-US" sz="2800" dirty="0">
                <a:solidFill>
                  <a:srgbClr val="333446"/>
                </a:solidFill>
                <a:latin typeface="Poppins"/>
                <a:ea typeface="Poppins"/>
                <a:cs typeface="Poppins"/>
                <a:sym typeface="Poppins"/>
              </a:rPr>
              <a:t>It was interesting to drive around the robot; I look forward to coding it.</a:t>
            </a:r>
          </a:p>
        </p:txBody>
      </p:sp>
      <p:sp>
        <p:nvSpPr>
          <p:cNvPr id="8" name="TextBox 7">
            <a:extLst>
              <a:ext uri="{FF2B5EF4-FFF2-40B4-BE49-F238E27FC236}">
                <a16:creationId xmlns:a16="http://schemas.microsoft.com/office/drawing/2014/main" id="{990C1C58-6603-0DDC-5FD5-403C2F134DE2}"/>
              </a:ext>
            </a:extLst>
          </p:cNvPr>
          <p:cNvSpPr txBox="1"/>
          <p:nvPr/>
        </p:nvSpPr>
        <p:spPr>
          <a:xfrm>
            <a:off x="0" y="27214"/>
            <a:ext cx="13254384" cy="1442703"/>
          </a:xfrm>
          <a:prstGeom prst="rect">
            <a:avLst/>
          </a:prstGeom>
          <a:noFill/>
        </p:spPr>
        <p:txBody>
          <a:bodyPr wrap="square">
            <a:spAutoFit/>
          </a:bodyPr>
          <a:lstStyle/>
          <a:p>
            <a:pPr lvl="0" algn="ctr">
              <a:lnSpc>
                <a:spcPts val="11751"/>
              </a:lnSpc>
              <a:spcBef>
                <a:spcPct val="0"/>
              </a:spcBef>
            </a:pPr>
            <a:r>
              <a:rPr lang="en-US" sz="6000" dirty="0">
                <a:solidFill>
                  <a:srgbClr val="333446"/>
                </a:solidFill>
                <a:latin typeface="Poppins Light"/>
                <a:ea typeface="Poppins Light"/>
                <a:cs typeface="Poppins Light"/>
                <a:sym typeface="Poppins Light"/>
              </a:rPr>
              <a:t>UNIT 1 – DRIVE WITH A CONTROLLER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8658885" y="0"/>
            <a:ext cx="9629115" cy="4284956"/>
          </a:xfrm>
          <a:custGeom>
            <a:avLst/>
            <a:gdLst/>
            <a:ahLst/>
            <a:cxnLst/>
            <a:rect l="l" t="t" r="r" b="b"/>
            <a:pathLst>
              <a:path w="9629115" h="4284956">
                <a:moveTo>
                  <a:pt x="0" y="0"/>
                </a:moveTo>
                <a:lnTo>
                  <a:pt x="9629115" y="0"/>
                </a:lnTo>
                <a:lnTo>
                  <a:pt x="9629115" y="4284956"/>
                </a:lnTo>
                <a:lnTo>
                  <a:pt x="0" y="4284956"/>
                </a:lnTo>
                <a:lnTo>
                  <a:pt x="0" y="0"/>
                </a:lnTo>
                <a:close/>
              </a:path>
            </a:pathLst>
          </a:custGeom>
          <a:blipFill>
            <a:blip r:embed="rId2"/>
            <a:stretch>
              <a:fillRect/>
            </a:stretch>
          </a:blipFill>
        </p:spPr>
        <p:txBody>
          <a:bodyPr/>
          <a:lstStyle/>
          <a:p>
            <a:endParaRPr lang="en-AU"/>
          </a:p>
        </p:txBody>
      </p:sp>
      <p:sp>
        <p:nvSpPr>
          <p:cNvPr id="3" name="Freeform 3"/>
          <p:cNvSpPr/>
          <p:nvPr/>
        </p:nvSpPr>
        <p:spPr>
          <a:xfrm>
            <a:off x="1449365" y="7288062"/>
            <a:ext cx="4309579" cy="2725808"/>
          </a:xfrm>
          <a:custGeom>
            <a:avLst/>
            <a:gdLst/>
            <a:ahLst/>
            <a:cxnLst/>
            <a:rect l="l" t="t" r="r" b="b"/>
            <a:pathLst>
              <a:path w="4309579" h="2725808">
                <a:moveTo>
                  <a:pt x="0" y="0"/>
                </a:moveTo>
                <a:lnTo>
                  <a:pt x="4309579" y="0"/>
                </a:lnTo>
                <a:lnTo>
                  <a:pt x="4309579" y="2725809"/>
                </a:lnTo>
                <a:lnTo>
                  <a:pt x="0" y="2725809"/>
                </a:lnTo>
                <a:lnTo>
                  <a:pt x="0" y="0"/>
                </a:lnTo>
                <a:close/>
              </a:path>
            </a:pathLst>
          </a:custGeom>
          <a:blipFill>
            <a:blip r:embed="rId3"/>
            <a:stretch>
              <a:fillRect/>
            </a:stretch>
          </a:blipFill>
        </p:spPr>
        <p:txBody>
          <a:bodyPr/>
          <a:lstStyle/>
          <a:p>
            <a:r>
              <a:rPr lang="en-AU" dirty="0"/>
              <a:t>.</a:t>
            </a:r>
          </a:p>
        </p:txBody>
      </p:sp>
      <p:sp>
        <p:nvSpPr>
          <p:cNvPr id="4" name="TextBox 4"/>
          <p:cNvSpPr txBox="1"/>
          <p:nvPr/>
        </p:nvSpPr>
        <p:spPr>
          <a:xfrm>
            <a:off x="0" y="-152400"/>
            <a:ext cx="8192853" cy="944876"/>
          </a:xfrm>
          <a:prstGeom prst="rect">
            <a:avLst/>
          </a:prstGeom>
        </p:spPr>
        <p:txBody>
          <a:bodyPr lIns="0" tIns="0" rIns="0" bIns="0" rtlCol="0" anchor="t">
            <a:spAutoFit/>
          </a:bodyPr>
          <a:lstStyle/>
          <a:p>
            <a:pPr marL="0" lvl="0" indent="0" algn="ctr">
              <a:lnSpc>
                <a:spcPts val="7314"/>
              </a:lnSpc>
              <a:spcBef>
                <a:spcPct val="0"/>
              </a:spcBef>
            </a:pPr>
            <a:r>
              <a:rPr lang="en-US" sz="5224">
                <a:solidFill>
                  <a:srgbClr val="333446"/>
                </a:solidFill>
                <a:latin typeface="Poppins Light"/>
                <a:ea typeface="Poppins Light"/>
                <a:cs typeface="Poppins Light"/>
                <a:sym typeface="Poppins Light"/>
              </a:rPr>
              <a:t>UNIT 2 – TOUCH TO CODE</a:t>
            </a:r>
          </a:p>
        </p:txBody>
      </p:sp>
      <p:sp>
        <p:nvSpPr>
          <p:cNvPr id="5" name="TextBox 5"/>
          <p:cNvSpPr txBox="1"/>
          <p:nvPr/>
        </p:nvSpPr>
        <p:spPr>
          <a:xfrm>
            <a:off x="1028700" y="971550"/>
            <a:ext cx="7868063" cy="2523768"/>
          </a:xfrm>
          <a:prstGeom prst="rect">
            <a:avLst/>
          </a:prstGeom>
        </p:spPr>
        <p:txBody>
          <a:bodyPr lIns="0" tIns="0" rIns="0" bIns="0" rtlCol="0" anchor="t">
            <a:spAutoFit/>
          </a:bodyPr>
          <a:lstStyle/>
          <a:p>
            <a:pPr marL="0" lvl="0" indent="0" algn="just">
              <a:lnSpc>
                <a:spcPts val="2379"/>
              </a:lnSpc>
            </a:pPr>
            <a:r>
              <a:rPr lang="en-US" sz="1699" dirty="0">
                <a:solidFill>
                  <a:srgbClr val="333446"/>
                </a:solidFill>
                <a:latin typeface="Poppins"/>
                <a:ea typeface="Poppins"/>
                <a:cs typeface="Poppins"/>
                <a:sym typeface="Poppins"/>
              </a:rPr>
              <a:t>WHAT I LEARNED</a:t>
            </a:r>
          </a:p>
          <a:p>
            <a:pPr marL="0" lvl="0" indent="0" algn="just">
              <a:lnSpc>
                <a:spcPts val="2379"/>
              </a:lnSpc>
            </a:pPr>
            <a:r>
              <a:rPr lang="en-US" sz="1699" dirty="0">
                <a:solidFill>
                  <a:srgbClr val="333446"/>
                </a:solidFill>
                <a:latin typeface="Poppins"/>
                <a:ea typeface="Poppins"/>
                <a:cs typeface="Poppins"/>
                <a:sym typeface="Poppins"/>
              </a:rPr>
              <a:t>You need to enter a sequence using four different commands to make the bot do what you want.</a:t>
            </a:r>
          </a:p>
          <a:p>
            <a:pPr marL="0" lvl="0" indent="0" algn="just">
              <a:lnSpc>
                <a:spcPts val="2379"/>
              </a:lnSpc>
            </a:pPr>
            <a:r>
              <a:rPr lang="en-US" sz="1699" dirty="0">
                <a:solidFill>
                  <a:srgbClr val="333446"/>
                </a:solidFill>
                <a:latin typeface="Poppins"/>
                <a:ea typeface="Poppins"/>
                <a:cs typeface="Poppins"/>
                <a:sym typeface="Poppins"/>
              </a:rPr>
              <a:t>KEY VOCABULARY</a:t>
            </a:r>
          </a:p>
          <a:p>
            <a:pPr lvl="0" algn="just"/>
            <a:r>
              <a:rPr lang="en-US" sz="1699" dirty="0">
                <a:solidFill>
                  <a:srgbClr val="333446"/>
                </a:solidFill>
                <a:latin typeface="Poppins"/>
                <a:ea typeface="Poppins"/>
                <a:cs typeface="Poppins"/>
                <a:sym typeface="Poppins"/>
              </a:rPr>
              <a:t>• Button Event / Trigger: </a:t>
            </a:r>
            <a:r>
              <a:rPr lang="en-AU" sz="1600" dirty="0"/>
              <a:t>A </a:t>
            </a:r>
            <a:r>
              <a:rPr lang="en-AU" dirty="0"/>
              <a:t>button event</a:t>
            </a:r>
            <a:r>
              <a:rPr lang="en-AU" sz="1600" dirty="0"/>
              <a:t> is an action or occurrence detected by a system or software when a user interacts with a physical or digital button.</a:t>
            </a:r>
            <a:endParaRPr lang="en-US" sz="1699" dirty="0">
              <a:solidFill>
                <a:srgbClr val="333446"/>
              </a:solidFill>
              <a:latin typeface="Poppins"/>
              <a:ea typeface="Poppins"/>
              <a:cs typeface="Poppins"/>
              <a:sym typeface="Poppins"/>
            </a:endParaRPr>
          </a:p>
          <a:p>
            <a:pPr lvl="0" algn="just"/>
            <a:r>
              <a:rPr lang="en-US" sz="1699" dirty="0">
                <a:solidFill>
                  <a:srgbClr val="333446"/>
                </a:solidFill>
                <a:latin typeface="Poppins"/>
                <a:ea typeface="Poppins"/>
                <a:cs typeface="Poppins"/>
                <a:sym typeface="Poppins"/>
              </a:rPr>
              <a:t>• Command Sequence: </a:t>
            </a:r>
            <a:r>
              <a:rPr lang="en-AU" sz="1600" dirty="0"/>
              <a:t>A </a:t>
            </a:r>
            <a:r>
              <a:rPr lang="en-AU" dirty="0"/>
              <a:t>command sequence</a:t>
            </a:r>
            <a:r>
              <a:rPr lang="en-AU" sz="1600" dirty="0"/>
              <a:t> is an ordered list of instructions or actions that a computer system, program, or machine executes one after another in a specific order</a:t>
            </a:r>
            <a:endParaRPr lang="en-US" sz="1699" dirty="0">
              <a:solidFill>
                <a:srgbClr val="333446"/>
              </a:solidFill>
              <a:latin typeface="Poppins"/>
              <a:ea typeface="Poppins"/>
              <a:cs typeface="Poppins"/>
              <a:sym typeface="Poppins"/>
            </a:endParaRPr>
          </a:p>
        </p:txBody>
      </p:sp>
      <p:sp>
        <p:nvSpPr>
          <p:cNvPr id="6" name="TextBox 6"/>
          <p:cNvSpPr txBox="1"/>
          <p:nvPr/>
        </p:nvSpPr>
        <p:spPr>
          <a:xfrm>
            <a:off x="1028700" y="4656896"/>
            <a:ext cx="7868063" cy="2138471"/>
          </a:xfrm>
          <a:prstGeom prst="rect">
            <a:avLst/>
          </a:prstGeom>
        </p:spPr>
        <p:txBody>
          <a:bodyPr lIns="0" tIns="0" rIns="0" bIns="0" rtlCol="0" anchor="t">
            <a:spAutoFit/>
          </a:bodyPr>
          <a:lstStyle/>
          <a:p>
            <a:pPr marL="0" lvl="0" indent="0" algn="just">
              <a:lnSpc>
                <a:spcPts val="2379"/>
              </a:lnSpc>
            </a:pPr>
            <a:r>
              <a:rPr lang="en-US" sz="1699" dirty="0">
                <a:solidFill>
                  <a:srgbClr val="333446"/>
                </a:solidFill>
                <a:latin typeface="Poppins"/>
                <a:ea typeface="Poppins"/>
                <a:cs typeface="Poppins"/>
                <a:sym typeface="Poppins"/>
              </a:rPr>
              <a:t>CODE / PROGRAMMING NOTES</a:t>
            </a:r>
          </a:p>
          <a:p>
            <a:pPr marL="0" lvl="0" indent="0" algn="just">
              <a:lnSpc>
                <a:spcPts val="2379"/>
              </a:lnSpc>
            </a:pPr>
            <a:r>
              <a:rPr lang="en-US" sz="1699" dirty="0">
                <a:solidFill>
                  <a:srgbClr val="333446"/>
                </a:solidFill>
                <a:latin typeface="Poppins"/>
                <a:ea typeface="Poppins"/>
                <a:cs typeface="Poppins"/>
                <a:sym typeface="Poppins"/>
              </a:rPr>
              <a:t>• Button used: Forward, Turn, Kick</a:t>
            </a:r>
          </a:p>
          <a:p>
            <a:pPr marL="0" lvl="0" indent="0" algn="just">
              <a:lnSpc>
                <a:spcPts val="2379"/>
              </a:lnSpc>
            </a:pPr>
            <a:r>
              <a:rPr lang="en-US" sz="1699" dirty="0">
                <a:solidFill>
                  <a:srgbClr val="333446"/>
                </a:solidFill>
                <a:latin typeface="Poppins"/>
                <a:ea typeface="Poppins"/>
                <a:cs typeface="Poppins"/>
                <a:sym typeface="Poppins"/>
              </a:rPr>
              <a:t>• Robot action triggered: Robot moved 3 inches, turned 90 degrees and kicked the barrel</a:t>
            </a:r>
          </a:p>
          <a:p>
            <a:pPr marL="0" lvl="0" indent="0" algn="just">
              <a:lnSpc>
                <a:spcPts val="2379"/>
              </a:lnSpc>
            </a:pPr>
            <a:r>
              <a:rPr lang="en-US" sz="1699" dirty="0">
                <a:solidFill>
                  <a:srgbClr val="333446"/>
                </a:solidFill>
                <a:latin typeface="Poppins"/>
                <a:ea typeface="Poppins"/>
                <a:cs typeface="Poppins"/>
                <a:sym typeface="Poppins"/>
              </a:rPr>
              <a:t>CHALLENGES &amp; SOLUTIONS</a:t>
            </a:r>
          </a:p>
          <a:p>
            <a:pPr marL="0" lvl="0" indent="0" algn="just">
              <a:lnSpc>
                <a:spcPts val="2379"/>
              </a:lnSpc>
            </a:pPr>
            <a:r>
              <a:rPr lang="en-US" sz="1699" dirty="0">
                <a:solidFill>
                  <a:srgbClr val="333446"/>
                </a:solidFill>
                <a:latin typeface="Poppins"/>
                <a:ea typeface="Poppins"/>
                <a:cs typeface="Poppins"/>
                <a:sym typeface="Poppins"/>
              </a:rPr>
              <a:t>• Challenge I faced: Being able to code without mistake</a:t>
            </a:r>
          </a:p>
          <a:p>
            <a:pPr marL="0" lvl="0" indent="0" algn="just">
              <a:lnSpc>
                <a:spcPts val="2379"/>
              </a:lnSpc>
            </a:pPr>
            <a:r>
              <a:rPr lang="en-US" sz="1699" dirty="0">
                <a:solidFill>
                  <a:srgbClr val="333446"/>
                </a:solidFill>
                <a:latin typeface="Poppins"/>
                <a:ea typeface="Poppins"/>
                <a:cs typeface="Poppins"/>
                <a:sym typeface="Poppins"/>
              </a:rPr>
              <a:t>• How I solved it: undoing everything and trying again</a:t>
            </a:r>
          </a:p>
        </p:txBody>
      </p:sp>
      <p:sp>
        <p:nvSpPr>
          <p:cNvPr id="7" name="TextBox 7"/>
          <p:cNvSpPr txBox="1"/>
          <p:nvPr/>
        </p:nvSpPr>
        <p:spPr>
          <a:xfrm>
            <a:off x="9539411" y="7157447"/>
            <a:ext cx="8138989" cy="2549224"/>
          </a:xfrm>
          <a:prstGeom prst="rect">
            <a:avLst/>
          </a:prstGeom>
        </p:spPr>
        <p:txBody>
          <a:bodyPr wrap="square" lIns="0" tIns="0" rIns="0" bIns="0" rtlCol="0" anchor="t">
            <a:spAutoFit/>
          </a:bodyPr>
          <a:lstStyle/>
          <a:p>
            <a:pPr marL="0" lvl="0" indent="0" algn="just">
              <a:lnSpc>
                <a:spcPts val="2519"/>
              </a:lnSpc>
            </a:pPr>
            <a:r>
              <a:rPr lang="en-US" sz="1799" dirty="0">
                <a:solidFill>
                  <a:srgbClr val="333446"/>
                </a:solidFill>
                <a:latin typeface="Poppins"/>
                <a:ea typeface="Poppins"/>
                <a:cs typeface="Poppins"/>
                <a:sym typeface="Poppins"/>
              </a:rPr>
              <a:t>REFLECTION</a:t>
            </a:r>
          </a:p>
          <a:p>
            <a:pPr marL="0" lvl="0" indent="0" algn="just">
              <a:lnSpc>
                <a:spcPts val="2519"/>
              </a:lnSpc>
            </a:pPr>
            <a:r>
              <a:rPr lang="en-US" sz="1799" dirty="0">
                <a:solidFill>
                  <a:srgbClr val="333446"/>
                </a:solidFill>
                <a:latin typeface="Poppins"/>
                <a:ea typeface="Poppins"/>
                <a:cs typeface="Poppins"/>
                <a:sym typeface="Poppins"/>
              </a:rPr>
              <a:t>• What surprised me about button coding? It was non-time consuming</a:t>
            </a:r>
          </a:p>
          <a:p>
            <a:pPr marL="0" lvl="0" indent="0" algn="just">
              <a:lnSpc>
                <a:spcPts val="2519"/>
              </a:lnSpc>
            </a:pPr>
            <a:r>
              <a:rPr lang="en-US" sz="1799" dirty="0">
                <a:solidFill>
                  <a:srgbClr val="333446"/>
                </a:solidFill>
                <a:latin typeface="Poppins"/>
                <a:ea typeface="Poppins"/>
                <a:cs typeface="Poppins"/>
                <a:sym typeface="Poppins"/>
              </a:rPr>
              <a:t>• How did planning my sequence help? It allowed me to code without mistake</a:t>
            </a:r>
          </a:p>
          <a:p>
            <a:pPr marL="0" lvl="0" indent="0" algn="just">
              <a:lnSpc>
                <a:spcPts val="2519"/>
              </a:lnSpc>
            </a:pPr>
            <a:r>
              <a:rPr lang="en-US" sz="1799" dirty="0">
                <a:solidFill>
                  <a:srgbClr val="333446"/>
                </a:solidFill>
                <a:latin typeface="Poppins"/>
                <a:ea typeface="Poppins"/>
                <a:cs typeface="Poppins"/>
                <a:sym typeface="Poppins"/>
              </a:rPr>
              <a:t>• What would I improve next time? The amount of inputs</a:t>
            </a:r>
          </a:p>
          <a:p>
            <a:pPr marL="0" lvl="0" indent="0" algn="just">
              <a:lnSpc>
                <a:spcPts val="2519"/>
              </a:lnSpc>
            </a:pPr>
            <a:r>
              <a:rPr lang="en-US" sz="1799" dirty="0">
                <a:solidFill>
                  <a:srgbClr val="333446"/>
                </a:solidFill>
                <a:latin typeface="Poppins"/>
                <a:ea typeface="Poppins"/>
                <a:cs typeface="Poppins"/>
                <a:sym typeface="Poppins"/>
              </a:rPr>
              <a:t>PROS &amp; CONS OF BUTTON CODING</a:t>
            </a:r>
          </a:p>
          <a:p>
            <a:pPr marL="0" lvl="0" indent="0" algn="just">
              <a:lnSpc>
                <a:spcPts val="2519"/>
              </a:lnSpc>
            </a:pPr>
            <a:r>
              <a:rPr lang="en-US" sz="1799" dirty="0">
                <a:solidFill>
                  <a:srgbClr val="333446"/>
                </a:solidFill>
                <a:latin typeface="Poppins"/>
                <a:ea typeface="Poppins"/>
                <a:cs typeface="Poppins"/>
                <a:sym typeface="Poppins"/>
              </a:rPr>
              <a:t>Pros: Hands free movement</a:t>
            </a:r>
          </a:p>
          <a:p>
            <a:pPr marL="0" lvl="0" indent="0" algn="just">
              <a:lnSpc>
                <a:spcPts val="2519"/>
              </a:lnSpc>
            </a:pPr>
            <a:r>
              <a:rPr lang="en-US" sz="1799" dirty="0">
                <a:solidFill>
                  <a:srgbClr val="333446"/>
                </a:solidFill>
                <a:latin typeface="Poppins"/>
                <a:ea typeface="Poppins"/>
                <a:cs typeface="Poppins"/>
                <a:sym typeface="Poppins"/>
              </a:rPr>
              <a:t>Cons: You can’t change the command if something goes wrong (no if)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0567229" y="0"/>
            <a:ext cx="7720771" cy="3435743"/>
          </a:xfrm>
          <a:custGeom>
            <a:avLst/>
            <a:gdLst/>
            <a:ahLst/>
            <a:cxnLst/>
            <a:rect l="l" t="t" r="r" b="b"/>
            <a:pathLst>
              <a:path w="7720771" h="3435743">
                <a:moveTo>
                  <a:pt x="0" y="0"/>
                </a:moveTo>
                <a:lnTo>
                  <a:pt x="7720771" y="0"/>
                </a:lnTo>
                <a:lnTo>
                  <a:pt x="7720771" y="3435743"/>
                </a:lnTo>
                <a:lnTo>
                  <a:pt x="0" y="3435743"/>
                </a:lnTo>
                <a:lnTo>
                  <a:pt x="0" y="0"/>
                </a:lnTo>
                <a:close/>
              </a:path>
            </a:pathLst>
          </a:custGeom>
          <a:blipFill>
            <a:blip r:embed="rId2"/>
            <a:stretch>
              <a:fillRect/>
            </a:stretch>
          </a:blipFill>
        </p:spPr>
        <p:txBody>
          <a:bodyPr/>
          <a:lstStyle/>
          <a:p>
            <a:endParaRPr lang="en-AU"/>
          </a:p>
        </p:txBody>
      </p:sp>
      <p:sp>
        <p:nvSpPr>
          <p:cNvPr id="4" name="TextBox 4"/>
          <p:cNvSpPr txBox="1"/>
          <p:nvPr/>
        </p:nvSpPr>
        <p:spPr>
          <a:xfrm>
            <a:off x="0" y="-133350"/>
            <a:ext cx="8996108" cy="1708118"/>
          </a:xfrm>
          <a:prstGeom prst="rect">
            <a:avLst/>
          </a:prstGeom>
        </p:spPr>
        <p:txBody>
          <a:bodyPr lIns="0" tIns="0" rIns="0" bIns="0" rtlCol="0" anchor="t">
            <a:spAutoFit/>
          </a:bodyPr>
          <a:lstStyle/>
          <a:p>
            <a:pPr marL="0" lvl="0" indent="0" algn="ctr">
              <a:lnSpc>
                <a:spcPts val="6679"/>
              </a:lnSpc>
              <a:spcBef>
                <a:spcPct val="0"/>
              </a:spcBef>
            </a:pPr>
            <a:r>
              <a:rPr lang="en-US" sz="4771">
                <a:solidFill>
                  <a:srgbClr val="333446"/>
                </a:solidFill>
                <a:latin typeface="Poppins Light"/>
                <a:ea typeface="Poppins Light"/>
                <a:cs typeface="Poppins Light"/>
                <a:sym typeface="Poppins Light"/>
              </a:rPr>
              <a:t>UNIT 3 – MOVE AROUND OBSTACLES</a:t>
            </a:r>
          </a:p>
        </p:txBody>
      </p:sp>
      <p:sp>
        <p:nvSpPr>
          <p:cNvPr id="5" name="TextBox 5"/>
          <p:cNvSpPr txBox="1"/>
          <p:nvPr/>
        </p:nvSpPr>
        <p:spPr>
          <a:xfrm>
            <a:off x="564023" y="1880111"/>
            <a:ext cx="8432086" cy="1588063"/>
          </a:xfrm>
          <a:prstGeom prst="rect">
            <a:avLst/>
          </a:prstGeom>
        </p:spPr>
        <p:txBody>
          <a:bodyPr lIns="0" tIns="0" rIns="0" bIns="0" rtlCol="0" anchor="t">
            <a:spAutoFit/>
          </a:bodyPr>
          <a:lstStyle/>
          <a:p>
            <a:pPr marL="0" lvl="0" indent="0" algn="just">
              <a:lnSpc>
                <a:spcPts val="2542"/>
              </a:lnSpc>
            </a:pPr>
            <a:r>
              <a:rPr lang="en-US" sz="1816" dirty="0">
                <a:solidFill>
                  <a:srgbClr val="333446"/>
                </a:solidFill>
                <a:latin typeface="Poppins"/>
                <a:ea typeface="Poppins"/>
                <a:cs typeface="Poppins"/>
                <a:sym typeface="Poppins"/>
              </a:rPr>
              <a:t>WHAT I LEARNED</a:t>
            </a:r>
          </a:p>
          <a:p>
            <a:pPr marL="0" lvl="0" indent="0" algn="just">
              <a:lnSpc>
                <a:spcPts val="2542"/>
              </a:lnSpc>
            </a:pPr>
            <a:r>
              <a:rPr lang="en-US" sz="1816" dirty="0">
                <a:solidFill>
                  <a:srgbClr val="333446"/>
                </a:solidFill>
                <a:latin typeface="Poppins"/>
                <a:ea typeface="Poppins"/>
                <a:cs typeface="Poppins"/>
                <a:sym typeface="Poppins"/>
              </a:rPr>
              <a:t>I got the robot to move by uses the block codes move forward by distance and rotation by degrees</a:t>
            </a:r>
          </a:p>
          <a:p>
            <a:pPr marL="0" lvl="0" indent="0" algn="just">
              <a:lnSpc>
                <a:spcPts val="2542"/>
              </a:lnSpc>
            </a:pPr>
            <a:r>
              <a:rPr lang="en-US" sz="1816" dirty="0">
                <a:solidFill>
                  <a:srgbClr val="333446"/>
                </a:solidFill>
                <a:latin typeface="Poppins"/>
                <a:ea typeface="Poppins"/>
                <a:cs typeface="Poppins"/>
                <a:sym typeface="Poppins"/>
              </a:rPr>
              <a:t>KEY VOCABULARY</a:t>
            </a:r>
          </a:p>
          <a:p>
            <a:pPr marL="0" lvl="0" indent="0" algn="just">
              <a:lnSpc>
                <a:spcPts val="2542"/>
              </a:lnSpc>
            </a:pPr>
            <a:r>
              <a:rPr lang="en-US" sz="1816" dirty="0">
                <a:solidFill>
                  <a:srgbClr val="333446"/>
                </a:solidFill>
                <a:latin typeface="Poppins"/>
                <a:ea typeface="Poppins"/>
                <a:cs typeface="Poppins"/>
                <a:sym typeface="Poppins"/>
              </a:rPr>
              <a:t>• Block code  • Obstacle detection  • Loop  • Conditional  • Sensor input</a:t>
            </a:r>
          </a:p>
        </p:txBody>
      </p:sp>
      <p:sp>
        <p:nvSpPr>
          <p:cNvPr id="7" name="TextBox 7"/>
          <p:cNvSpPr txBox="1"/>
          <p:nvPr/>
        </p:nvSpPr>
        <p:spPr>
          <a:xfrm>
            <a:off x="10226504" y="7455736"/>
            <a:ext cx="7032796" cy="1587742"/>
          </a:xfrm>
          <a:prstGeom prst="rect">
            <a:avLst/>
          </a:prstGeom>
        </p:spPr>
        <p:txBody>
          <a:bodyPr lIns="0" tIns="0" rIns="0" bIns="0" rtlCol="0" anchor="t">
            <a:spAutoFit/>
          </a:bodyPr>
          <a:lstStyle/>
          <a:p>
            <a:pPr marL="0" lvl="0" indent="0" algn="just">
              <a:lnSpc>
                <a:spcPts val="2530"/>
              </a:lnSpc>
            </a:pPr>
            <a:r>
              <a:rPr lang="en-US" sz="1807" dirty="0">
                <a:solidFill>
                  <a:srgbClr val="333446"/>
                </a:solidFill>
                <a:latin typeface="Poppins"/>
                <a:ea typeface="Poppins"/>
                <a:cs typeface="Poppins"/>
                <a:sym typeface="Poppins"/>
              </a:rPr>
              <a:t>PROS &amp; CONS OF BLOCK CODING</a:t>
            </a:r>
          </a:p>
          <a:p>
            <a:pPr marL="0" lvl="0" indent="0" algn="just">
              <a:lnSpc>
                <a:spcPts val="2530"/>
              </a:lnSpc>
            </a:pPr>
            <a:r>
              <a:rPr lang="en-US" sz="1807" dirty="0">
                <a:solidFill>
                  <a:srgbClr val="333446"/>
                </a:solidFill>
                <a:latin typeface="Poppins"/>
                <a:ea typeface="Poppins"/>
                <a:cs typeface="Poppins"/>
                <a:sym typeface="Poppins"/>
              </a:rPr>
              <a:t>Pros: Easy to read and change</a:t>
            </a:r>
          </a:p>
          <a:p>
            <a:pPr marL="0" lvl="0" indent="0" algn="just">
              <a:lnSpc>
                <a:spcPts val="2530"/>
              </a:lnSpc>
            </a:pPr>
            <a:r>
              <a:rPr lang="en-US" sz="1807" dirty="0">
                <a:solidFill>
                  <a:srgbClr val="333446"/>
                </a:solidFill>
                <a:latin typeface="Poppins"/>
                <a:ea typeface="Poppins"/>
                <a:cs typeface="Poppins"/>
                <a:sym typeface="Poppins"/>
              </a:rPr>
              <a:t>Cons: Limited if buttons available </a:t>
            </a:r>
          </a:p>
          <a:p>
            <a:pPr marL="0" lvl="0" indent="0" algn="just">
              <a:lnSpc>
                <a:spcPts val="2530"/>
              </a:lnSpc>
            </a:pPr>
            <a:r>
              <a:rPr lang="en-US" sz="1807" dirty="0">
                <a:solidFill>
                  <a:srgbClr val="333446"/>
                </a:solidFill>
                <a:latin typeface="Poppins"/>
                <a:ea typeface="Poppins"/>
                <a:cs typeface="Poppins"/>
                <a:sym typeface="Poppins"/>
              </a:rPr>
              <a:t>CHALLENGES &amp; SOLUTIONS</a:t>
            </a:r>
          </a:p>
          <a:p>
            <a:pPr marL="0" lvl="0" indent="0" algn="just">
              <a:lnSpc>
                <a:spcPts val="2530"/>
              </a:lnSpc>
            </a:pPr>
            <a:r>
              <a:rPr lang="en-US" sz="1807" dirty="0">
                <a:solidFill>
                  <a:srgbClr val="333446"/>
                </a:solidFill>
                <a:latin typeface="Poppins"/>
                <a:ea typeface="Poppins"/>
                <a:cs typeface="Poppins"/>
                <a:sym typeface="Poppins"/>
              </a:rPr>
              <a:t>If the coding is slightly off, I needed to alter it</a:t>
            </a:r>
          </a:p>
        </p:txBody>
      </p:sp>
      <p:pic>
        <p:nvPicPr>
          <p:cNvPr id="9" name="Picture 8">
            <a:extLst>
              <a:ext uri="{FF2B5EF4-FFF2-40B4-BE49-F238E27FC236}">
                <a16:creationId xmlns:a16="http://schemas.microsoft.com/office/drawing/2014/main" id="{7A01F88F-7F08-4963-CDEE-D3187C9A0F55}"/>
              </a:ext>
            </a:extLst>
          </p:cNvPr>
          <p:cNvPicPr>
            <a:picLocks noChangeAspect="1"/>
          </p:cNvPicPr>
          <p:nvPr/>
        </p:nvPicPr>
        <p:blipFill>
          <a:blip r:embed="rId3"/>
          <a:stretch>
            <a:fillRect/>
          </a:stretch>
        </p:blipFill>
        <p:spPr>
          <a:xfrm>
            <a:off x="1006929" y="3773517"/>
            <a:ext cx="4029637" cy="63350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9967623" y="0"/>
            <a:ext cx="8320377" cy="3702568"/>
          </a:xfrm>
          <a:custGeom>
            <a:avLst/>
            <a:gdLst/>
            <a:ahLst/>
            <a:cxnLst/>
            <a:rect l="l" t="t" r="r" b="b"/>
            <a:pathLst>
              <a:path w="8320377" h="3702568">
                <a:moveTo>
                  <a:pt x="0" y="0"/>
                </a:moveTo>
                <a:lnTo>
                  <a:pt x="8320377" y="0"/>
                </a:lnTo>
                <a:lnTo>
                  <a:pt x="8320377" y="3702568"/>
                </a:lnTo>
                <a:lnTo>
                  <a:pt x="0" y="3702568"/>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161925"/>
            <a:ext cx="9462140" cy="1000028"/>
          </a:xfrm>
          <a:prstGeom prst="rect">
            <a:avLst/>
          </a:prstGeom>
        </p:spPr>
        <p:txBody>
          <a:bodyPr lIns="0" tIns="0" rIns="0" bIns="0" rtlCol="0" anchor="t">
            <a:spAutoFit/>
          </a:bodyPr>
          <a:lstStyle/>
          <a:p>
            <a:pPr marL="0" lvl="0" indent="0" algn="ctr">
              <a:lnSpc>
                <a:spcPts val="7718"/>
              </a:lnSpc>
              <a:spcBef>
                <a:spcPct val="0"/>
              </a:spcBef>
            </a:pPr>
            <a:r>
              <a:rPr lang="en-US" sz="5513">
                <a:solidFill>
                  <a:srgbClr val="333446"/>
                </a:solidFill>
                <a:latin typeface="Poppins Light"/>
                <a:ea typeface="Poppins Light"/>
                <a:cs typeface="Poppins Light"/>
                <a:sym typeface="Poppins Light"/>
              </a:rPr>
              <a:t>UNIT 5 – TRANSPORT CARGO</a:t>
            </a:r>
          </a:p>
        </p:txBody>
      </p:sp>
      <p:sp>
        <p:nvSpPr>
          <p:cNvPr id="4" name="TextBox 4"/>
          <p:cNvSpPr txBox="1"/>
          <p:nvPr/>
        </p:nvSpPr>
        <p:spPr>
          <a:xfrm>
            <a:off x="797038" y="2949354"/>
            <a:ext cx="7868063" cy="230832"/>
          </a:xfrm>
          <a:prstGeom prst="rect">
            <a:avLst/>
          </a:prstGeom>
        </p:spPr>
        <p:txBody>
          <a:bodyPr lIns="0" tIns="0" rIns="0" bIns="0" rtlCol="0" anchor="t">
            <a:spAutoFit/>
          </a:bodyPr>
          <a:lstStyle/>
          <a:p>
            <a:pPr marL="0" lvl="0" indent="0" algn="just">
              <a:lnSpc>
                <a:spcPts val="1827"/>
              </a:lnSpc>
            </a:pPr>
            <a:r>
              <a:rPr lang="en-US" sz="1600" dirty="0">
                <a:solidFill>
                  <a:srgbClr val="333446"/>
                </a:solidFill>
                <a:latin typeface="Poppins"/>
                <a:ea typeface="Poppins"/>
                <a:cs typeface="Poppins"/>
                <a:sym typeface="Poppins"/>
              </a:rPr>
              <a:t>We used the ai vision system, It was quite easy to do.</a:t>
            </a:r>
          </a:p>
        </p:txBody>
      </p:sp>
      <p:sp>
        <p:nvSpPr>
          <p:cNvPr id="5" name="TextBox 5"/>
          <p:cNvSpPr txBox="1"/>
          <p:nvPr/>
        </p:nvSpPr>
        <p:spPr>
          <a:xfrm>
            <a:off x="609600" y="4759151"/>
            <a:ext cx="7868063" cy="692497"/>
          </a:xfrm>
          <a:prstGeom prst="rect">
            <a:avLst/>
          </a:prstGeom>
        </p:spPr>
        <p:txBody>
          <a:bodyPr lIns="0" tIns="0" rIns="0" bIns="0" rtlCol="0" anchor="t">
            <a:spAutoFit/>
          </a:bodyPr>
          <a:lstStyle/>
          <a:p>
            <a:pPr marL="0" lvl="0" indent="0" algn="just">
              <a:lnSpc>
                <a:spcPts val="1827"/>
              </a:lnSpc>
            </a:pPr>
            <a:endParaRPr lang="en-US" sz="1600" dirty="0">
              <a:solidFill>
                <a:srgbClr val="333446"/>
              </a:solidFill>
              <a:latin typeface="Poppins"/>
              <a:ea typeface="Poppins"/>
              <a:cs typeface="Poppins"/>
              <a:sym typeface="Poppins"/>
            </a:endParaRPr>
          </a:p>
          <a:p>
            <a:pPr marL="0" lvl="0" indent="0" algn="just">
              <a:lnSpc>
                <a:spcPts val="1827"/>
              </a:lnSpc>
            </a:pPr>
            <a:r>
              <a:rPr lang="en-US" sz="1600" dirty="0">
                <a:solidFill>
                  <a:srgbClr val="333446"/>
                </a:solidFill>
                <a:latin typeface="Poppins"/>
                <a:ea typeface="Poppins"/>
                <a:cs typeface="Poppins"/>
                <a:sym typeface="Poppins"/>
              </a:rPr>
              <a:t>The challenges were making sure it didn’t pick up/detect any barrels that had already been placed&gt;</a:t>
            </a:r>
          </a:p>
        </p:txBody>
      </p:sp>
      <p:sp>
        <p:nvSpPr>
          <p:cNvPr id="6" name="TextBox 6"/>
          <p:cNvSpPr txBox="1"/>
          <p:nvPr/>
        </p:nvSpPr>
        <p:spPr>
          <a:xfrm>
            <a:off x="10896600" y="6682033"/>
            <a:ext cx="7868063" cy="1154162"/>
          </a:xfrm>
          <a:prstGeom prst="rect">
            <a:avLst/>
          </a:prstGeom>
        </p:spPr>
        <p:txBody>
          <a:bodyPr lIns="0" tIns="0" rIns="0" bIns="0" rtlCol="0" anchor="t">
            <a:spAutoFit/>
          </a:bodyPr>
          <a:lstStyle/>
          <a:p>
            <a:pPr marL="0" lvl="0" indent="0" algn="just">
              <a:lnSpc>
                <a:spcPts val="1827"/>
              </a:lnSpc>
            </a:pPr>
            <a:r>
              <a:rPr lang="en-US" sz="1600" dirty="0">
                <a:solidFill>
                  <a:srgbClr val="333446"/>
                </a:solidFill>
                <a:latin typeface="Poppins"/>
                <a:ea typeface="Poppins"/>
                <a:cs typeface="Poppins"/>
                <a:sym typeface="Poppins"/>
              </a:rPr>
              <a:t>PROS &amp; CONS OF TURN TO HEADING</a:t>
            </a:r>
          </a:p>
          <a:p>
            <a:pPr marL="0" lvl="0" indent="0" algn="just">
              <a:lnSpc>
                <a:spcPts val="1827"/>
              </a:lnSpc>
            </a:pPr>
            <a:r>
              <a:rPr lang="en-US" sz="1600" dirty="0">
                <a:solidFill>
                  <a:srgbClr val="333446"/>
                </a:solidFill>
                <a:latin typeface="Poppins"/>
                <a:ea typeface="Poppins"/>
                <a:cs typeface="Poppins"/>
                <a:sym typeface="Poppins"/>
              </a:rPr>
              <a:t>Pros: Turns to a heading</a:t>
            </a:r>
          </a:p>
          <a:p>
            <a:pPr marL="0" lvl="0" indent="0" algn="just">
              <a:lnSpc>
                <a:spcPts val="1827"/>
              </a:lnSpc>
            </a:pPr>
            <a:r>
              <a:rPr lang="en-US" sz="1600" dirty="0">
                <a:solidFill>
                  <a:srgbClr val="333446"/>
                </a:solidFill>
                <a:latin typeface="Poppins"/>
                <a:ea typeface="Poppins"/>
                <a:cs typeface="Poppins"/>
                <a:sym typeface="Poppins"/>
              </a:rPr>
              <a:t>Cons: you need to know what the heading is</a:t>
            </a:r>
          </a:p>
          <a:p>
            <a:pPr marL="0" lvl="0" indent="0" algn="just">
              <a:lnSpc>
                <a:spcPts val="1827"/>
              </a:lnSpc>
            </a:pPr>
            <a:r>
              <a:rPr lang="en-US" sz="1600" dirty="0">
                <a:solidFill>
                  <a:srgbClr val="333446"/>
                </a:solidFill>
                <a:latin typeface="Poppins"/>
                <a:ea typeface="Poppins"/>
                <a:cs typeface="Poppins"/>
                <a:sym typeface="Poppins"/>
              </a:rPr>
              <a:t>REFLECTION</a:t>
            </a:r>
          </a:p>
          <a:p>
            <a:pPr marL="0" lvl="0" indent="0" algn="just">
              <a:lnSpc>
                <a:spcPts val="1827"/>
              </a:lnSpc>
            </a:pPr>
            <a:r>
              <a:rPr lang="en-US" sz="1600" dirty="0">
                <a:solidFill>
                  <a:srgbClr val="333446"/>
                </a:solidFill>
                <a:latin typeface="Poppins"/>
                <a:ea typeface="Poppins"/>
                <a:cs typeface="Poppins"/>
                <a:sym typeface="Poppins"/>
              </a:rPr>
              <a:t>I didn’t use heading; I used the AI sensor to do it for me.</a:t>
            </a:r>
          </a:p>
        </p:txBody>
      </p:sp>
      <p:pic>
        <p:nvPicPr>
          <p:cNvPr id="8" name="Picture 7">
            <a:extLst>
              <a:ext uri="{FF2B5EF4-FFF2-40B4-BE49-F238E27FC236}">
                <a16:creationId xmlns:a16="http://schemas.microsoft.com/office/drawing/2014/main" id="{AF86E3AE-B7BA-61F9-41EC-117E64F57B17}"/>
              </a:ext>
            </a:extLst>
          </p:cNvPr>
          <p:cNvPicPr>
            <a:picLocks noChangeAspect="1"/>
          </p:cNvPicPr>
          <p:nvPr/>
        </p:nvPicPr>
        <p:blipFill>
          <a:blip r:embed="rId3"/>
          <a:stretch>
            <a:fillRect/>
          </a:stretch>
        </p:blipFill>
        <p:spPr>
          <a:xfrm>
            <a:off x="457200" y="5753101"/>
            <a:ext cx="8769802" cy="406973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0394022" y="0"/>
            <a:ext cx="7893978" cy="3512820"/>
          </a:xfrm>
          <a:custGeom>
            <a:avLst/>
            <a:gdLst/>
            <a:ahLst/>
            <a:cxnLst/>
            <a:rect l="l" t="t" r="r" b="b"/>
            <a:pathLst>
              <a:path w="7893978" h="3512820">
                <a:moveTo>
                  <a:pt x="0" y="0"/>
                </a:moveTo>
                <a:lnTo>
                  <a:pt x="7893978" y="0"/>
                </a:lnTo>
                <a:lnTo>
                  <a:pt x="7893978" y="3512820"/>
                </a:lnTo>
                <a:lnTo>
                  <a:pt x="0" y="351282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154311"/>
            <a:ext cx="11014881" cy="1910721"/>
          </a:xfrm>
          <a:prstGeom prst="rect">
            <a:avLst/>
          </a:prstGeom>
        </p:spPr>
        <p:txBody>
          <a:bodyPr lIns="0" tIns="0" rIns="0" bIns="0" rtlCol="0" anchor="t">
            <a:spAutoFit/>
          </a:bodyPr>
          <a:lstStyle/>
          <a:p>
            <a:pPr marL="0" lvl="0" indent="0" algn="ctr">
              <a:lnSpc>
                <a:spcPts val="7458"/>
              </a:lnSpc>
              <a:spcBef>
                <a:spcPct val="0"/>
              </a:spcBef>
            </a:pPr>
            <a:r>
              <a:rPr lang="en-US" sz="5327">
                <a:solidFill>
                  <a:srgbClr val="333446"/>
                </a:solidFill>
                <a:latin typeface="Poppins Light"/>
                <a:ea typeface="Poppins Light"/>
                <a:cs typeface="Poppins Light"/>
                <a:sym typeface="Poppins Light"/>
              </a:rPr>
              <a:t>UNIT 6 – FINDING &amp; TRANSPORTING CARGO</a:t>
            </a:r>
          </a:p>
        </p:txBody>
      </p:sp>
      <p:sp>
        <p:nvSpPr>
          <p:cNvPr id="4" name="TextBox 4"/>
          <p:cNvSpPr txBox="1"/>
          <p:nvPr/>
        </p:nvSpPr>
        <p:spPr>
          <a:xfrm>
            <a:off x="10394022" y="5880770"/>
            <a:ext cx="4686299" cy="438966"/>
          </a:xfrm>
          <a:prstGeom prst="rect">
            <a:avLst/>
          </a:prstGeom>
        </p:spPr>
        <p:txBody>
          <a:bodyPr wrap="square" lIns="0" tIns="0" rIns="0" bIns="0" rtlCol="0" anchor="t">
            <a:spAutoFit/>
          </a:bodyPr>
          <a:lstStyle/>
          <a:p>
            <a:pPr marL="0" lvl="0" indent="0" algn="just">
              <a:lnSpc>
                <a:spcPts val="1679"/>
              </a:lnSpc>
            </a:pPr>
            <a:r>
              <a:rPr lang="en-US" sz="1600" dirty="0">
                <a:solidFill>
                  <a:srgbClr val="333446"/>
                </a:solidFill>
                <a:latin typeface="Poppins"/>
                <a:ea typeface="Poppins"/>
                <a:cs typeface="Poppins"/>
                <a:sym typeface="Poppins"/>
              </a:rPr>
              <a:t>The robot uses AI to sense where the ball is, drive to it, find April tag 0 and shoot</a:t>
            </a:r>
          </a:p>
        </p:txBody>
      </p:sp>
      <p:sp>
        <p:nvSpPr>
          <p:cNvPr id="5" name="TextBox 5"/>
          <p:cNvSpPr txBox="1"/>
          <p:nvPr/>
        </p:nvSpPr>
        <p:spPr>
          <a:xfrm>
            <a:off x="10406979" y="7429500"/>
            <a:ext cx="7868063" cy="220958"/>
          </a:xfrm>
          <a:prstGeom prst="rect">
            <a:avLst/>
          </a:prstGeom>
        </p:spPr>
        <p:txBody>
          <a:bodyPr lIns="0" tIns="0" rIns="0" bIns="0" rtlCol="0" anchor="t">
            <a:spAutoFit/>
          </a:bodyPr>
          <a:lstStyle/>
          <a:p>
            <a:pPr marL="0" lvl="0" indent="0" algn="just">
              <a:lnSpc>
                <a:spcPts val="1679"/>
              </a:lnSpc>
            </a:pPr>
            <a:r>
              <a:rPr lang="en-US" sz="1600" dirty="0">
                <a:solidFill>
                  <a:srgbClr val="333446"/>
                </a:solidFill>
                <a:latin typeface="Poppins"/>
                <a:ea typeface="Poppins"/>
                <a:cs typeface="Poppins"/>
                <a:sym typeface="Poppins"/>
              </a:rPr>
              <a:t>Jack overcomplicated things until I pointed out the obvious </a:t>
            </a:r>
            <a:r>
              <a:rPr lang="en-US" sz="1600" dirty="0">
                <a:solidFill>
                  <a:srgbClr val="333446"/>
                </a:solidFill>
                <a:latin typeface="Poppins"/>
                <a:ea typeface="Poppins"/>
                <a:cs typeface="Poppins"/>
                <a:sym typeface="Wingdings" panose="05000000000000000000" pitchFamily="2" charset="2"/>
              </a:rPr>
              <a:t></a:t>
            </a:r>
            <a:endParaRPr lang="en-US" sz="1600" dirty="0">
              <a:solidFill>
                <a:srgbClr val="333446"/>
              </a:solidFill>
              <a:latin typeface="Poppins"/>
              <a:ea typeface="Poppins"/>
              <a:cs typeface="Poppins"/>
              <a:sym typeface="Poppins"/>
            </a:endParaRPr>
          </a:p>
        </p:txBody>
      </p:sp>
      <p:sp>
        <p:nvSpPr>
          <p:cNvPr id="6" name="TextBox 6"/>
          <p:cNvSpPr txBox="1"/>
          <p:nvPr/>
        </p:nvSpPr>
        <p:spPr>
          <a:xfrm>
            <a:off x="10406979" y="8614422"/>
            <a:ext cx="6934200" cy="656975"/>
          </a:xfrm>
          <a:prstGeom prst="rect">
            <a:avLst/>
          </a:prstGeom>
        </p:spPr>
        <p:txBody>
          <a:bodyPr wrap="square" lIns="0" tIns="0" rIns="0" bIns="0" rtlCol="0" anchor="t">
            <a:spAutoFit/>
          </a:bodyPr>
          <a:lstStyle/>
          <a:p>
            <a:pPr marL="0" lvl="0" indent="0" algn="just">
              <a:lnSpc>
                <a:spcPts val="1679"/>
              </a:lnSpc>
            </a:pPr>
            <a:r>
              <a:rPr lang="en-US" sz="1600" dirty="0">
                <a:solidFill>
                  <a:srgbClr val="333446"/>
                </a:solidFill>
                <a:latin typeface="Poppins"/>
                <a:ea typeface="Poppins"/>
                <a:cs typeface="Poppins"/>
                <a:sym typeface="Poppins"/>
              </a:rPr>
              <a:t>REFLECTION </a:t>
            </a:r>
          </a:p>
          <a:p>
            <a:pPr marL="0" lvl="0" indent="0" algn="just">
              <a:lnSpc>
                <a:spcPts val="1679"/>
              </a:lnSpc>
            </a:pPr>
            <a:r>
              <a:rPr lang="en-US" sz="1600" dirty="0">
                <a:solidFill>
                  <a:srgbClr val="333446"/>
                </a:solidFill>
                <a:latin typeface="Poppins"/>
                <a:ea typeface="Poppins"/>
                <a:cs typeface="Poppins"/>
                <a:sym typeface="Poppins"/>
              </a:rPr>
              <a:t>• The program was effective but could not track the ball if it was moving. It had to be stationary</a:t>
            </a:r>
          </a:p>
        </p:txBody>
      </p:sp>
      <p:pic>
        <p:nvPicPr>
          <p:cNvPr id="8" name="Picture 7">
            <a:extLst>
              <a:ext uri="{FF2B5EF4-FFF2-40B4-BE49-F238E27FC236}">
                <a16:creationId xmlns:a16="http://schemas.microsoft.com/office/drawing/2014/main" id="{CD3AEF30-DBC5-35EC-8301-0AF8E02EC168}"/>
              </a:ext>
            </a:extLst>
          </p:cNvPr>
          <p:cNvPicPr>
            <a:picLocks noChangeAspect="1"/>
          </p:cNvPicPr>
          <p:nvPr/>
        </p:nvPicPr>
        <p:blipFill>
          <a:blip r:embed="rId3"/>
          <a:stretch>
            <a:fillRect/>
          </a:stretch>
        </p:blipFill>
        <p:spPr>
          <a:xfrm>
            <a:off x="2514600" y="2310534"/>
            <a:ext cx="5705268" cy="870036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0203461" y="0"/>
            <a:ext cx="8084539" cy="3597620"/>
          </a:xfrm>
          <a:custGeom>
            <a:avLst/>
            <a:gdLst/>
            <a:ahLst/>
            <a:cxnLst/>
            <a:rect l="l" t="t" r="r" b="b"/>
            <a:pathLst>
              <a:path w="8084539" h="3597620">
                <a:moveTo>
                  <a:pt x="0" y="0"/>
                </a:moveTo>
                <a:lnTo>
                  <a:pt x="8084539" y="0"/>
                </a:lnTo>
                <a:lnTo>
                  <a:pt x="8084539" y="3597620"/>
                </a:lnTo>
                <a:lnTo>
                  <a:pt x="0" y="359762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94016" y="27560"/>
            <a:ext cx="9737430" cy="1001140"/>
          </a:xfrm>
          <a:prstGeom prst="rect">
            <a:avLst/>
          </a:prstGeom>
        </p:spPr>
        <p:txBody>
          <a:bodyPr lIns="0" tIns="0" rIns="0" bIns="0" rtlCol="0" anchor="t">
            <a:spAutoFit/>
          </a:bodyPr>
          <a:lstStyle/>
          <a:p>
            <a:pPr marL="0" lvl="0" indent="0" algn="ctr">
              <a:lnSpc>
                <a:spcPts val="7718"/>
              </a:lnSpc>
              <a:spcBef>
                <a:spcPct val="0"/>
              </a:spcBef>
            </a:pPr>
            <a:r>
              <a:rPr lang="en-US" sz="5513">
                <a:solidFill>
                  <a:srgbClr val="333446"/>
                </a:solidFill>
                <a:latin typeface="Poppins Light"/>
                <a:ea typeface="Poppins Light"/>
                <a:cs typeface="Poppins Light"/>
                <a:sym typeface="Poppins Light"/>
              </a:rPr>
              <a:t>UNIT 7 – EXPLORING AI VISION</a:t>
            </a:r>
          </a:p>
        </p:txBody>
      </p:sp>
      <p:sp>
        <p:nvSpPr>
          <p:cNvPr id="4" name="TextBox 4"/>
          <p:cNvSpPr txBox="1"/>
          <p:nvPr/>
        </p:nvSpPr>
        <p:spPr>
          <a:xfrm>
            <a:off x="1028700" y="1760710"/>
            <a:ext cx="7868063" cy="528734"/>
          </a:xfrm>
          <a:prstGeom prst="rect">
            <a:avLst/>
          </a:prstGeom>
        </p:spPr>
        <p:txBody>
          <a:bodyPr lIns="0" tIns="0" rIns="0" bIns="0" rtlCol="0" anchor="t">
            <a:spAutoFit/>
          </a:bodyPr>
          <a:lstStyle/>
          <a:p>
            <a:pPr marL="0" lvl="0" indent="0" algn="just">
              <a:lnSpc>
                <a:spcPts val="2073"/>
              </a:lnSpc>
            </a:pPr>
            <a:r>
              <a:rPr lang="en-US" sz="1600" dirty="0">
                <a:solidFill>
                  <a:srgbClr val="333446"/>
                </a:solidFill>
                <a:latin typeface="Poppins"/>
                <a:ea typeface="Poppins"/>
                <a:cs typeface="Poppins"/>
                <a:sym typeface="Poppins"/>
              </a:rPr>
              <a:t>WHAT I LEARNED</a:t>
            </a:r>
          </a:p>
          <a:p>
            <a:pPr marL="0" lvl="0" indent="0" algn="just">
              <a:lnSpc>
                <a:spcPts val="2073"/>
              </a:lnSpc>
            </a:pPr>
            <a:r>
              <a:rPr lang="en-US" sz="1600" dirty="0">
                <a:solidFill>
                  <a:srgbClr val="333446"/>
                </a:solidFill>
                <a:latin typeface="Poppins"/>
                <a:ea typeface="Poppins"/>
                <a:cs typeface="Poppins"/>
                <a:sym typeface="Poppins"/>
              </a:rPr>
              <a:t>The AI detects the thing and then it’s coded to respond in a certain way </a:t>
            </a:r>
          </a:p>
        </p:txBody>
      </p:sp>
      <p:sp>
        <p:nvSpPr>
          <p:cNvPr id="5" name="TextBox 5"/>
          <p:cNvSpPr txBox="1"/>
          <p:nvPr/>
        </p:nvSpPr>
        <p:spPr>
          <a:xfrm>
            <a:off x="1028699" y="2762024"/>
            <a:ext cx="7868063" cy="259430"/>
          </a:xfrm>
          <a:prstGeom prst="rect">
            <a:avLst/>
          </a:prstGeom>
        </p:spPr>
        <p:txBody>
          <a:bodyPr lIns="0" tIns="0" rIns="0" bIns="0" rtlCol="0" anchor="t">
            <a:spAutoFit/>
          </a:bodyPr>
          <a:lstStyle/>
          <a:p>
            <a:pPr marL="0" lvl="0" indent="0" algn="just">
              <a:lnSpc>
                <a:spcPts val="2073"/>
              </a:lnSpc>
            </a:pPr>
            <a:r>
              <a:rPr lang="en-US" sz="1600" dirty="0">
                <a:solidFill>
                  <a:srgbClr val="333446"/>
                </a:solidFill>
                <a:latin typeface="Poppins"/>
                <a:ea typeface="Poppins"/>
                <a:cs typeface="Poppins"/>
                <a:sym typeface="Poppins"/>
              </a:rPr>
              <a:t>INVESTIGATION STEPS:</a:t>
            </a:r>
          </a:p>
        </p:txBody>
      </p:sp>
      <p:sp>
        <p:nvSpPr>
          <p:cNvPr id="6" name="TextBox 6"/>
          <p:cNvSpPr txBox="1"/>
          <p:nvPr/>
        </p:nvSpPr>
        <p:spPr>
          <a:xfrm>
            <a:off x="10203461" y="5105400"/>
            <a:ext cx="7868063" cy="3221779"/>
          </a:xfrm>
          <a:prstGeom prst="rect">
            <a:avLst/>
          </a:prstGeom>
        </p:spPr>
        <p:txBody>
          <a:bodyPr lIns="0" tIns="0" rIns="0" bIns="0" rtlCol="0" anchor="t">
            <a:spAutoFit/>
          </a:bodyPr>
          <a:lstStyle/>
          <a:p>
            <a:pPr marL="0" lvl="0" indent="0" algn="just">
              <a:lnSpc>
                <a:spcPts val="2073"/>
              </a:lnSpc>
            </a:pPr>
            <a:r>
              <a:rPr lang="en-US" sz="1600" dirty="0">
                <a:solidFill>
                  <a:srgbClr val="333446"/>
                </a:solidFill>
                <a:latin typeface="Poppins"/>
                <a:ea typeface="Poppins"/>
                <a:cs typeface="Poppins"/>
                <a:sym typeface="Poppins"/>
              </a:rPr>
              <a:t>FINDINGS &amp; REFLECTION</a:t>
            </a:r>
          </a:p>
          <a:p>
            <a:pPr marL="0" lvl="0" indent="0" algn="just">
              <a:lnSpc>
                <a:spcPts val="2073"/>
              </a:lnSpc>
            </a:pPr>
            <a:r>
              <a:rPr lang="en-US" sz="1600" dirty="0">
                <a:solidFill>
                  <a:srgbClr val="333446"/>
                </a:solidFill>
                <a:latin typeface="Poppins"/>
                <a:ea typeface="Poppins"/>
                <a:cs typeface="Poppins"/>
                <a:sym typeface="Poppins"/>
              </a:rPr>
              <a:t>The AI vision is pretty good at recognizing the objects, although it fails when the camera or an object is moving.</a:t>
            </a:r>
          </a:p>
          <a:p>
            <a:pPr marL="0" lvl="0" indent="0" algn="just">
              <a:lnSpc>
                <a:spcPts val="2073"/>
              </a:lnSpc>
            </a:pPr>
            <a:endParaRPr lang="en-US" sz="1600" dirty="0">
              <a:solidFill>
                <a:srgbClr val="333446"/>
              </a:solidFill>
              <a:latin typeface="Poppins"/>
              <a:ea typeface="Poppins"/>
              <a:cs typeface="Poppins"/>
              <a:sym typeface="Poppins"/>
            </a:endParaRPr>
          </a:p>
          <a:p>
            <a:pPr marL="0" lvl="0" indent="0" algn="just">
              <a:lnSpc>
                <a:spcPts val="2073"/>
              </a:lnSpc>
            </a:pPr>
            <a:endParaRPr lang="en-US" sz="1600" dirty="0">
              <a:solidFill>
                <a:srgbClr val="333446"/>
              </a:solidFill>
              <a:latin typeface="Poppins"/>
              <a:ea typeface="Poppins"/>
              <a:cs typeface="Poppins"/>
              <a:sym typeface="Poppins"/>
            </a:endParaRPr>
          </a:p>
          <a:p>
            <a:pPr marL="0" lvl="0" indent="0" algn="just">
              <a:lnSpc>
                <a:spcPts val="2073"/>
              </a:lnSpc>
            </a:pPr>
            <a:endParaRPr lang="en-US" sz="1600" dirty="0">
              <a:solidFill>
                <a:srgbClr val="333446"/>
              </a:solidFill>
              <a:latin typeface="Poppins"/>
              <a:ea typeface="Poppins"/>
              <a:cs typeface="Poppins"/>
              <a:sym typeface="Poppins"/>
            </a:endParaRPr>
          </a:p>
          <a:p>
            <a:pPr marL="0" lvl="0" indent="0" algn="just">
              <a:lnSpc>
                <a:spcPts val="2073"/>
              </a:lnSpc>
            </a:pPr>
            <a:r>
              <a:rPr lang="en-US" sz="1600" dirty="0">
                <a:solidFill>
                  <a:srgbClr val="333446"/>
                </a:solidFill>
                <a:latin typeface="Poppins"/>
                <a:ea typeface="Poppins"/>
                <a:cs typeface="Poppins"/>
                <a:sym typeface="Poppins"/>
              </a:rPr>
              <a:t>How it works: The Ai sensor uses snapshots of its surroundings; it uses its proximity to the item and the color and pattern recognition to find an item.</a:t>
            </a:r>
          </a:p>
          <a:p>
            <a:pPr marL="0" lvl="0" indent="0" algn="just">
              <a:lnSpc>
                <a:spcPts val="2073"/>
              </a:lnSpc>
            </a:pPr>
            <a:endParaRPr lang="en-US" sz="1600" dirty="0">
              <a:solidFill>
                <a:srgbClr val="333446"/>
              </a:solidFill>
              <a:latin typeface="Poppins"/>
              <a:ea typeface="Poppins"/>
              <a:cs typeface="Poppins"/>
              <a:sym typeface="Poppins"/>
            </a:endParaRPr>
          </a:p>
          <a:p>
            <a:pPr marL="0" lvl="0" indent="0" algn="just">
              <a:lnSpc>
                <a:spcPts val="2073"/>
              </a:lnSpc>
            </a:pPr>
            <a:r>
              <a:rPr lang="en-US" sz="1600" dirty="0">
                <a:solidFill>
                  <a:srgbClr val="333446"/>
                </a:solidFill>
                <a:latin typeface="Poppins"/>
                <a:ea typeface="Poppins"/>
                <a:cs typeface="Poppins"/>
                <a:sym typeface="Poppins"/>
              </a:rPr>
              <a:t>Faults: If the color of an object is slightly off the ai vision won’t pick it up. But a too large of a color spectrum can fault the items validity.</a:t>
            </a:r>
          </a:p>
          <a:p>
            <a:pPr marL="0" lvl="0" indent="0" algn="just">
              <a:lnSpc>
                <a:spcPts val="2073"/>
              </a:lnSpc>
            </a:pPr>
            <a:endParaRPr lang="en-US" sz="1600" dirty="0">
              <a:solidFill>
                <a:srgbClr val="333446"/>
              </a:solidFill>
              <a:latin typeface="Poppins"/>
              <a:ea typeface="Poppins"/>
              <a:cs typeface="Poppins"/>
              <a:sym typeface="Poppins"/>
            </a:endParaRPr>
          </a:p>
        </p:txBody>
      </p:sp>
      <p:pic>
        <p:nvPicPr>
          <p:cNvPr id="8" name="Picture 7">
            <a:extLst>
              <a:ext uri="{FF2B5EF4-FFF2-40B4-BE49-F238E27FC236}">
                <a16:creationId xmlns:a16="http://schemas.microsoft.com/office/drawing/2014/main" id="{F24B84F3-7A88-07C9-8196-810F4B098317}"/>
              </a:ext>
            </a:extLst>
          </p:cNvPr>
          <p:cNvPicPr>
            <a:picLocks noChangeAspect="1"/>
          </p:cNvPicPr>
          <p:nvPr/>
        </p:nvPicPr>
        <p:blipFill>
          <a:blip r:embed="rId3"/>
          <a:stretch>
            <a:fillRect/>
          </a:stretch>
        </p:blipFill>
        <p:spPr>
          <a:xfrm>
            <a:off x="762000" y="3238500"/>
            <a:ext cx="3599272" cy="64299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9902492" y="0"/>
            <a:ext cx="8385508" cy="3731551"/>
          </a:xfrm>
          <a:custGeom>
            <a:avLst/>
            <a:gdLst/>
            <a:ahLst/>
            <a:cxnLst/>
            <a:rect l="l" t="t" r="r" b="b"/>
            <a:pathLst>
              <a:path w="8385508" h="3731551">
                <a:moveTo>
                  <a:pt x="0" y="0"/>
                </a:moveTo>
                <a:lnTo>
                  <a:pt x="8385508" y="0"/>
                </a:lnTo>
                <a:lnTo>
                  <a:pt x="8385508" y="3731551"/>
                </a:lnTo>
                <a:lnTo>
                  <a:pt x="0" y="3731551"/>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80135" y="-171450"/>
            <a:ext cx="9542275" cy="2252665"/>
          </a:xfrm>
          <a:prstGeom prst="rect">
            <a:avLst/>
          </a:prstGeom>
        </p:spPr>
        <p:txBody>
          <a:bodyPr lIns="0" tIns="0" rIns="0" bIns="0" rtlCol="0" anchor="t">
            <a:spAutoFit/>
          </a:bodyPr>
          <a:lstStyle/>
          <a:p>
            <a:pPr marL="0" lvl="0" indent="0" algn="ctr">
              <a:lnSpc>
                <a:spcPts val="8827"/>
              </a:lnSpc>
              <a:spcBef>
                <a:spcPct val="0"/>
              </a:spcBef>
            </a:pPr>
            <a:r>
              <a:rPr lang="en-US" sz="6305">
                <a:solidFill>
                  <a:srgbClr val="333446"/>
                </a:solidFill>
                <a:latin typeface="Poppins Light"/>
                <a:ea typeface="Poppins Light"/>
                <a:cs typeface="Poppins Light"/>
                <a:sym typeface="Poppins Light"/>
              </a:rPr>
              <a:t>UNIT 8 – CONTROLLING DECISIONS</a:t>
            </a:r>
          </a:p>
        </p:txBody>
      </p:sp>
      <p:sp>
        <p:nvSpPr>
          <p:cNvPr id="4" name="TextBox 4"/>
          <p:cNvSpPr txBox="1"/>
          <p:nvPr/>
        </p:nvSpPr>
        <p:spPr>
          <a:xfrm>
            <a:off x="7772400" y="4686300"/>
            <a:ext cx="7868063" cy="1211614"/>
          </a:xfrm>
          <a:prstGeom prst="rect">
            <a:avLst/>
          </a:prstGeom>
        </p:spPr>
        <p:txBody>
          <a:bodyPr lIns="0" tIns="0" rIns="0" bIns="0" rtlCol="0" anchor="t">
            <a:spAutoFit/>
          </a:bodyPr>
          <a:lstStyle/>
          <a:p>
            <a:pPr marL="0" lvl="0" indent="0" algn="just">
              <a:lnSpc>
                <a:spcPts val="2372"/>
              </a:lnSpc>
            </a:pPr>
            <a:r>
              <a:rPr lang="en-US" sz="1600" dirty="0">
                <a:solidFill>
                  <a:srgbClr val="333446"/>
                </a:solidFill>
                <a:latin typeface="Poppins"/>
                <a:ea typeface="Poppins"/>
                <a:cs typeface="Poppins"/>
                <a:sym typeface="Poppins"/>
              </a:rPr>
              <a:t>What I Learned:</a:t>
            </a:r>
          </a:p>
          <a:p>
            <a:pPr marL="0" lvl="0" indent="0" algn="just">
              <a:lnSpc>
                <a:spcPts val="2372"/>
              </a:lnSpc>
            </a:pPr>
            <a:r>
              <a:rPr lang="en-US" sz="1600" dirty="0">
                <a:solidFill>
                  <a:srgbClr val="333446"/>
                </a:solidFill>
                <a:latin typeface="Poppins"/>
                <a:ea typeface="Poppins"/>
                <a:cs typeface="Poppins"/>
                <a:sym typeface="Poppins"/>
              </a:rPr>
              <a:t>I made a set of if conditions, it checked if the up button was pressed and if anything was detected with the ai vision sensor, if both were true the it would display text saying what it saw. If it saw nothing it would say nothing</a:t>
            </a:r>
          </a:p>
        </p:txBody>
      </p:sp>
      <p:sp>
        <p:nvSpPr>
          <p:cNvPr id="6" name="TextBox 6"/>
          <p:cNvSpPr txBox="1"/>
          <p:nvPr/>
        </p:nvSpPr>
        <p:spPr>
          <a:xfrm>
            <a:off x="7772400" y="7284204"/>
            <a:ext cx="7868063" cy="903837"/>
          </a:xfrm>
          <a:prstGeom prst="rect">
            <a:avLst/>
          </a:prstGeom>
        </p:spPr>
        <p:txBody>
          <a:bodyPr lIns="0" tIns="0" rIns="0" bIns="0" rtlCol="0" anchor="t">
            <a:spAutoFit/>
          </a:bodyPr>
          <a:lstStyle/>
          <a:p>
            <a:pPr marL="0" lvl="0" indent="0" algn="just">
              <a:lnSpc>
                <a:spcPts val="2372"/>
              </a:lnSpc>
            </a:pPr>
            <a:r>
              <a:rPr lang="en-US" sz="1600" dirty="0">
                <a:solidFill>
                  <a:srgbClr val="333446"/>
                </a:solidFill>
                <a:latin typeface="Poppins"/>
                <a:ea typeface="Poppins"/>
                <a:cs typeface="Poppins"/>
                <a:sym typeface="Poppins"/>
              </a:rPr>
              <a:t>Capstone Preparation Reflection:</a:t>
            </a:r>
          </a:p>
          <a:p>
            <a:pPr marL="0" lvl="0" indent="0" algn="just">
              <a:lnSpc>
                <a:spcPts val="2372"/>
              </a:lnSpc>
            </a:pPr>
            <a:r>
              <a:rPr lang="en-US" sz="1600" dirty="0">
                <a:solidFill>
                  <a:srgbClr val="333446"/>
                </a:solidFill>
                <a:latin typeface="Poppins"/>
                <a:ea typeface="Poppins"/>
                <a:cs typeface="Poppins"/>
                <a:sym typeface="Poppins"/>
              </a:rPr>
              <a:t>My biggest strength is the ability to find problems with the code and solve them, as well as creating simpler code for the job. </a:t>
            </a:r>
          </a:p>
        </p:txBody>
      </p:sp>
      <p:pic>
        <p:nvPicPr>
          <p:cNvPr id="8" name="Picture 7">
            <a:extLst>
              <a:ext uri="{FF2B5EF4-FFF2-40B4-BE49-F238E27FC236}">
                <a16:creationId xmlns:a16="http://schemas.microsoft.com/office/drawing/2014/main" id="{C2DE093F-2A07-74E5-86FB-34D08B4509A5}"/>
              </a:ext>
            </a:extLst>
          </p:cNvPr>
          <p:cNvPicPr>
            <a:picLocks noChangeAspect="1"/>
          </p:cNvPicPr>
          <p:nvPr/>
        </p:nvPicPr>
        <p:blipFill>
          <a:blip r:embed="rId3"/>
          <a:stretch>
            <a:fillRect/>
          </a:stretch>
        </p:blipFill>
        <p:spPr>
          <a:xfrm>
            <a:off x="1371600" y="2081215"/>
            <a:ext cx="2895600" cy="79779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0" y="6103480"/>
            <a:ext cx="9144000" cy="4069080"/>
          </a:xfrm>
          <a:custGeom>
            <a:avLst/>
            <a:gdLst/>
            <a:ahLst/>
            <a:cxnLst/>
            <a:rect l="l" t="t" r="r" b="b"/>
            <a:pathLst>
              <a:path w="9144000" h="4069080">
                <a:moveTo>
                  <a:pt x="0" y="0"/>
                </a:moveTo>
                <a:lnTo>
                  <a:pt x="9144000" y="0"/>
                </a:lnTo>
                <a:lnTo>
                  <a:pt x="9144000" y="4069080"/>
                </a:lnTo>
                <a:lnTo>
                  <a:pt x="0" y="406908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865601" y="426752"/>
            <a:ext cx="10416817" cy="1703038"/>
          </a:xfrm>
          <a:prstGeom prst="rect">
            <a:avLst/>
          </a:prstGeom>
        </p:spPr>
        <p:txBody>
          <a:bodyPr lIns="0" tIns="0" rIns="0" bIns="0" rtlCol="0" anchor="t">
            <a:spAutoFit/>
          </a:bodyPr>
          <a:lstStyle/>
          <a:p>
            <a:pPr marL="0" lvl="0" indent="0" algn="l">
              <a:lnSpc>
                <a:spcPts val="13133"/>
              </a:lnSpc>
              <a:spcBef>
                <a:spcPct val="0"/>
              </a:spcBef>
            </a:pPr>
            <a:r>
              <a:rPr lang="en-US" sz="9381">
                <a:solidFill>
                  <a:srgbClr val="333446"/>
                </a:solidFill>
                <a:latin typeface="Poppins Light"/>
                <a:ea typeface="Poppins Light"/>
                <a:cs typeface="Poppins Light"/>
                <a:sym typeface="Poppins Light"/>
              </a:rPr>
              <a:t>DELIVERY DASH</a:t>
            </a:r>
          </a:p>
        </p:txBody>
      </p:sp>
      <p:sp>
        <p:nvSpPr>
          <p:cNvPr id="4" name="TextBox 4"/>
          <p:cNvSpPr txBox="1"/>
          <p:nvPr/>
        </p:nvSpPr>
        <p:spPr>
          <a:xfrm>
            <a:off x="865600" y="3255313"/>
            <a:ext cx="12164600" cy="1984774"/>
          </a:xfrm>
          <a:prstGeom prst="rect">
            <a:avLst/>
          </a:prstGeom>
        </p:spPr>
        <p:txBody>
          <a:bodyPr wrap="square" lIns="0" tIns="0" rIns="0" bIns="0" rtlCol="0" anchor="t">
            <a:spAutoFit/>
          </a:bodyPr>
          <a:lstStyle/>
          <a:p>
            <a:pPr marL="0" lvl="0" indent="0" algn="just">
              <a:lnSpc>
                <a:spcPts val="2633"/>
              </a:lnSpc>
            </a:pPr>
            <a:r>
              <a:rPr lang="en-US" sz="1881" dirty="0">
                <a:solidFill>
                  <a:srgbClr val="333446"/>
                </a:solidFill>
                <a:latin typeface="Poppins"/>
                <a:ea typeface="Poppins"/>
                <a:cs typeface="Poppins"/>
                <a:sym typeface="Poppins"/>
              </a:rPr>
              <a:t>Project Goal:  To sort registered cargo to certain locations</a:t>
            </a:r>
          </a:p>
          <a:p>
            <a:pPr marL="0" lvl="0" indent="0" algn="just">
              <a:lnSpc>
                <a:spcPts val="2633"/>
              </a:lnSpc>
            </a:pPr>
            <a:r>
              <a:rPr lang="en-US" sz="1881" dirty="0">
                <a:solidFill>
                  <a:srgbClr val="333446"/>
                </a:solidFill>
                <a:latin typeface="Poppins"/>
                <a:ea typeface="Poppins"/>
                <a:cs typeface="Poppins"/>
                <a:sym typeface="Poppins"/>
              </a:rPr>
              <a:t>My Approach / Strategy: Check the loading bay, if there is something then take it to the correct point</a:t>
            </a:r>
          </a:p>
          <a:p>
            <a:pPr marL="0" lvl="0" indent="0" algn="just">
              <a:lnSpc>
                <a:spcPts val="2633"/>
              </a:lnSpc>
            </a:pPr>
            <a:r>
              <a:rPr lang="en-US" sz="1881" dirty="0">
                <a:solidFill>
                  <a:srgbClr val="333446"/>
                </a:solidFill>
                <a:latin typeface="Poppins"/>
                <a:ea typeface="Poppins"/>
                <a:cs typeface="Poppins"/>
                <a:sym typeface="Poppins"/>
              </a:rPr>
              <a:t>Steps I Plan to Take:  Check cargo bays, work out what the object is, determine the correct zone, move the item to the repeat, reverse and repeat.</a:t>
            </a:r>
          </a:p>
          <a:p>
            <a:pPr marL="0" lvl="0" indent="0" algn="just">
              <a:lnSpc>
                <a:spcPts val="2633"/>
              </a:lnSpc>
            </a:pPr>
            <a:r>
              <a:rPr lang="en-US" sz="1881" dirty="0">
                <a:solidFill>
                  <a:srgbClr val="333446"/>
                </a:solidFill>
                <a:latin typeface="Poppins"/>
                <a:ea typeface="Poppins"/>
                <a:cs typeface="Poppins"/>
                <a:sym typeface="Poppins"/>
              </a:rPr>
              <a:t>Resources / Code I Will Use: I will use the ai vision sensor to find objects and April tags</a:t>
            </a:r>
          </a:p>
          <a:p>
            <a:pPr marL="0" lvl="0" indent="0" algn="just">
              <a:lnSpc>
                <a:spcPts val="2633"/>
              </a:lnSpc>
            </a:pPr>
            <a:r>
              <a:rPr lang="en-US" sz="1881" dirty="0">
                <a:solidFill>
                  <a:srgbClr val="333446"/>
                </a:solidFill>
                <a:latin typeface="Poppins"/>
                <a:ea typeface="Poppins"/>
                <a:cs typeface="Poppins"/>
                <a:sym typeface="Poppins"/>
              </a:rPr>
              <a:t>Potential Challenges: Loading cargo to the wrong zones or picking up the same cargo twice</a:t>
            </a:r>
          </a:p>
        </p:txBody>
      </p:sp>
      <p:sp>
        <p:nvSpPr>
          <p:cNvPr id="5" name="TextBox 5"/>
          <p:cNvSpPr txBox="1"/>
          <p:nvPr/>
        </p:nvSpPr>
        <p:spPr>
          <a:xfrm>
            <a:off x="865601" y="2467706"/>
            <a:ext cx="5919723" cy="435181"/>
          </a:xfrm>
          <a:prstGeom prst="rect">
            <a:avLst/>
          </a:prstGeom>
        </p:spPr>
        <p:txBody>
          <a:bodyPr lIns="0" tIns="0" rIns="0" bIns="0" rtlCol="0" anchor="t">
            <a:spAutoFit/>
          </a:bodyPr>
          <a:lstStyle/>
          <a:p>
            <a:pPr marL="0" lvl="0" indent="0" algn="just">
              <a:lnSpc>
                <a:spcPts val="3313"/>
              </a:lnSpc>
              <a:spcBef>
                <a:spcPct val="0"/>
              </a:spcBef>
            </a:pPr>
            <a:r>
              <a:rPr lang="en-US" sz="2366" b="1" spc="-47">
                <a:solidFill>
                  <a:srgbClr val="333446"/>
                </a:solidFill>
                <a:latin typeface="Poppins Bold"/>
                <a:ea typeface="Poppins Bold"/>
                <a:cs typeface="Poppins Bold"/>
                <a:sym typeface="Poppins Bold"/>
              </a:rPr>
              <a:t>CAPSTONE CHALLENGE – PLANNING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3" name="TextBox 3"/>
          <p:cNvSpPr txBox="1"/>
          <p:nvPr/>
        </p:nvSpPr>
        <p:spPr>
          <a:xfrm>
            <a:off x="1028700" y="6890927"/>
            <a:ext cx="7886700" cy="3160673"/>
          </a:xfrm>
          <a:prstGeom prst="rect">
            <a:avLst/>
          </a:prstGeom>
        </p:spPr>
        <p:txBody>
          <a:bodyPr wrap="square" lIns="0" tIns="0" rIns="0" bIns="0" rtlCol="0" anchor="t">
            <a:spAutoFit/>
          </a:bodyPr>
          <a:lstStyle/>
          <a:p>
            <a:pPr marL="0" lvl="0" indent="0" algn="just">
              <a:lnSpc>
                <a:spcPts val="3109"/>
              </a:lnSpc>
            </a:pPr>
            <a:r>
              <a:rPr lang="en-US" sz="2220" dirty="0">
                <a:solidFill>
                  <a:srgbClr val="333446"/>
                </a:solidFill>
                <a:latin typeface="Poppins"/>
                <a:ea typeface="Poppins"/>
                <a:cs typeface="Poppins"/>
                <a:sym typeface="Poppins"/>
              </a:rPr>
              <a:t>Outcomes &amp; robot performance: The robot successfully delivered all objects. The robot would sometimes deliver the same object twice</a:t>
            </a:r>
          </a:p>
          <a:p>
            <a:pPr marL="0" lvl="0" indent="0" algn="just">
              <a:lnSpc>
                <a:spcPts val="3109"/>
              </a:lnSpc>
            </a:pPr>
            <a:r>
              <a:rPr lang="en-US" sz="2220" dirty="0">
                <a:solidFill>
                  <a:srgbClr val="333446"/>
                </a:solidFill>
                <a:latin typeface="Poppins"/>
                <a:ea typeface="Poppins"/>
                <a:cs typeface="Poppins"/>
                <a:sym typeface="Poppins"/>
              </a:rPr>
              <a:t>What went well:  the robot found and delivered all objects.</a:t>
            </a:r>
          </a:p>
          <a:p>
            <a:pPr marL="0" lvl="0" indent="0" algn="just">
              <a:lnSpc>
                <a:spcPts val="3109"/>
              </a:lnSpc>
            </a:pPr>
            <a:r>
              <a:rPr lang="en-US" sz="2220" dirty="0">
                <a:solidFill>
                  <a:srgbClr val="333446"/>
                </a:solidFill>
                <a:latin typeface="Poppins"/>
                <a:ea typeface="Poppins"/>
                <a:cs typeface="Poppins"/>
                <a:sym typeface="Poppins"/>
              </a:rPr>
              <a:t>Lessons learned &amp; improvements for next time: The robot can’t handle any cargo left on the board after delivery</a:t>
            </a:r>
          </a:p>
        </p:txBody>
      </p:sp>
      <p:sp>
        <p:nvSpPr>
          <p:cNvPr id="4" name="TextBox 4"/>
          <p:cNvSpPr txBox="1"/>
          <p:nvPr/>
        </p:nvSpPr>
        <p:spPr>
          <a:xfrm>
            <a:off x="9672042" y="426752"/>
            <a:ext cx="3220751" cy="402379"/>
          </a:xfrm>
          <a:prstGeom prst="rect">
            <a:avLst/>
          </a:prstGeom>
        </p:spPr>
        <p:txBody>
          <a:bodyPr lIns="0" tIns="0" rIns="0" bIns="0" rtlCol="0" anchor="t">
            <a:spAutoFit/>
          </a:bodyPr>
          <a:lstStyle/>
          <a:p>
            <a:pPr marL="0" lvl="0" indent="0" algn="l">
              <a:lnSpc>
                <a:spcPts val="3218"/>
              </a:lnSpc>
              <a:spcBef>
                <a:spcPct val="0"/>
              </a:spcBef>
            </a:pPr>
            <a:r>
              <a:rPr lang="en-US" sz="2299" b="1" spc="-45" dirty="0">
                <a:solidFill>
                  <a:srgbClr val="333446"/>
                </a:solidFill>
                <a:latin typeface="Poppins Bold"/>
                <a:ea typeface="Poppins Bold"/>
                <a:cs typeface="Poppins Bold"/>
                <a:sym typeface="Poppins Bold"/>
              </a:rPr>
              <a:t>EXECUTION &amp; CODING</a:t>
            </a:r>
          </a:p>
        </p:txBody>
      </p:sp>
      <p:sp>
        <p:nvSpPr>
          <p:cNvPr id="5" name="TextBox 5"/>
          <p:cNvSpPr txBox="1"/>
          <p:nvPr/>
        </p:nvSpPr>
        <p:spPr>
          <a:xfrm>
            <a:off x="1028700" y="6458783"/>
            <a:ext cx="3220751" cy="402379"/>
          </a:xfrm>
          <a:prstGeom prst="rect">
            <a:avLst/>
          </a:prstGeom>
        </p:spPr>
        <p:txBody>
          <a:bodyPr lIns="0" tIns="0" rIns="0" bIns="0" rtlCol="0" anchor="t">
            <a:spAutoFit/>
          </a:bodyPr>
          <a:lstStyle/>
          <a:p>
            <a:pPr marL="0" lvl="0" indent="0" algn="l">
              <a:lnSpc>
                <a:spcPts val="3218"/>
              </a:lnSpc>
              <a:spcBef>
                <a:spcPct val="0"/>
              </a:spcBef>
            </a:pPr>
            <a:r>
              <a:rPr lang="en-US" sz="2299" b="1" spc="-45">
                <a:solidFill>
                  <a:srgbClr val="333446"/>
                </a:solidFill>
                <a:latin typeface="Poppins Bold"/>
                <a:ea typeface="Poppins Bold"/>
                <a:cs typeface="Poppins Bold"/>
                <a:sym typeface="Poppins Bold"/>
              </a:rPr>
              <a:t>RESULTS &amp; REFLECTION</a:t>
            </a:r>
          </a:p>
        </p:txBody>
      </p:sp>
      <p:sp>
        <p:nvSpPr>
          <p:cNvPr id="6" name="TextBox 6"/>
          <p:cNvSpPr txBox="1"/>
          <p:nvPr/>
        </p:nvSpPr>
        <p:spPr>
          <a:xfrm>
            <a:off x="865601" y="426752"/>
            <a:ext cx="10416817" cy="1703038"/>
          </a:xfrm>
          <a:prstGeom prst="rect">
            <a:avLst/>
          </a:prstGeom>
        </p:spPr>
        <p:txBody>
          <a:bodyPr lIns="0" tIns="0" rIns="0" bIns="0" rtlCol="0" anchor="t">
            <a:spAutoFit/>
          </a:bodyPr>
          <a:lstStyle/>
          <a:p>
            <a:pPr marL="0" lvl="0" indent="0" algn="l">
              <a:lnSpc>
                <a:spcPts val="13133"/>
              </a:lnSpc>
              <a:spcBef>
                <a:spcPct val="0"/>
              </a:spcBef>
            </a:pPr>
            <a:r>
              <a:rPr lang="en-US" sz="9381">
                <a:solidFill>
                  <a:srgbClr val="333446"/>
                </a:solidFill>
                <a:latin typeface="Poppins Light"/>
                <a:ea typeface="Poppins Light"/>
                <a:cs typeface="Poppins Light"/>
                <a:sym typeface="Poppins Light"/>
              </a:rPr>
              <a:t>DELIVERY DASH</a:t>
            </a:r>
          </a:p>
        </p:txBody>
      </p:sp>
      <p:pic>
        <p:nvPicPr>
          <p:cNvPr id="8" name="Picture 7">
            <a:extLst>
              <a:ext uri="{FF2B5EF4-FFF2-40B4-BE49-F238E27FC236}">
                <a16:creationId xmlns:a16="http://schemas.microsoft.com/office/drawing/2014/main" id="{9668097E-A23C-CC23-7961-3F5A385522B3}"/>
              </a:ext>
            </a:extLst>
          </p:cNvPr>
          <p:cNvPicPr>
            <a:picLocks noChangeAspect="1"/>
          </p:cNvPicPr>
          <p:nvPr/>
        </p:nvPicPr>
        <p:blipFill>
          <a:blip r:embed="rId2"/>
          <a:stretch>
            <a:fillRect/>
          </a:stretch>
        </p:blipFill>
        <p:spPr>
          <a:xfrm>
            <a:off x="9783045" y="1181100"/>
            <a:ext cx="2709977" cy="8534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2597906" y="0"/>
            <a:ext cx="5690094" cy="4426940"/>
          </a:xfrm>
          <a:custGeom>
            <a:avLst/>
            <a:gdLst/>
            <a:ahLst/>
            <a:cxnLst/>
            <a:rect l="l" t="t" r="r" b="b"/>
            <a:pathLst>
              <a:path w="5690094" h="4426940">
                <a:moveTo>
                  <a:pt x="0" y="0"/>
                </a:moveTo>
                <a:lnTo>
                  <a:pt x="5690094" y="0"/>
                </a:lnTo>
                <a:lnTo>
                  <a:pt x="5690094" y="4426940"/>
                </a:lnTo>
                <a:lnTo>
                  <a:pt x="0" y="4426940"/>
                </a:lnTo>
                <a:lnTo>
                  <a:pt x="0" y="0"/>
                </a:lnTo>
                <a:close/>
              </a:path>
            </a:pathLst>
          </a:custGeom>
          <a:blipFill>
            <a:blip r:embed="rId2"/>
            <a:stretch>
              <a:fillRect t="-13788" b="-14744"/>
            </a:stretch>
          </a:blipFill>
        </p:spPr>
        <p:txBody>
          <a:bodyPr/>
          <a:lstStyle/>
          <a:p>
            <a:endParaRPr lang="en-AU"/>
          </a:p>
        </p:txBody>
      </p:sp>
      <p:sp>
        <p:nvSpPr>
          <p:cNvPr id="3" name="Freeform 3"/>
          <p:cNvSpPr/>
          <p:nvPr/>
        </p:nvSpPr>
        <p:spPr>
          <a:xfrm>
            <a:off x="0" y="1250465"/>
            <a:ext cx="7997903" cy="3189164"/>
          </a:xfrm>
          <a:custGeom>
            <a:avLst/>
            <a:gdLst/>
            <a:ahLst/>
            <a:cxnLst/>
            <a:rect l="l" t="t" r="r" b="b"/>
            <a:pathLst>
              <a:path w="7997903" h="3189164">
                <a:moveTo>
                  <a:pt x="0" y="0"/>
                </a:moveTo>
                <a:lnTo>
                  <a:pt x="7997903" y="0"/>
                </a:lnTo>
                <a:lnTo>
                  <a:pt x="7997903" y="3189164"/>
                </a:lnTo>
                <a:lnTo>
                  <a:pt x="0" y="3189164"/>
                </a:lnTo>
                <a:lnTo>
                  <a:pt x="0" y="0"/>
                </a:lnTo>
                <a:close/>
              </a:path>
            </a:pathLst>
          </a:custGeom>
          <a:blipFill>
            <a:blip r:embed="rId3"/>
            <a:stretch>
              <a:fillRect/>
            </a:stretch>
          </a:blipFill>
        </p:spPr>
        <p:txBody>
          <a:bodyPr/>
          <a:lstStyle/>
          <a:p>
            <a:endParaRPr lang="en-AU"/>
          </a:p>
        </p:txBody>
      </p:sp>
      <p:sp>
        <p:nvSpPr>
          <p:cNvPr id="4" name="TextBox 4"/>
          <p:cNvSpPr txBox="1"/>
          <p:nvPr/>
        </p:nvSpPr>
        <p:spPr>
          <a:xfrm>
            <a:off x="0" y="-209550"/>
            <a:ext cx="10386091" cy="1356207"/>
          </a:xfrm>
          <a:prstGeom prst="rect">
            <a:avLst/>
          </a:prstGeom>
        </p:spPr>
        <p:txBody>
          <a:bodyPr lIns="0" tIns="0" rIns="0" bIns="0" rtlCol="0" anchor="t">
            <a:spAutoFit/>
          </a:bodyPr>
          <a:lstStyle/>
          <a:p>
            <a:pPr marL="0" lvl="0" indent="0" algn="l">
              <a:lnSpc>
                <a:spcPts val="10557"/>
              </a:lnSpc>
              <a:spcBef>
                <a:spcPct val="0"/>
              </a:spcBef>
            </a:pPr>
            <a:r>
              <a:rPr lang="en-US" sz="7541">
                <a:solidFill>
                  <a:srgbClr val="333446"/>
                </a:solidFill>
                <a:latin typeface="Poppins Light"/>
                <a:ea typeface="Poppins Light"/>
                <a:cs typeface="Poppins Light"/>
                <a:sym typeface="Poppins Light"/>
              </a:rPr>
              <a:t>SHOWCASE PLANNING</a:t>
            </a:r>
          </a:p>
        </p:txBody>
      </p:sp>
      <p:sp>
        <p:nvSpPr>
          <p:cNvPr id="5" name="TextBox 5"/>
          <p:cNvSpPr txBox="1"/>
          <p:nvPr/>
        </p:nvSpPr>
        <p:spPr>
          <a:xfrm>
            <a:off x="2099101" y="5588995"/>
            <a:ext cx="3427592" cy="516753"/>
          </a:xfrm>
          <a:prstGeom prst="rect">
            <a:avLst/>
          </a:prstGeom>
        </p:spPr>
        <p:txBody>
          <a:bodyPr lIns="0" tIns="0" rIns="0" bIns="0" rtlCol="0" anchor="t">
            <a:spAutoFit/>
          </a:bodyPr>
          <a:lstStyle/>
          <a:p>
            <a:pPr marL="0" lvl="0" indent="0" algn="ctr">
              <a:lnSpc>
                <a:spcPts val="4067"/>
              </a:lnSpc>
              <a:spcBef>
                <a:spcPct val="0"/>
              </a:spcBef>
            </a:pPr>
            <a:r>
              <a:rPr lang="en-US" sz="2905" b="1" spc="-58" dirty="0">
                <a:solidFill>
                  <a:srgbClr val="333446"/>
                </a:solidFill>
                <a:latin typeface="Poppins Bold"/>
                <a:ea typeface="Poppins Bold"/>
                <a:cs typeface="Poppins Bold"/>
                <a:sym typeface="Poppins Bold"/>
              </a:rPr>
              <a:t>DEMO ACTIVITY</a:t>
            </a:r>
          </a:p>
        </p:txBody>
      </p:sp>
      <p:sp>
        <p:nvSpPr>
          <p:cNvPr id="6" name="TextBox 6"/>
          <p:cNvSpPr txBox="1"/>
          <p:nvPr/>
        </p:nvSpPr>
        <p:spPr>
          <a:xfrm>
            <a:off x="10391347" y="5588995"/>
            <a:ext cx="3427592" cy="516753"/>
          </a:xfrm>
          <a:prstGeom prst="rect">
            <a:avLst/>
          </a:prstGeom>
        </p:spPr>
        <p:txBody>
          <a:bodyPr lIns="0" tIns="0" rIns="0" bIns="0" rtlCol="0" anchor="t">
            <a:spAutoFit/>
          </a:bodyPr>
          <a:lstStyle/>
          <a:p>
            <a:pPr marL="0" lvl="0" indent="0" algn="ctr">
              <a:lnSpc>
                <a:spcPts val="4067"/>
              </a:lnSpc>
              <a:spcBef>
                <a:spcPct val="0"/>
              </a:spcBef>
            </a:pPr>
            <a:r>
              <a:rPr lang="en-US" sz="2905" b="1" spc="-58" dirty="0">
                <a:solidFill>
                  <a:srgbClr val="333446"/>
                </a:solidFill>
                <a:latin typeface="Poppins Bold"/>
                <a:ea typeface="Poppins Bold"/>
                <a:cs typeface="Poppins Bold"/>
                <a:sym typeface="Poppins Bold"/>
              </a:rPr>
              <a:t>MATERIALS NEEDED</a:t>
            </a:r>
          </a:p>
        </p:txBody>
      </p:sp>
      <p:sp>
        <p:nvSpPr>
          <p:cNvPr id="7" name="TextBox 7"/>
          <p:cNvSpPr txBox="1"/>
          <p:nvPr/>
        </p:nvSpPr>
        <p:spPr>
          <a:xfrm>
            <a:off x="1440040" y="6983327"/>
            <a:ext cx="6332360" cy="2776914"/>
          </a:xfrm>
          <a:prstGeom prst="rect">
            <a:avLst/>
          </a:prstGeom>
        </p:spPr>
        <p:txBody>
          <a:bodyPr wrap="square" lIns="0" tIns="0" rIns="0" bIns="0" rtlCol="0" anchor="t">
            <a:spAutoFit/>
          </a:bodyPr>
          <a:lstStyle/>
          <a:p>
            <a:pPr marL="0" lvl="0" indent="0" algn="just">
              <a:lnSpc>
                <a:spcPts val="1769"/>
              </a:lnSpc>
              <a:spcBef>
                <a:spcPct val="0"/>
              </a:spcBef>
            </a:pPr>
            <a:r>
              <a:rPr lang="en-US" dirty="0">
                <a:solidFill>
                  <a:srgbClr val="333446"/>
                </a:solidFill>
                <a:latin typeface="Poppins"/>
                <a:ea typeface="Poppins"/>
                <a:cs typeface="Poppins"/>
                <a:sym typeface="Poppins"/>
              </a:rPr>
              <a:t>Activity Description:</a:t>
            </a:r>
          </a:p>
          <a:p>
            <a:pPr marL="0" lvl="0" indent="0" algn="just">
              <a:lnSpc>
                <a:spcPts val="1769"/>
              </a:lnSpc>
              <a:spcBef>
                <a:spcPct val="0"/>
              </a:spcBef>
            </a:pPr>
            <a:r>
              <a:rPr lang="en-US" dirty="0">
                <a:solidFill>
                  <a:srgbClr val="333446"/>
                </a:solidFill>
                <a:latin typeface="Poppins"/>
                <a:ea typeface="Poppins"/>
                <a:cs typeface="Poppins"/>
                <a:sym typeface="Poppins"/>
              </a:rPr>
              <a:t>Demonstrate your VEX </a:t>
            </a:r>
            <a:r>
              <a:rPr lang="en-US" dirty="0" err="1">
                <a:solidFill>
                  <a:srgbClr val="333446"/>
                </a:solidFill>
                <a:latin typeface="Poppins"/>
                <a:ea typeface="Poppins"/>
                <a:cs typeface="Poppins"/>
                <a:sym typeface="Poppins"/>
              </a:rPr>
              <a:t>Aimbot</a:t>
            </a:r>
            <a:r>
              <a:rPr lang="en-US" dirty="0">
                <a:solidFill>
                  <a:srgbClr val="333446"/>
                </a:solidFill>
                <a:latin typeface="Poppins"/>
                <a:ea typeface="Poppins"/>
                <a:cs typeface="Poppins"/>
                <a:sym typeface="Poppins"/>
              </a:rPr>
              <a:t> robot to parents and visitors. Show how your robot navigates, avoids obstacles, and completes tasks using your chosen coding approach.</a:t>
            </a:r>
          </a:p>
          <a:p>
            <a:pPr marL="0" lvl="0" indent="0" algn="just">
              <a:lnSpc>
                <a:spcPts val="1769"/>
              </a:lnSpc>
              <a:spcBef>
                <a:spcPct val="0"/>
              </a:spcBef>
            </a:pPr>
            <a:endParaRPr lang="en-US" dirty="0">
              <a:solidFill>
                <a:srgbClr val="333446"/>
              </a:solidFill>
              <a:latin typeface="Poppins"/>
              <a:ea typeface="Poppins"/>
              <a:cs typeface="Poppins"/>
              <a:sym typeface="Poppins"/>
            </a:endParaRPr>
          </a:p>
          <a:p>
            <a:pPr marL="0" lvl="0" indent="0" algn="just">
              <a:lnSpc>
                <a:spcPts val="1769"/>
              </a:lnSpc>
              <a:spcBef>
                <a:spcPct val="0"/>
              </a:spcBef>
            </a:pPr>
            <a:r>
              <a:rPr lang="en-US" dirty="0">
                <a:solidFill>
                  <a:srgbClr val="333446"/>
                </a:solidFill>
                <a:latin typeface="Poppins"/>
                <a:ea typeface="Poppins"/>
                <a:cs typeface="Poppins"/>
                <a:sym typeface="Poppins"/>
              </a:rPr>
              <a:t>Step-by-Step Instructions:</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Set up the robot and arena</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Explain your coding method</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Run a live demonstration</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Invite visitors to try the controller</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Answer questions about your learning</a:t>
            </a:r>
          </a:p>
        </p:txBody>
      </p:sp>
      <p:sp>
        <p:nvSpPr>
          <p:cNvPr id="8" name="TextBox 8"/>
          <p:cNvSpPr txBox="1"/>
          <p:nvPr/>
        </p:nvSpPr>
        <p:spPr>
          <a:xfrm>
            <a:off x="9732286" y="6970636"/>
            <a:ext cx="6650714" cy="2546082"/>
          </a:xfrm>
          <a:prstGeom prst="rect">
            <a:avLst/>
          </a:prstGeom>
        </p:spPr>
        <p:txBody>
          <a:bodyPr wrap="square" lIns="0" tIns="0" rIns="0" bIns="0" rtlCol="0" anchor="t">
            <a:spAutoFit/>
          </a:bodyPr>
          <a:lstStyle/>
          <a:p>
            <a:pPr marL="0" lvl="0" indent="0" algn="just">
              <a:lnSpc>
                <a:spcPts val="1769"/>
              </a:lnSpc>
              <a:spcBef>
                <a:spcPct val="0"/>
              </a:spcBef>
            </a:pPr>
            <a:r>
              <a:rPr lang="en-US" dirty="0">
                <a:solidFill>
                  <a:srgbClr val="333446"/>
                </a:solidFill>
                <a:latin typeface="Poppins"/>
                <a:ea typeface="Poppins"/>
                <a:cs typeface="Poppins"/>
                <a:sym typeface="Poppins"/>
              </a:rPr>
              <a:t>Materials Checklist:</a:t>
            </a:r>
          </a:p>
          <a:p>
            <a:pPr marL="0" lvl="0" indent="0" algn="just">
              <a:lnSpc>
                <a:spcPts val="1769"/>
              </a:lnSpc>
              <a:spcBef>
                <a:spcPct val="0"/>
              </a:spcBef>
            </a:pPr>
            <a:r>
              <a:rPr lang="en-US" dirty="0">
                <a:solidFill>
                  <a:srgbClr val="333446"/>
                </a:solidFill>
                <a:latin typeface="Poppins"/>
                <a:ea typeface="Poppins"/>
                <a:cs typeface="Poppins"/>
                <a:sym typeface="Poppins"/>
              </a:rPr>
              <a:t>• VEX </a:t>
            </a:r>
            <a:r>
              <a:rPr lang="en-US" dirty="0" err="1">
                <a:solidFill>
                  <a:srgbClr val="333446"/>
                </a:solidFill>
                <a:latin typeface="Poppins"/>
                <a:ea typeface="Poppins"/>
                <a:cs typeface="Poppins"/>
                <a:sym typeface="Poppins"/>
              </a:rPr>
              <a:t>Aimbot</a:t>
            </a:r>
            <a:r>
              <a:rPr lang="en-US" dirty="0">
                <a:solidFill>
                  <a:srgbClr val="333446"/>
                </a:solidFill>
                <a:latin typeface="Poppins"/>
                <a:ea typeface="Poppins"/>
                <a:cs typeface="Poppins"/>
                <a:sym typeface="Poppins"/>
              </a:rPr>
              <a:t> robot (charged)</a:t>
            </a:r>
          </a:p>
          <a:p>
            <a:pPr marL="0" lvl="0" indent="0" algn="just">
              <a:lnSpc>
                <a:spcPts val="1769"/>
              </a:lnSpc>
              <a:spcBef>
                <a:spcPct val="0"/>
              </a:spcBef>
            </a:pPr>
            <a:r>
              <a:rPr lang="en-US" dirty="0">
                <a:solidFill>
                  <a:srgbClr val="333446"/>
                </a:solidFill>
                <a:latin typeface="Poppins"/>
                <a:ea typeface="Poppins"/>
                <a:cs typeface="Poppins"/>
                <a:sym typeface="Poppins"/>
              </a:rPr>
              <a:t>• Remote controller</a:t>
            </a:r>
          </a:p>
          <a:p>
            <a:pPr marL="0" lvl="0" indent="0" algn="just">
              <a:lnSpc>
                <a:spcPts val="1769"/>
              </a:lnSpc>
              <a:spcBef>
                <a:spcPct val="0"/>
              </a:spcBef>
            </a:pPr>
            <a:r>
              <a:rPr lang="en-US" dirty="0">
                <a:solidFill>
                  <a:srgbClr val="333446"/>
                </a:solidFill>
                <a:latin typeface="Poppins"/>
                <a:ea typeface="Poppins"/>
                <a:cs typeface="Poppins"/>
                <a:sym typeface="Poppins"/>
              </a:rPr>
              <a:t>• Laptop with VEX coding environment</a:t>
            </a:r>
          </a:p>
          <a:p>
            <a:pPr marL="0" lvl="0" indent="0" algn="just">
              <a:lnSpc>
                <a:spcPts val="1769"/>
              </a:lnSpc>
              <a:spcBef>
                <a:spcPct val="0"/>
              </a:spcBef>
            </a:pPr>
            <a:r>
              <a:rPr lang="en-US" dirty="0">
                <a:solidFill>
                  <a:srgbClr val="333446"/>
                </a:solidFill>
                <a:latin typeface="Poppins"/>
                <a:ea typeface="Poppins"/>
                <a:cs typeface="Poppins"/>
                <a:sym typeface="Poppins"/>
              </a:rPr>
              <a:t>• Arena/obstacle course setup</a:t>
            </a:r>
          </a:p>
          <a:p>
            <a:pPr marL="0" lvl="0" indent="0" algn="just">
              <a:lnSpc>
                <a:spcPts val="1769"/>
              </a:lnSpc>
              <a:spcBef>
                <a:spcPct val="0"/>
              </a:spcBef>
            </a:pPr>
            <a:r>
              <a:rPr lang="en-US" dirty="0">
                <a:solidFill>
                  <a:srgbClr val="333446"/>
                </a:solidFill>
                <a:latin typeface="Poppins"/>
                <a:ea typeface="Poppins"/>
                <a:cs typeface="Poppins"/>
                <a:sym typeface="Poppins"/>
              </a:rPr>
              <a:t>• Printed program or cue cards</a:t>
            </a:r>
          </a:p>
          <a:p>
            <a:pPr marL="0" lvl="0" indent="0" algn="just">
              <a:lnSpc>
                <a:spcPts val="1769"/>
              </a:lnSpc>
              <a:spcBef>
                <a:spcPct val="0"/>
              </a:spcBef>
            </a:pPr>
            <a:endParaRPr lang="en-US" dirty="0">
              <a:solidFill>
                <a:srgbClr val="333446"/>
              </a:solidFill>
              <a:latin typeface="Poppins"/>
              <a:ea typeface="Poppins"/>
              <a:cs typeface="Poppins"/>
              <a:sym typeface="Poppins"/>
            </a:endParaRPr>
          </a:p>
          <a:p>
            <a:pPr marL="0" lvl="0" indent="0" algn="just">
              <a:lnSpc>
                <a:spcPts val="1769"/>
              </a:lnSpc>
              <a:spcBef>
                <a:spcPct val="0"/>
              </a:spcBef>
            </a:pPr>
            <a:r>
              <a:rPr lang="en-US" dirty="0">
                <a:solidFill>
                  <a:srgbClr val="333446"/>
                </a:solidFill>
                <a:latin typeface="Poppins"/>
                <a:ea typeface="Poppins"/>
                <a:cs typeface="Poppins"/>
                <a:sym typeface="Poppins"/>
              </a:rPr>
              <a:t>Expected Learning Outcomes:</a:t>
            </a:r>
          </a:p>
          <a:p>
            <a:pPr marL="0" lvl="0" indent="0" algn="just">
              <a:lnSpc>
                <a:spcPts val="1769"/>
              </a:lnSpc>
              <a:spcBef>
                <a:spcPct val="0"/>
              </a:spcBef>
            </a:pPr>
            <a:r>
              <a:rPr lang="en-US" dirty="0">
                <a:solidFill>
                  <a:srgbClr val="333446"/>
                </a:solidFill>
                <a:latin typeface="Poppins"/>
                <a:ea typeface="Poppins"/>
                <a:cs typeface="Poppins"/>
                <a:sym typeface="Poppins"/>
              </a:rPr>
              <a:t>Visitors will understand how students use block code, AI vision, and remote control to program autonomous and manual robot </a:t>
            </a:r>
            <a:r>
              <a:rPr lang="en-US" dirty="0" err="1">
                <a:solidFill>
                  <a:srgbClr val="333446"/>
                </a:solidFill>
                <a:latin typeface="Poppins"/>
                <a:ea typeface="Poppins"/>
                <a:cs typeface="Poppins"/>
                <a:sym typeface="Poppins"/>
              </a:rPr>
              <a:t>behaviours</a:t>
            </a:r>
            <a:r>
              <a:rPr lang="en-US" dirty="0">
                <a:solidFill>
                  <a:srgbClr val="333446"/>
                </a:solidFill>
                <a:latin typeface="Poppins"/>
                <a:ea typeface="Poppins"/>
                <a:cs typeface="Poppins"/>
                <a:sym typeface="Poppins"/>
              </a:rPr>
              <a:t> in real-world challenges.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0" y="3575788"/>
            <a:ext cx="18288000" cy="1465039"/>
          </a:xfrm>
          <a:prstGeom prst="rect">
            <a:avLst/>
          </a:prstGeom>
        </p:spPr>
        <p:txBody>
          <a:bodyPr lIns="0" tIns="0" rIns="0" bIns="0" rtlCol="0" anchor="t">
            <a:spAutoFit/>
          </a:bodyPr>
          <a:lstStyle/>
          <a:p>
            <a:pPr marL="0" lvl="0" indent="0" algn="ctr">
              <a:lnSpc>
                <a:spcPts val="11318"/>
              </a:lnSpc>
              <a:spcBef>
                <a:spcPct val="0"/>
              </a:spcBef>
            </a:pPr>
            <a:r>
              <a:rPr lang="en-US" sz="8084">
                <a:solidFill>
                  <a:srgbClr val="333446"/>
                </a:solidFill>
                <a:latin typeface="Poppins Light"/>
                <a:ea typeface="Poppins Light"/>
                <a:cs typeface="Poppins Light"/>
                <a:sym typeface="Poppins Light"/>
              </a:rPr>
              <a:t>SHOWCASE CODING OPTIONS</a:t>
            </a:r>
          </a:p>
        </p:txBody>
      </p:sp>
      <p:sp>
        <p:nvSpPr>
          <p:cNvPr id="3" name="TextBox 3"/>
          <p:cNvSpPr txBox="1"/>
          <p:nvPr/>
        </p:nvSpPr>
        <p:spPr>
          <a:xfrm>
            <a:off x="1028700" y="5487075"/>
            <a:ext cx="5087534" cy="316890"/>
          </a:xfrm>
          <a:prstGeom prst="rect">
            <a:avLst/>
          </a:prstGeom>
        </p:spPr>
        <p:txBody>
          <a:bodyPr lIns="0" tIns="0" rIns="0" bIns="0" rtlCol="0" anchor="t">
            <a:spAutoFit/>
          </a:bodyPr>
          <a:lstStyle/>
          <a:p>
            <a:pPr marL="0" lvl="0" indent="0" algn="ctr">
              <a:lnSpc>
                <a:spcPts val="2483"/>
              </a:lnSpc>
              <a:spcBef>
                <a:spcPct val="0"/>
              </a:spcBef>
            </a:pPr>
            <a:r>
              <a:rPr lang="en-US" sz="1774" b="1" spc="-35">
                <a:solidFill>
                  <a:srgbClr val="333446"/>
                </a:solidFill>
                <a:latin typeface="Poppins Heavy"/>
                <a:ea typeface="Poppins Heavy"/>
                <a:cs typeface="Poppins Heavy"/>
                <a:sym typeface="Poppins Heavy"/>
              </a:rPr>
              <a:t>REMOTES: MANUAL CONTROL</a:t>
            </a:r>
          </a:p>
        </p:txBody>
      </p:sp>
      <p:sp>
        <p:nvSpPr>
          <p:cNvPr id="4" name="TextBox 4"/>
          <p:cNvSpPr txBox="1"/>
          <p:nvPr/>
        </p:nvSpPr>
        <p:spPr>
          <a:xfrm>
            <a:off x="1164146" y="6036726"/>
            <a:ext cx="4816643" cy="1427199"/>
          </a:xfrm>
          <a:prstGeom prst="rect">
            <a:avLst/>
          </a:prstGeom>
        </p:spPr>
        <p:txBody>
          <a:bodyPr lIns="0" tIns="0" rIns="0" bIns="0" rtlCol="0" anchor="t">
            <a:spAutoFit/>
          </a:bodyPr>
          <a:lstStyle/>
          <a:p>
            <a:pPr marL="0" lvl="0" indent="0" algn="just">
              <a:lnSpc>
                <a:spcPts val="2260"/>
              </a:lnSpc>
              <a:spcBef>
                <a:spcPct val="0"/>
              </a:spcBef>
            </a:pPr>
            <a:r>
              <a:rPr lang="en-US" sz="1614">
                <a:solidFill>
                  <a:srgbClr val="333446"/>
                </a:solidFill>
                <a:latin typeface="Poppins"/>
                <a:ea typeface="Poppins"/>
                <a:cs typeface="Poppins"/>
                <a:sym typeface="Poppins"/>
              </a:rPr>
              <a:t>Use a controller to drive the robot live during the demo. Great for showing visitors how to steer and interact with the robot in real time. Simple, engaging, and easy to explain to parents and guests.</a:t>
            </a:r>
          </a:p>
        </p:txBody>
      </p:sp>
      <p:sp>
        <p:nvSpPr>
          <p:cNvPr id="5" name="TextBox 5"/>
          <p:cNvSpPr txBox="1"/>
          <p:nvPr/>
        </p:nvSpPr>
        <p:spPr>
          <a:xfrm>
            <a:off x="7002720" y="5487075"/>
            <a:ext cx="4554061" cy="316890"/>
          </a:xfrm>
          <a:prstGeom prst="rect">
            <a:avLst/>
          </a:prstGeom>
        </p:spPr>
        <p:txBody>
          <a:bodyPr lIns="0" tIns="0" rIns="0" bIns="0" rtlCol="0" anchor="t">
            <a:spAutoFit/>
          </a:bodyPr>
          <a:lstStyle/>
          <a:p>
            <a:pPr marL="0" lvl="0" indent="0" algn="ctr">
              <a:lnSpc>
                <a:spcPts val="2483"/>
              </a:lnSpc>
              <a:spcBef>
                <a:spcPct val="0"/>
              </a:spcBef>
            </a:pPr>
            <a:r>
              <a:rPr lang="en-US" sz="1774" b="1" spc="-35">
                <a:solidFill>
                  <a:srgbClr val="333446"/>
                </a:solidFill>
                <a:latin typeface="Poppins Heavy"/>
                <a:ea typeface="Poppins Heavy"/>
                <a:cs typeface="Poppins Heavy"/>
                <a:sym typeface="Poppins Heavy"/>
              </a:rPr>
              <a:t>BUTTON CODING: INTERACTIVE TRIGGERS</a:t>
            </a:r>
          </a:p>
        </p:txBody>
      </p:sp>
      <p:sp>
        <p:nvSpPr>
          <p:cNvPr id="6" name="TextBox 6"/>
          <p:cNvSpPr txBox="1"/>
          <p:nvPr/>
        </p:nvSpPr>
        <p:spPr>
          <a:xfrm>
            <a:off x="12543263" y="5487075"/>
            <a:ext cx="4554061" cy="316890"/>
          </a:xfrm>
          <a:prstGeom prst="rect">
            <a:avLst/>
          </a:prstGeom>
        </p:spPr>
        <p:txBody>
          <a:bodyPr lIns="0" tIns="0" rIns="0" bIns="0" rtlCol="0" anchor="t">
            <a:spAutoFit/>
          </a:bodyPr>
          <a:lstStyle/>
          <a:p>
            <a:pPr marL="0" lvl="0" indent="0" algn="ctr">
              <a:lnSpc>
                <a:spcPts val="2483"/>
              </a:lnSpc>
              <a:spcBef>
                <a:spcPct val="0"/>
              </a:spcBef>
            </a:pPr>
            <a:r>
              <a:rPr lang="en-US" sz="1774" b="1" spc="-35">
                <a:solidFill>
                  <a:srgbClr val="333446"/>
                </a:solidFill>
                <a:latin typeface="Poppins Heavy"/>
                <a:ea typeface="Poppins Heavy"/>
                <a:cs typeface="Poppins Heavy"/>
                <a:sym typeface="Poppins Heavy"/>
              </a:rPr>
              <a:t>BLOCK CODE: AUTOMATED SCRIPTS</a:t>
            </a:r>
          </a:p>
        </p:txBody>
      </p:sp>
      <p:sp>
        <p:nvSpPr>
          <p:cNvPr id="7" name="TextBox 7"/>
          <p:cNvSpPr txBox="1"/>
          <p:nvPr/>
        </p:nvSpPr>
        <p:spPr>
          <a:xfrm>
            <a:off x="6871429" y="6036726"/>
            <a:ext cx="4816643" cy="1427199"/>
          </a:xfrm>
          <a:prstGeom prst="rect">
            <a:avLst/>
          </a:prstGeom>
        </p:spPr>
        <p:txBody>
          <a:bodyPr lIns="0" tIns="0" rIns="0" bIns="0" rtlCol="0" anchor="t">
            <a:spAutoFit/>
          </a:bodyPr>
          <a:lstStyle/>
          <a:p>
            <a:pPr marL="0" lvl="0" indent="0" algn="just">
              <a:lnSpc>
                <a:spcPts val="2260"/>
              </a:lnSpc>
              <a:spcBef>
                <a:spcPct val="0"/>
              </a:spcBef>
            </a:pPr>
            <a:r>
              <a:rPr lang="en-US" sz="1614">
                <a:solidFill>
                  <a:srgbClr val="333446"/>
                </a:solidFill>
                <a:latin typeface="Poppins"/>
                <a:ea typeface="Poppins"/>
                <a:cs typeface="Poppins"/>
                <a:sym typeface="Poppins"/>
              </a:rPr>
              <a:t>Program specific buttons to trigger robot actions. Visitors can press a button and watch the robot respond. A great way to show how simple inputs create programmed outputs and introduce coding logic.</a:t>
            </a:r>
          </a:p>
        </p:txBody>
      </p:sp>
      <p:sp>
        <p:nvSpPr>
          <p:cNvPr id="8" name="TextBox 8"/>
          <p:cNvSpPr txBox="1"/>
          <p:nvPr/>
        </p:nvSpPr>
        <p:spPr>
          <a:xfrm>
            <a:off x="12411972" y="6036726"/>
            <a:ext cx="4816643" cy="1427199"/>
          </a:xfrm>
          <a:prstGeom prst="rect">
            <a:avLst/>
          </a:prstGeom>
        </p:spPr>
        <p:txBody>
          <a:bodyPr lIns="0" tIns="0" rIns="0" bIns="0" rtlCol="0" anchor="t">
            <a:spAutoFit/>
          </a:bodyPr>
          <a:lstStyle/>
          <a:p>
            <a:pPr marL="0" lvl="0" indent="0" algn="just">
              <a:lnSpc>
                <a:spcPts val="2260"/>
              </a:lnSpc>
              <a:spcBef>
                <a:spcPct val="0"/>
              </a:spcBef>
            </a:pPr>
            <a:r>
              <a:rPr lang="en-US" sz="1614">
                <a:solidFill>
                  <a:srgbClr val="333446"/>
                </a:solidFill>
                <a:latin typeface="Poppins"/>
                <a:ea typeface="Poppins"/>
                <a:cs typeface="Poppins"/>
                <a:sym typeface="Poppins"/>
              </a:rPr>
              <a:t>Set up a fully automated sequence using block code. The robot runs a pre-programmed routine independently. Ideal for demonstrating autonomous navigation, obstacle avoidance, or cargo transport without manual input.</a:t>
            </a:r>
          </a:p>
        </p:txBody>
      </p:sp>
      <p:grpSp>
        <p:nvGrpSpPr>
          <p:cNvPr id="9" name="Group 9"/>
          <p:cNvGrpSpPr/>
          <p:nvPr/>
        </p:nvGrpSpPr>
        <p:grpSpPr>
          <a:xfrm>
            <a:off x="1028700" y="1028700"/>
            <a:ext cx="16199915" cy="2891208"/>
            <a:chOff x="0" y="0"/>
            <a:chExt cx="1220443" cy="217813"/>
          </a:xfrm>
        </p:grpSpPr>
        <p:sp>
          <p:nvSpPr>
            <p:cNvPr id="10" name="Freeform 10"/>
            <p:cNvSpPr/>
            <p:nvPr/>
          </p:nvSpPr>
          <p:spPr>
            <a:xfrm>
              <a:off x="0" y="0"/>
              <a:ext cx="1220443" cy="217813"/>
            </a:xfrm>
            <a:custGeom>
              <a:avLst/>
              <a:gdLst/>
              <a:ahLst/>
              <a:cxnLst/>
              <a:rect l="l" t="t" r="r" b="b"/>
              <a:pathLst>
                <a:path w="1220443" h="217813">
                  <a:moveTo>
                    <a:pt x="10992" y="0"/>
                  </a:moveTo>
                  <a:lnTo>
                    <a:pt x="1209451" y="0"/>
                  </a:lnTo>
                  <a:cubicBezTo>
                    <a:pt x="1215522" y="0"/>
                    <a:pt x="1220443" y="4921"/>
                    <a:pt x="1220443" y="10992"/>
                  </a:cubicBezTo>
                  <a:lnTo>
                    <a:pt x="1220443" y="206821"/>
                  </a:lnTo>
                  <a:cubicBezTo>
                    <a:pt x="1220443" y="209737"/>
                    <a:pt x="1219285" y="212532"/>
                    <a:pt x="1217223" y="214594"/>
                  </a:cubicBezTo>
                  <a:cubicBezTo>
                    <a:pt x="1215162" y="216655"/>
                    <a:pt x="1212366" y="217813"/>
                    <a:pt x="1209451" y="217813"/>
                  </a:cubicBezTo>
                  <a:lnTo>
                    <a:pt x="10992" y="217813"/>
                  </a:lnTo>
                  <a:cubicBezTo>
                    <a:pt x="8076" y="217813"/>
                    <a:pt x="5281" y="216655"/>
                    <a:pt x="3219" y="214594"/>
                  </a:cubicBezTo>
                  <a:cubicBezTo>
                    <a:pt x="1158" y="212532"/>
                    <a:pt x="0" y="209737"/>
                    <a:pt x="0" y="206821"/>
                  </a:cubicBezTo>
                  <a:lnTo>
                    <a:pt x="0" y="10992"/>
                  </a:lnTo>
                  <a:cubicBezTo>
                    <a:pt x="0" y="8076"/>
                    <a:pt x="1158" y="5281"/>
                    <a:pt x="3219" y="3219"/>
                  </a:cubicBezTo>
                  <a:cubicBezTo>
                    <a:pt x="5281" y="1158"/>
                    <a:pt x="8076" y="0"/>
                    <a:pt x="10992" y="0"/>
                  </a:cubicBezTo>
                  <a:close/>
                </a:path>
              </a:pathLst>
            </a:custGeom>
            <a:blipFill>
              <a:blip r:embed="rId2"/>
              <a:stretch>
                <a:fillRect t="-109690" b="-109690"/>
              </a:stretch>
            </a:blipFill>
          </p:spPr>
          <p:txBody>
            <a:bodyPr/>
            <a:lstStyle/>
            <a:p>
              <a:endParaRPr lang="en-AU"/>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579692" y="3737961"/>
            <a:ext cx="16697624" cy="2939415"/>
          </a:xfrm>
          <a:prstGeom prst="rect">
            <a:avLst/>
          </a:prstGeom>
        </p:spPr>
        <p:txBody>
          <a:bodyPr lIns="0" tIns="0" rIns="0" bIns="0" rtlCol="0" anchor="t">
            <a:spAutoFit/>
          </a:bodyPr>
          <a:lstStyle/>
          <a:p>
            <a:pPr marL="0" lvl="0" indent="0" algn="just">
              <a:lnSpc>
                <a:spcPts val="3359"/>
              </a:lnSpc>
            </a:pPr>
            <a:r>
              <a:rPr lang="en-US" sz="2400">
                <a:solidFill>
                  <a:srgbClr val="333446"/>
                </a:solidFill>
                <a:latin typeface="Poppins"/>
                <a:ea typeface="Poppins"/>
                <a:cs typeface="Poppins"/>
                <a:sym typeface="Poppins"/>
              </a:rPr>
              <a:t>🏆 My biggest achievement:</a:t>
            </a:r>
          </a:p>
          <a:p>
            <a:pPr marL="0" lvl="0" indent="0" algn="just">
              <a:lnSpc>
                <a:spcPts val="3359"/>
              </a:lnSpc>
            </a:pPr>
            <a:endParaRPr lang="en-US" sz="2400">
              <a:solidFill>
                <a:srgbClr val="333446"/>
              </a:solidFill>
              <a:latin typeface="Poppins"/>
              <a:ea typeface="Poppins"/>
              <a:cs typeface="Poppins"/>
              <a:sym typeface="Poppins"/>
            </a:endParaRPr>
          </a:p>
          <a:p>
            <a:pPr marL="0" lvl="0" indent="0" algn="just">
              <a:lnSpc>
                <a:spcPts val="3359"/>
              </a:lnSpc>
            </a:pPr>
            <a:r>
              <a:rPr lang="en-US" sz="2400">
                <a:solidFill>
                  <a:srgbClr val="333446"/>
                </a:solidFill>
                <a:latin typeface="Poppins"/>
                <a:ea typeface="Poppins"/>
                <a:cs typeface="Poppins"/>
                <a:sym typeface="Poppins"/>
              </a:rPr>
              <a:t>💡 Challenges I overcame:</a:t>
            </a:r>
          </a:p>
          <a:p>
            <a:pPr marL="0" lvl="0" indent="0" algn="just">
              <a:lnSpc>
                <a:spcPts val="3359"/>
              </a:lnSpc>
            </a:pPr>
            <a:endParaRPr lang="en-US" sz="2400">
              <a:solidFill>
                <a:srgbClr val="333446"/>
              </a:solidFill>
              <a:latin typeface="Poppins"/>
              <a:ea typeface="Poppins"/>
              <a:cs typeface="Poppins"/>
              <a:sym typeface="Poppins"/>
            </a:endParaRPr>
          </a:p>
          <a:p>
            <a:pPr marL="0" lvl="0" indent="0" algn="just">
              <a:lnSpc>
                <a:spcPts val="3359"/>
              </a:lnSpc>
            </a:pPr>
            <a:r>
              <a:rPr lang="en-US" sz="2400">
                <a:solidFill>
                  <a:srgbClr val="333446"/>
                </a:solidFill>
                <a:latin typeface="Poppins"/>
                <a:ea typeface="Poppins"/>
                <a:cs typeface="Poppins"/>
                <a:sym typeface="Poppins"/>
              </a:rPr>
              <a:t>🤖 How my understanding improved:</a:t>
            </a:r>
          </a:p>
          <a:p>
            <a:pPr marL="0" lvl="0" indent="0" algn="just">
              <a:lnSpc>
                <a:spcPts val="3359"/>
              </a:lnSpc>
            </a:pPr>
            <a:endParaRPr lang="en-US" sz="2400">
              <a:solidFill>
                <a:srgbClr val="333446"/>
              </a:solidFill>
              <a:latin typeface="Poppins"/>
              <a:ea typeface="Poppins"/>
              <a:cs typeface="Poppins"/>
              <a:sym typeface="Poppins"/>
            </a:endParaRPr>
          </a:p>
          <a:p>
            <a:pPr marL="0" lvl="0" indent="0" algn="just">
              <a:lnSpc>
                <a:spcPts val="3359"/>
              </a:lnSpc>
            </a:pPr>
            <a:r>
              <a:rPr lang="en-US" sz="2400">
                <a:solidFill>
                  <a:srgbClr val="333446"/>
                </a:solidFill>
                <a:latin typeface="Poppins"/>
                <a:ea typeface="Poppins"/>
                <a:cs typeface="Poppins"/>
                <a:sym typeface="Poppins"/>
              </a:rPr>
              <a:t>🚀 Skills I'll take forward:</a:t>
            </a:r>
          </a:p>
        </p:txBody>
      </p:sp>
      <p:sp>
        <p:nvSpPr>
          <p:cNvPr id="3" name="TextBox 3"/>
          <p:cNvSpPr txBox="1"/>
          <p:nvPr/>
        </p:nvSpPr>
        <p:spPr>
          <a:xfrm>
            <a:off x="0" y="-247650"/>
            <a:ext cx="13423108" cy="1566187"/>
          </a:xfrm>
          <a:prstGeom prst="rect">
            <a:avLst/>
          </a:prstGeom>
        </p:spPr>
        <p:txBody>
          <a:bodyPr lIns="0" tIns="0" rIns="0" bIns="0" rtlCol="0" anchor="t">
            <a:spAutoFit/>
          </a:bodyPr>
          <a:lstStyle/>
          <a:p>
            <a:pPr marL="0" lvl="0" indent="0" algn="r">
              <a:lnSpc>
                <a:spcPts val="12118"/>
              </a:lnSpc>
              <a:spcBef>
                <a:spcPct val="0"/>
              </a:spcBef>
            </a:pPr>
            <a:r>
              <a:rPr lang="en-US" sz="8656">
                <a:solidFill>
                  <a:srgbClr val="333446"/>
                </a:solidFill>
                <a:latin typeface="Poppins Light"/>
                <a:ea typeface="Poppins Light"/>
                <a:cs typeface="Poppins Light"/>
                <a:sym typeface="Poppins Light"/>
              </a:rPr>
              <a:t>OVERALL UNIT REFLECTION</a:t>
            </a:r>
          </a:p>
        </p:txBody>
      </p:sp>
      <p:sp>
        <p:nvSpPr>
          <p:cNvPr id="4" name="TextBox 4"/>
          <p:cNvSpPr txBox="1"/>
          <p:nvPr/>
        </p:nvSpPr>
        <p:spPr>
          <a:xfrm>
            <a:off x="710215" y="2611497"/>
            <a:ext cx="4358828" cy="516864"/>
          </a:xfrm>
          <a:prstGeom prst="rect">
            <a:avLst/>
          </a:prstGeom>
        </p:spPr>
        <p:txBody>
          <a:bodyPr lIns="0" tIns="0" rIns="0" bIns="0" rtlCol="0" anchor="t">
            <a:spAutoFit/>
          </a:bodyPr>
          <a:lstStyle/>
          <a:p>
            <a:pPr marL="0" lvl="0" indent="0" algn="l">
              <a:lnSpc>
                <a:spcPts val="4061"/>
              </a:lnSpc>
              <a:spcBef>
                <a:spcPct val="0"/>
              </a:spcBef>
            </a:pPr>
            <a:r>
              <a:rPr lang="en-US" sz="2901" b="1" spc="-58">
                <a:solidFill>
                  <a:srgbClr val="333446"/>
                </a:solidFill>
                <a:latin typeface="Poppins Bold"/>
                <a:ea typeface="Poppins Bold"/>
                <a:cs typeface="Poppins Bold"/>
                <a:sym typeface="Poppins Bold"/>
              </a:rPr>
              <a:t>MY LEARNING SUMMARY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3717172" y="1028700"/>
            <a:ext cx="11946717" cy="8229600"/>
          </a:xfrm>
          <a:custGeom>
            <a:avLst/>
            <a:gdLst/>
            <a:ahLst/>
            <a:cxnLst/>
            <a:rect l="l" t="t" r="r" b="b"/>
            <a:pathLst>
              <a:path w="11946717" h="8229600">
                <a:moveTo>
                  <a:pt x="0" y="0"/>
                </a:moveTo>
                <a:lnTo>
                  <a:pt x="11946717" y="0"/>
                </a:lnTo>
                <a:lnTo>
                  <a:pt x="11946717" y="8229600"/>
                </a:lnTo>
                <a:lnTo>
                  <a:pt x="0" y="8229600"/>
                </a:lnTo>
                <a:lnTo>
                  <a:pt x="0" y="0"/>
                </a:lnTo>
                <a:close/>
              </a:path>
            </a:pathLst>
          </a:custGeom>
          <a:blipFill>
            <a:blip r:embed="rId2"/>
            <a:stretch>
              <a:fillRect/>
            </a:stretch>
          </a:blipFill>
        </p:spPr>
        <p:txBody>
          <a:bodyPr/>
          <a:lstStyle/>
          <a:p>
            <a:endParaRPr lang="en-AU"/>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75A5B51-0925-4835-8511-A0DD17EAA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342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F440C7E-5A9F-863B-B908-4A7F8AB88BCE}"/>
              </a:ext>
            </a:extLst>
          </p:cNvPr>
          <p:cNvSpPr txBox="1"/>
          <p:nvPr/>
        </p:nvSpPr>
        <p:spPr>
          <a:xfrm>
            <a:off x="918972" y="547687"/>
            <a:ext cx="7942522" cy="309571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8100">
                <a:latin typeface="+mj-lt"/>
                <a:ea typeface="+mj-ea"/>
                <a:cs typeface="+mj-cs"/>
              </a:rPr>
              <a:t>Medi-bot Challenge</a:t>
            </a:r>
          </a:p>
        </p:txBody>
      </p:sp>
      <p:sp>
        <p:nvSpPr>
          <p:cNvPr id="16" name="Sketch line">
            <a:extLst>
              <a:ext uri="{FF2B5EF4-FFF2-40B4-BE49-F238E27FC236}">
                <a16:creationId xmlns:a16="http://schemas.microsoft.com/office/drawing/2014/main" id="{5CDFD20D-8E4F-4E3A-AF87-93F23E0D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7300" y="3975271"/>
            <a:ext cx="6515100" cy="27432"/>
          </a:xfrm>
          <a:custGeom>
            <a:avLst/>
            <a:gdLst>
              <a:gd name="csX0" fmla="*/ 0 w 6515100"/>
              <a:gd name="csY0" fmla="*/ 0 h 27432"/>
              <a:gd name="csX1" fmla="*/ 651510 w 6515100"/>
              <a:gd name="csY1" fmla="*/ 0 h 27432"/>
              <a:gd name="csX2" fmla="*/ 1303020 w 6515100"/>
              <a:gd name="csY2" fmla="*/ 0 h 27432"/>
              <a:gd name="csX3" fmla="*/ 1954530 w 6515100"/>
              <a:gd name="csY3" fmla="*/ 0 h 27432"/>
              <a:gd name="csX4" fmla="*/ 2736342 w 6515100"/>
              <a:gd name="csY4" fmla="*/ 0 h 27432"/>
              <a:gd name="csX5" fmla="*/ 3453003 w 6515100"/>
              <a:gd name="csY5" fmla="*/ 0 h 27432"/>
              <a:gd name="csX6" fmla="*/ 3909060 w 6515100"/>
              <a:gd name="csY6" fmla="*/ 0 h 27432"/>
              <a:gd name="csX7" fmla="*/ 4495419 w 6515100"/>
              <a:gd name="csY7" fmla="*/ 0 h 27432"/>
              <a:gd name="csX8" fmla="*/ 5277231 w 6515100"/>
              <a:gd name="csY8" fmla="*/ 0 h 27432"/>
              <a:gd name="csX9" fmla="*/ 5928741 w 6515100"/>
              <a:gd name="csY9" fmla="*/ 0 h 27432"/>
              <a:gd name="csX10" fmla="*/ 6515100 w 6515100"/>
              <a:gd name="csY10" fmla="*/ 0 h 27432"/>
              <a:gd name="csX11" fmla="*/ 6515100 w 6515100"/>
              <a:gd name="csY11" fmla="*/ 27432 h 27432"/>
              <a:gd name="csX12" fmla="*/ 5993892 w 6515100"/>
              <a:gd name="csY12" fmla="*/ 27432 h 27432"/>
              <a:gd name="csX13" fmla="*/ 5212080 w 6515100"/>
              <a:gd name="csY13" fmla="*/ 27432 h 27432"/>
              <a:gd name="csX14" fmla="*/ 4690872 w 6515100"/>
              <a:gd name="csY14" fmla="*/ 27432 h 27432"/>
              <a:gd name="csX15" fmla="*/ 4234815 w 6515100"/>
              <a:gd name="csY15" fmla="*/ 27432 h 27432"/>
              <a:gd name="csX16" fmla="*/ 3778758 w 6515100"/>
              <a:gd name="csY16" fmla="*/ 27432 h 27432"/>
              <a:gd name="csX17" fmla="*/ 3062097 w 6515100"/>
              <a:gd name="csY17" fmla="*/ 27432 h 27432"/>
              <a:gd name="csX18" fmla="*/ 2606040 w 6515100"/>
              <a:gd name="csY18" fmla="*/ 27432 h 27432"/>
              <a:gd name="csX19" fmla="*/ 1954530 w 6515100"/>
              <a:gd name="csY19" fmla="*/ 27432 h 27432"/>
              <a:gd name="csX20" fmla="*/ 1433322 w 6515100"/>
              <a:gd name="csY20" fmla="*/ 27432 h 27432"/>
              <a:gd name="csX21" fmla="*/ 781812 w 6515100"/>
              <a:gd name="csY21" fmla="*/ 27432 h 27432"/>
              <a:gd name="csX22" fmla="*/ 0 w 6515100"/>
              <a:gd name="csY22" fmla="*/ 27432 h 27432"/>
              <a:gd name="csX23" fmla="*/ 0 w 6515100"/>
              <a:gd name="csY23"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6515100" h="27432" fill="none" extrusionOk="0">
                <a:moveTo>
                  <a:pt x="0" y="0"/>
                </a:moveTo>
                <a:cubicBezTo>
                  <a:pt x="166325" y="-5749"/>
                  <a:pt x="479153" y="-30341"/>
                  <a:pt x="651510" y="0"/>
                </a:cubicBezTo>
                <a:cubicBezTo>
                  <a:pt x="823867" y="30341"/>
                  <a:pt x="1089927" y="17090"/>
                  <a:pt x="1303020" y="0"/>
                </a:cubicBezTo>
                <a:cubicBezTo>
                  <a:pt x="1516113" y="-17090"/>
                  <a:pt x="1647249" y="17285"/>
                  <a:pt x="1954530" y="0"/>
                </a:cubicBezTo>
                <a:cubicBezTo>
                  <a:pt x="2261811" y="-17285"/>
                  <a:pt x="2556150" y="7492"/>
                  <a:pt x="2736342" y="0"/>
                </a:cubicBezTo>
                <a:cubicBezTo>
                  <a:pt x="2916534" y="-7492"/>
                  <a:pt x="3255362" y="4899"/>
                  <a:pt x="3453003" y="0"/>
                </a:cubicBezTo>
                <a:cubicBezTo>
                  <a:pt x="3650644" y="-4899"/>
                  <a:pt x="3707830" y="-10542"/>
                  <a:pt x="3909060" y="0"/>
                </a:cubicBezTo>
                <a:cubicBezTo>
                  <a:pt x="4110290" y="10542"/>
                  <a:pt x="4298105" y="-14723"/>
                  <a:pt x="4495419" y="0"/>
                </a:cubicBezTo>
                <a:cubicBezTo>
                  <a:pt x="4692733" y="14723"/>
                  <a:pt x="5062614" y="17869"/>
                  <a:pt x="5277231" y="0"/>
                </a:cubicBezTo>
                <a:cubicBezTo>
                  <a:pt x="5491848" y="-17869"/>
                  <a:pt x="5741638" y="17967"/>
                  <a:pt x="5928741" y="0"/>
                </a:cubicBezTo>
                <a:cubicBezTo>
                  <a:pt x="6115844" y="-17967"/>
                  <a:pt x="6302591" y="17820"/>
                  <a:pt x="6515100" y="0"/>
                </a:cubicBezTo>
                <a:cubicBezTo>
                  <a:pt x="6514842" y="7487"/>
                  <a:pt x="6514179" y="19984"/>
                  <a:pt x="6515100" y="27432"/>
                </a:cubicBezTo>
                <a:cubicBezTo>
                  <a:pt x="6291717" y="37419"/>
                  <a:pt x="6188280" y="4506"/>
                  <a:pt x="5993892" y="27432"/>
                </a:cubicBezTo>
                <a:cubicBezTo>
                  <a:pt x="5799504" y="50358"/>
                  <a:pt x="5467966" y="44311"/>
                  <a:pt x="5212080" y="27432"/>
                </a:cubicBezTo>
                <a:cubicBezTo>
                  <a:pt x="4956194" y="10553"/>
                  <a:pt x="4907171" y="17487"/>
                  <a:pt x="4690872" y="27432"/>
                </a:cubicBezTo>
                <a:cubicBezTo>
                  <a:pt x="4474573" y="37377"/>
                  <a:pt x="4446118" y="24926"/>
                  <a:pt x="4234815" y="27432"/>
                </a:cubicBezTo>
                <a:cubicBezTo>
                  <a:pt x="4023512" y="29938"/>
                  <a:pt x="3990422" y="31456"/>
                  <a:pt x="3778758" y="27432"/>
                </a:cubicBezTo>
                <a:cubicBezTo>
                  <a:pt x="3567094" y="23408"/>
                  <a:pt x="3235052" y="24901"/>
                  <a:pt x="3062097" y="27432"/>
                </a:cubicBezTo>
                <a:cubicBezTo>
                  <a:pt x="2889142" y="29963"/>
                  <a:pt x="2755311" y="35048"/>
                  <a:pt x="2606040" y="27432"/>
                </a:cubicBezTo>
                <a:cubicBezTo>
                  <a:pt x="2456769" y="19816"/>
                  <a:pt x="2116876" y="43674"/>
                  <a:pt x="1954530" y="27432"/>
                </a:cubicBezTo>
                <a:cubicBezTo>
                  <a:pt x="1792184" y="11191"/>
                  <a:pt x="1635797" y="1960"/>
                  <a:pt x="1433322" y="27432"/>
                </a:cubicBezTo>
                <a:cubicBezTo>
                  <a:pt x="1230847" y="52904"/>
                  <a:pt x="1064298" y="9563"/>
                  <a:pt x="781812" y="27432"/>
                </a:cubicBezTo>
                <a:cubicBezTo>
                  <a:pt x="499326" y="45302"/>
                  <a:pt x="379143" y="59429"/>
                  <a:pt x="0" y="27432"/>
                </a:cubicBezTo>
                <a:cubicBezTo>
                  <a:pt x="-14" y="18173"/>
                  <a:pt x="-517" y="8990"/>
                  <a:pt x="0" y="0"/>
                </a:cubicBezTo>
                <a:close/>
              </a:path>
              <a:path w="6515100" h="27432" stroke="0" extrusionOk="0">
                <a:moveTo>
                  <a:pt x="0" y="0"/>
                </a:moveTo>
                <a:cubicBezTo>
                  <a:pt x="145508" y="-16165"/>
                  <a:pt x="455060" y="24821"/>
                  <a:pt x="586359" y="0"/>
                </a:cubicBezTo>
                <a:cubicBezTo>
                  <a:pt x="717658" y="-24821"/>
                  <a:pt x="818481" y="1436"/>
                  <a:pt x="1042416" y="0"/>
                </a:cubicBezTo>
                <a:cubicBezTo>
                  <a:pt x="1266351" y="-1436"/>
                  <a:pt x="1510662" y="-19098"/>
                  <a:pt x="1824228" y="0"/>
                </a:cubicBezTo>
                <a:cubicBezTo>
                  <a:pt x="2137794" y="19098"/>
                  <a:pt x="2209508" y="-11239"/>
                  <a:pt x="2410587" y="0"/>
                </a:cubicBezTo>
                <a:cubicBezTo>
                  <a:pt x="2611666" y="11239"/>
                  <a:pt x="2755374" y="20903"/>
                  <a:pt x="2996946" y="0"/>
                </a:cubicBezTo>
                <a:cubicBezTo>
                  <a:pt x="3238518" y="-20903"/>
                  <a:pt x="3396366" y="21066"/>
                  <a:pt x="3778758" y="0"/>
                </a:cubicBezTo>
                <a:cubicBezTo>
                  <a:pt x="4161150" y="-21066"/>
                  <a:pt x="4160489" y="-4131"/>
                  <a:pt x="4299966" y="0"/>
                </a:cubicBezTo>
                <a:cubicBezTo>
                  <a:pt x="4439443" y="4131"/>
                  <a:pt x="4829495" y="24889"/>
                  <a:pt x="5081778" y="0"/>
                </a:cubicBezTo>
                <a:cubicBezTo>
                  <a:pt x="5334061" y="-24889"/>
                  <a:pt x="5692112" y="31086"/>
                  <a:pt x="5863590" y="0"/>
                </a:cubicBezTo>
                <a:cubicBezTo>
                  <a:pt x="6035068" y="-31086"/>
                  <a:pt x="6355549" y="-19657"/>
                  <a:pt x="6515100" y="0"/>
                </a:cubicBezTo>
                <a:cubicBezTo>
                  <a:pt x="6514269" y="6329"/>
                  <a:pt x="6515504" y="16858"/>
                  <a:pt x="6515100" y="27432"/>
                </a:cubicBezTo>
                <a:cubicBezTo>
                  <a:pt x="6311868" y="940"/>
                  <a:pt x="6083793" y="16016"/>
                  <a:pt x="5798439" y="27432"/>
                </a:cubicBezTo>
                <a:cubicBezTo>
                  <a:pt x="5513085" y="38848"/>
                  <a:pt x="5362223" y="-5421"/>
                  <a:pt x="5016627" y="27432"/>
                </a:cubicBezTo>
                <a:cubicBezTo>
                  <a:pt x="4671031" y="60285"/>
                  <a:pt x="4447302" y="-4000"/>
                  <a:pt x="4234815" y="27432"/>
                </a:cubicBezTo>
                <a:cubicBezTo>
                  <a:pt x="4022328" y="58864"/>
                  <a:pt x="3971531" y="48578"/>
                  <a:pt x="3713607" y="27432"/>
                </a:cubicBezTo>
                <a:cubicBezTo>
                  <a:pt x="3455683" y="6286"/>
                  <a:pt x="3218262" y="57740"/>
                  <a:pt x="3062097" y="27432"/>
                </a:cubicBezTo>
                <a:cubicBezTo>
                  <a:pt x="2905932" y="-2876"/>
                  <a:pt x="2552648" y="49637"/>
                  <a:pt x="2280285" y="27432"/>
                </a:cubicBezTo>
                <a:cubicBezTo>
                  <a:pt x="2007922" y="5227"/>
                  <a:pt x="1946224" y="14594"/>
                  <a:pt x="1628775" y="27432"/>
                </a:cubicBezTo>
                <a:cubicBezTo>
                  <a:pt x="1311326" y="40271"/>
                  <a:pt x="1267680" y="23624"/>
                  <a:pt x="1172718" y="27432"/>
                </a:cubicBezTo>
                <a:cubicBezTo>
                  <a:pt x="1077756" y="31240"/>
                  <a:pt x="863409" y="30220"/>
                  <a:pt x="651510" y="27432"/>
                </a:cubicBezTo>
                <a:cubicBezTo>
                  <a:pt x="439611" y="24644"/>
                  <a:pt x="324781" y="35805"/>
                  <a:pt x="0" y="27432"/>
                </a:cubicBezTo>
                <a:cubicBezTo>
                  <a:pt x="-177" y="19307"/>
                  <a:pt x="-1145" y="917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372984D-25B5-4B49-BF8B-398EEF4DBF91}"/>
              </a:ext>
            </a:extLst>
          </p:cNvPr>
          <p:cNvSpPr txBox="1"/>
          <p:nvPr/>
        </p:nvSpPr>
        <p:spPr>
          <a:xfrm>
            <a:off x="918972" y="4362007"/>
            <a:ext cx="7942522" cy="4903436"/>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3300"/>
              <a:t>Reflection: The coding wasn't too difficult. The hardest part was finding exact measurements and dealing with a faulty inertia sensor.  </a:t>
            </a:r>
          </a:p>
          <a:p>
            <a:pPr indent="-228600">
              <a:lnSpc>
                <a:spcPct val="90000"/>
              </a:lnSpc>
              <a:spcAft>
                <a:spcPts val="600"/>
              </a:spcAft>
              <a:buFont typeface="Arial" panose="020B0604020202020204" pitchFamily="34" charset="0"/>
              <a:buChar char="•"/>
            </a:pPr>
            <a:r>
              <a:rPr lang="en-US" sz="3300"/>
              <a:t>This was a fun challenge but brings up whether or not robots in medicine is ethical. </a:t>
            </a:r>
          </a:p>
        </p:txBody>
      </p:sp>
      <p:pic>
        <p:nvPicPr>
          <p:cNvPr id="5" name="Picture 4">
            <a:extLst>
              <a:ext uri="{FF2B5EF4-FFF2-40B4-BE49-F238E27FC236}">
                <a16:creationId xmlns:a16="http://schemas.microsoft.com/office/drawing/2014/main" id="{5712B8E6-0368-9BE4-2A76-485A1D2ECA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6433" y="543576"/>
            <a:ext cx="2141731" cy="4326732"/>
          </a:xfrm>
          <a:prstGeom prst="rect">
            <a:avLst/>
          </a:prstGeom>
        </p:spPr>
      </p:pic>
      <p:pic>
        <p:nvPicPr>
          <p:cNvPr id="3" name="Picture 2">
            <a:extLst>
              <a:ext uri="{FF2B5EF4-FFF2-40B4-BE49-F238E27FC236}">
                <a16:creationId xmlns:a16="http://schemas.microsoft.com/office/drawing/2014/main" id="{183AE8C9-FBDF-D5D6-16BF-8F2A1214CB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691287" y="543574"/>
            <a:ext cx="2195817" cy="4326734"/>
          </a:xfrm>
          <a:prstGeom prst="rect">
            <a:avLst/>
          </a:prstGeom>
        </p:spPr>
      </p:pic>
      <p:pic>
        <p:nvPicPr>
          <p:cNvPr id="8" name="Medibot">
            <a:hlinkClick r:id="" action="ppaction://media"/>
            <a:extLst>
              <a:ext uri="{FF2B5EF4-FFF2-40B4-BE49-F238E27FC236}">
                <a16:creationId xmlns:a16="http://schemas.microsoft.com/office/drawing/2014/main" id="{09C6E910-01DD-6C6C-6D8B-7D82ACD3033F}"/>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0577567" y="5139387"/>
            <a:ext cx="6181359" cy="4126057"/>
          </a:xfrm>
          <a:prstGeom prst="rect">
            <a:avLst/>
          </a:prstGeom>
        </p:spPr>
      </p:pic>
    </p:spTree>
    <p:extLst>
      <p:ext uri="{BB962C8B-B14F-4D97-AF65-F5344CB8AC3E}">
        <p14:creationId xmlns:p14="http://schemas.microsoft.com/office/powerpoint/2010/main" val="2505960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546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TotalTime>
  <Words>1475</Words>
  <Application>Microsoft Office PowerPoint</Application>
  <PresentationFormat>Custom</PresentationFormat>
  <Paragraphs>170</Paragraphs>
  <Slides>19</Slides>
  <Notes>0</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Poppins</vt:lpstr>
      <vt:lpstr>Poppins Bold</vt:lpstr>
      <vt:lpstr>Poppins Ultra-Bold</vt:lpstr>
      <vt:lpstr>Arial</vt:lpstr>
      <vt:lpstr>Calibri</vt:lpstr>
      <vt:lpstr>Poppins Light</vt:lpstr>
      <vt:lpstr>Poppins Heavy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Year 9 STEM Digital Portfolio: VEX Aimbots Unit</dc:title>
  <cp:lastModifiedBy>Noah Brown</cp:lastModifiedBy>
  <cp:revision>3</cp:revision>
  <dcterms:created xsi:type="dcterms:W3CDTF">2006-08-16T00:00:00Z</dcterms:created>
  <dcterms:modified xsi:type="dcterms:W3CDTF">2026-10-21T02:35:12Z</dcterms:modified>
  <dc:identifier>DAHMCSqlsy4</dc:identifier>
</cp:coreProperties>
</file>