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8288000" cy="10287000"/>
  <p:notesSz cx="6858000" cy="9144000"/>
  <p:embeddedFontLst>
    <p:embeddedFont>
      <p:font typeface="Poppins" panose="00000500000000000000" pitchFamily="2" charset="0"/>
      <p:regular r:id="rId20"/>
    </p:embeddedFont>
    <p:embeddedFont>
      <p:font typeface="Poppins Bold" panose="020B0604020202020204" charset="0"/>
      <p:regular r:id="rId21"/>
    </p:embeddedFont>
    <p:embeddedFont>
      <p:font typeface="Poppins Heavy" panose="020B0604020202020204" charset="0"/>
      <p:regular r:id="rId22"/>
    </p:embeddedFont>
    <p:embeddedFont>
      <p:font typeface="Poppins Light" panose="00000400000000000000" pitchFamily="2" charset="0"/>
      <p:regular r:id="rId23"/>
    </p:embeddedFont>
    <p:embeddedFont>
      <p:font typeface="Poppins Ultra-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59859E-511E-4015-9C5C-90A1B1EC3F5E}" v="14" dt="2026-06-09T04:02:40.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38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ce Hall" userId="47f01ee862f35a33" providerId="LiveId" clId="{772E8711-C5B1-4B36-A581-7E98DC18C4FA}"/>
    <pc:docChg chg="undo custSel addSld delSld modSld">
      <pc:chgData name="Grace Hall" userId="47f01ee862f35a33" providerId="LiveId" clId="{772E8711-C5B1-4B36-A581-7E98DC18C4FA}" dt="2026-06-09T04:11:48.467" v="761" actId="14100"/>
      <pc:docMkLst>
        <pc:docMk/>
      </pc:docMkLst>
      <pc:sldChg chg="modSp mod">
        <pc:chgData name="Grace Hall" userId="47f01ee862f35a33" providerId="LiveId" clId="{772E8711-C5B1-4B36-A581-7E98DC18C4FA}" dt="2026-06-09T03:36:42.830" v="30" actId="20577"/>
        <pc:sldMkLst>
          <pc:docMk/>
          <pc:sldMk cId="0" sldId="256"/>
        </pc:sldMkLst>
        <pc:spChg chg="mod">
          <ac:chgData name="Grace Hall" userId="47f01ee862f35a33" providerId="LiveId" clId="{772E8711-C5B1-4B36-A581-7E98DC18C4FA}" dt="2026-06-09T03:36:42.830" v="30" actId="20577"/>
          <ac:spMkLst>
            <pc:docMk/>
            <pc:sldMk cId="0" sldId="256"/>
            <ac:spMk id="6" creationId="{00000000-0000-0000-0000-000000000000}"/>
          </ac:spMkLst>
        </pc:spChg>
      </pc:sldChg>
      <pc:sldChg chg="addSp modSp mod">
        <pc:chgData name="Grace Hall" userId="47f01ee862f35a33" providerId="LiveId" clId="{772E8711-C5B1-4B36-A581-7E98DC18C4FA}" dt="2026-06-09T03:40:11.904" v="197" actId="20577"/>
        <pc:sldMkLst>
          <pc:docMk/>
          <pc:sldMk cId="0" sldId="257"/>
        </pc:sldMkLst>
        <pc:spChg chg="mod">
          <ac:chgData name="Grace Hall" userId="47f01ee862f35a33" providerId="LiveId" clId="{772E8711-C5B1-4B36-A581-7E98DC18C4FA}" dt="2026-06-09T03:38:15.645" v="35" actId="20577"/>
          <ac:spMkLst>
            <pc:docMk/>
            <pc:sldMk cId="0" sldId="257"/>
            <ac:spMk id="4" creationId="{00000000-0000-0000-0000-000000000000}"/>
          </ac:spMkLst>
        </pc:spChg>
        <pc:spChg chg="add mod">
          <ac:chgData name="Grace Hall" userId="47f01ee862f35a33" providerId="LiveId" clId="{772E8711-C5B1-4B36-A581-7E98DC18C4FA}" dt="2026-06-09T03:40:11.904" v="197" actId="20577"/>
          <ac:spMkLst>
            <pc:docMk/>
            <pc:sldMk cId="0" sldId="257"/>
            <ac:spMk id="5" creationId="{4970D774-E953-767F-C66C-42E2D7362F06}"/>
          </ac:spMkLst>
        </pc:spChg>
      </pc:sldChg>
      <pc:sldChg chg="addSp modSp mod">
        <pc:chgData name="Grace Hall" userId="47f01ee862f35a33" providerId="LiveId" clId="{772E8711-C5B1-4B36-A581-7E98DC18C4FA}" dt="2026-06-09T03:43:11.073" v="427" actId="20577"/>
        <pc:sldMkLst>
          <pc:docMk/>
          <pc:sldMk cId="0" sldId="258"/>
        </pc:sldMkLst>
        <pc:spChg chg="add mod">
          <ac:chgData name="Grace Hall" userId="47f01ee862f35a33" providerId="LiveId" clId="{772E8711-C5B1-4B36-A581-7E98DC18C4FA}" dt="2026-06-09T03:43:11.073" v="427" actId="20577"/>
          <ac:spMkLst>
            <pc:docMk/>
            <pc:sldMk cId="0" sldId="258"/>
            <ac:spMk id="6" creationId="{EFA46FE7-DDFA-465A-D806-DFF559F2D477}"/>
          </ac:spMkLst>
        </pc:spChg>
      </pc:sldChg>
      <pc:sldChg chg="addSp delSp modSp mod">
        <pc:chgData name="Grace Hall" userId="47f01ee862f35a33" providerId="LiveId" clId="{772E8711-C5B1-4B36-A581-7E98DC18C4FA}" dt="2026-06-09T04:11:48.467" v="761" actId="14100"/>
        <pc:sldMkLst>
          <pc:docMk/>
          <pc:sldMk cId="0" sldId="260"/>
        </pc:sldMkLst>
        <pc:spChg chg="mod">
          <ac:chgData name="Grace Hall" userId="47f01ee862f35a33" providerId="LiveId" clId="{772E8711-C5B1-4B36-A581-7E98DC18C4FA}" dt="2026-06-09T04:11:48.467" v="761" actId="14100"/>
          <ac:spMkLst>
            <pc:docMk/>
            <pc:sldMk cId="0" sldId="260"/>
            <ac:spMk id="4" creationId="{00000000-0000-0000-0000-000000000000}"/>
          </ac:spMkLst>
        </pc:spChg>
        <pc:spChg chg="mod">
          <ac:chgData name="Grace Hall" userId="47f01ee862f35a33" providerId="LiveId" clId="{772E8711-C5B1-4B36-A581-7E98DC18C4FA}" dt="2026-06-09T03:55:39.559" v="725" actId="20577"/>
          <ac:spMkLst>
            <pc:docMk/>
            <pc:sldMk cId="0" sldId="260"/>
            <ac:spMk id="6" creationId="{00000000-0000-0000-0000-000000000000}"/>
          </ac:spMkLst>
        </pc:spChg>
        <pc:spChg chg="add mod">
          <ac:chgData name="Grace Hall" userId="47f01ee862f35a33" providerId="LiveId" clId="{772E8711-C5B1-4B36-A581-7E98DC18C4FA}" dt="2026-06-09T03:49:46.507" v="475" actId="14100"/>
          <ac:spMkLst>
            <pc:docMk/>
            <pc:sldMk cId="0" sldId="260"/>
            <ac:spMk id="10" creationId="{4609908A-4820-8066-6C90-F547DD3EC41F}"/>
          </ac:spMkLst>
        </pc:spChg>
        <pc:spChg chg="add mod">
          <ac:chgData name="Grace Hall" userId="47f01ee862f35a33" providerId="LiveId" clId="{772E8711-C5B1-4B36-A581-7E98DC18C4FA}" dt="2026-06-09T03:50:29.063" v="506" actId="20577"/>
          <ac:spMkLst>
            <pc:docMk/>
            <pc:sldMk cId="0" sldId="260"/>
            <ac:spMk id="13" creationId="{A994EE8D-4F53-9AD6-7D8D-ED5D643DCD5E}"/>
          </ac:spMkLst>
        </pc:spChg>
        <pc:spChg chg="add mod">
          <ac:chgData name="Grace Hall" userId="47f01ee862f35a33" providerId="LiveId" clId="{772E8711-C5B1-4B36-A581-7E98DC18C4FA}" dt="2026-06-09T03:50:54.456" v="523" actId="14100"/>
          <ac:spMkLst>
            <pc:docMk/>
            <pc:sldMk cId="0" sldId="260"/>
            <ac:spMk id="14" creationId="{9FC01942-7318-3848-EC7A-CEA272CB84D2}"/>
          </ac:spMkLst>
        </pc:spChg>
        <pc:spChg chg="add mod">
          <ac:chgData name="Grace Hall" userId="47f01ee862f35a33" providerId="LiveId" clId="{772E8711-C5B1-4B36-A581-7E98DC18C4FA}" dt="2026-06-09T03:51:44.516" v="531" actId="20577"/>
          <ac:spMkLst>
            <pc:docMk/>
            <pc:sldMk cId="0" sldId="260"/>
            <ac:spMk id="18" creationId="{9F049B38-84BE-C6CF-5653-BD746CAE9FD5}"/>
          </ac:spMkLst>
        </pc:spChg>
        <pc:spChg chg="add del mod">
          <ac:chgData name="Grace Hall" userId="47f01ee862f35a33" providerId="LiveId" clId="{772E8711-C5B1-4B36-A581-7E98DC18C4FA}" dt="2026-06-09T03:51:58.815" v="534"/>
          <ac:spMkLst>
            <pc:docMk/>
            <pc:sldMk cId="0" sldId="260"/>
            <ac:spMk id="19" creationId="{0DD41579-2918-1EC3-A104-3773F7265E00}"/>
          </ac:spMkLst>
        </pc:spChg>
        <pc:spChg chg="add mod">
          <ac:chgData name="Grace Hall" userId="47f01ee862f35a33" providerId="LiveId" clId="{772E8711-C5B1-4B36-A581-7E98DC18C4FA}" dt="2026-06-09T03:52:07.579" v="543" actId="5793"/>
          <ac:spMkLst>
            <pc:docMk/>
            <pc:sldMk cId="0" sldId="260"/>
            <ac:spMk id="20" creationId="{0FAD1281-FA5A-28A9-1459-461B753A6151}"/>
          </ac:spMkLst>
        </pc:spChg>
        <pc:spChg chg="add mod">
          <ac:chgData name="Grace Hall" userId="47f01ee862f35a33" providerId="LiveId" clId="{772E8711-C5B1-4B36-A581-7E98DC18C4FA}" dt="2026-06-09T03:52:35.349" v="553" actId="14100"/>
          <ac:spMkLst>
            <pc:docMk/>
            <pc:sldMk cId="0" sldId="260"/>
            <ac:spMk id="22" creationId="{FCD56374-9385-6C9C-2DE0-00AC3E12FCCA}"/>
          </ac:spMkLst>
        </pc:spChg>
        <pc:spChg chg="add del mod">
          <ac:chgData name="Grace Hall" userId="47f01ee862f35a33" providerId="LiveId" clId="{772E8711-C5B1-4B36-A581-7E98DC18C4FA}" dt="2026-06-09T04:03:03.901" v="728"/>
          <ac:spMkLst>
            <pc:docMk/>
            <pc:sldMk cId="0" sldId="260"/>
            <ac:spMk id="23" creationId="{EE326963-9B61-E197-95A6-86E5C429BFA6}"/>
          </ac:spMkLst>
        </pc:spChg>
        <pc:grpChg chg="mod">
          <ac:chgData name="Grace Hall" userId="47f01ee862f35a33" providerId="LiveId" clId="{772E8711-C5B1-4B36-A581-7E98DC18C4FA}" dt="2026-06-09T03:51:37.975" v="526"/>
          <ac:grpSpMkLst>
            <pc:docMk/>
            <pc:sldMk cId="0" sldId="260"/>
            <ac:grpSpMk id="17" creationId="{F4F094C2-08B3-A33F-B14C-51BD2CBC9F03}"/>
          </ac:grpSpMkLst>
        </pc:grpChg>
        <pc:picChg chg="add mod">
          <ac:chgData name="Grace Hall" userId="47f01ee862f35a33" providerId="LiveId" clId="{772E8711-C5B1-4B36-A581-7E98DC18C4FA}" dt="2026-06-09T03:49:05.740" v="438" actId="1076"/>
          <ac:picMkLst>
            <pc:docMk/>
            <pc:sldMk cId="0" sldId="260"/>
            <ac:picMk id="8" creationId="{46FCC1FD-1154-11FA-5D62-0851B7ED761F}"/>
          </ac:picMkLst>
        </pc:picChg>
        <pc:inkChg chg="add">
          <ac:chgData name="Grace Hall" userId="47f01ee862f35a33" providerId="LiveId" clId="{772E8711-C5B1-4B36-A581-7E98DC18C4FA}" dt="2026-06-09T03:49:20.198" v="439" actId="9405"/>
          <ac:inkMkLst>
            <pc:docMk/>
            <pc:sldMk cId="0" sldId="260"/>
            <ac:inkMk id="9" creationId="{4B5A063B-CFE9-3D7F-7BC2-A9C6D2D2F2BD}"/>
          </ac:inkMkLst>
        </pc:inkChg>
        <pc:inkChg chg="add mod">
          <ac:chgData name="Grace Hall" userId="47f01ee862f35a33" providerId="LiveId" clId="{772E8711-C5B1-4B36-A581-7E98DC18C4FA}" dt="2026-06-09T03:51:37.975" v="526"/>
          <ac:inkMkLst>
            <pc:docMk/>
            <pc:sldMk cId="0" sldId="260"/>
            <ac:inkMk id="11" creationId="{8B236ACB-0790-B95D-9EE7-6C3DC6A1E57A}"/>
          </ac:inkMkLst>
        </pc:inkChg>
        <pc:inkChg chg="add mod">
          <ac:chgData name="Grace Hall" userId="47f01ee862f35a33" providerId="LiveId" clId="{772E8711-C5B1-4B36-A581-7E98DC18C4FA}" dt="2026-06-09T03:51:37.975" v="526"/>
          <ac:inkMkLst>
            <pc:docMk/>
            <pc:sldMk cId="0" sldId="260"/>
            <ac:inkMk id="12" creationId="{9472B73D-FE3D-C2EB-D323-95CF9E1C65A5}"/>
          </ac:inkMkLst>
        </pc:inkChg>
        <pc:inkChg chg="add">
          <ac:chgData name="Grace Hall" userId="47f01ee862f35a33" providerId="LiveId" clId="{772E8711-C5B1-4B36-A581-7E98DC18C4FA}" dt="2026-06-09T03:51:31.497" v="524" actId="9405"/>
          <ac:inkMkLst>
            <pc:docMk/>
            <pc:sldMk cId="0" sldId="260"/>
            <ac:inkMk id="15" creationId="{DFB0A524-9623-AE62-2F86-D1829437DC8F}"/>
          </ac:inkMkLst>
        </pc:inkChg>
        <pc:inkChg chg="add mod">
          <ac:chgData name="Grace Hall" userId="47f01ee862f35a33" providerId="LiveId" clId="{772E8711-C5B1-4B36-A581-7E98DC18C4FA}" dt="2026-06-09T03:51:37.975" v="526"/>
          <ac:inkMkLst>
            <pc:docMk/>
            <pc:sldMk cId="0" sldId="260"/>
            <ac:inkMk id="16" creationId="{92AFC517-9521-9329-17A8-FD3249706EE9}"/>
          </ac:inkMkLst>
        </pc:inkChg>
        <pc:inkChg chg="add">
          <ac:chgData name="Grace Hall" userId="47f01ee862f35a33" providerId="LiveId" clId="{772E8711-C5B1-4B36-A581-7E98DC18C4FA}" dt="2026-06-09T03:52:19.535" v="544" actId="9405"/>
          <ac:inkMkLst>
            <pc:docMk/>
            <pc:sldMk cId="0" sldId="260"/>
            <ac:inkMk id="21" creationId="{81B7E8AE-3741-2769-3836-E1C8D0DAD9DA}"/>
          </ac:inkMkLst>
        </pc:inkChg>
        <pc:inkChg chg="add">
          <ac:chgData name="Grace Hall" userId="47f01ee862f35a33" providerId="LiveId" clId="{772E8711-C5B1-4B36-A581-7E98DC18C4FA}" dt="2026-06-09T04:04:30.679" v="729" actId="9405"/>
          <ac:inkMkLst>
            <pc:docMk/>
            <pc:sldMk cId="0" sldId="260"/>
            <ac:inkMk id="24" creationId="{F8F378B5-7F68-9243-3531-25C8CCC60870}"/>
          </ac:inkMkLst>
        </pc:inkChg>
        <pc:inkChg chg="add del">
          <ac:chgData name="Grace Hall" userId="47f01ee862f35a33" providerId="LiveId" clId="{772E8711-C5B1-4B36-A581-7E98DC18C4FA}" dt="2026-06-09T04:09:00.561" v="760" actId="9405"/>
          <ac:inkMkLst>
            <pc:docMk/>
            <pc:sldMk cId="0" sldId="260"/>
            <ac:inkMk id="25" creationId="{8E6CE8AF-4E57-D654-2DD0-0634C764FF2D}"/>
          </ac:inkMkLst>
        </pc:inkChg>
      </pc:sldChg>
      <pc:sldChg chg="del">
        <pc:chgData name="Grace Hall" userId="47f01ee862f35a33" providerId="LiveId" clId="{772E8711-C5B1-4B36-A581-7E98DC18C4FA}" dt="2026-06-09T03:48:24.233" v="432" actId="2696"/>
        <pc:sldMkLst>
          <pc:docMk/>
          <pc:sldMk cId="0" sldId="261"/>
        </pc:sldMkLst>
      </pc:sldChg>
      <pc:sldChg chg="add del setBg">
        <pc:chgData name="Grace Hall" userId="47f01ee862f35a33" providerId="LiveId" clId="{772E8711-C5B1-4B36-A581-7E98DC18C4FA}" dt="2026-06-09T03:48:34.536" v="434" actId="2696"/>
        <pc:sldMkLst>
          <pc:docMk/>
          <pc:sldMk cId="137207407" sldId="275"/>
        </pc:sldMkLst>
      </pc:sldChg>
      <pc:sldChg chg="add del setBg">
        <pc:chgData name="Grace Hall" userId="47f01ee862f35a33" providerId="LiveId" clId="{772E8711-C5B1-4B36-A581-7E98DC18C4FA}" dt="2026-06-09T03:48:13.466" v="430" actId="2696"/>
        <pc:sldMkLst>
          <pc:docMk/>
          <pc:sldMk cId="3886193346" sldId="275"/>
        </pc:sldMkLst>
      </pc:sldChg>
      <pc:sldChg chg="add del setBg">
        <pc:chgData name="Grace Hall" userId="47f01ee862f35a33" providerId="LiveId" clId="{772E8711-C5B1-4B36-A581-7E98DC18C4FA}" dt="2026-06-09T03:48:17.177" v="431" actId="2696"/>
        <pc:sldMkLst>
          <pc:docMk/>
          <pc:sldMk cId="4200970474" sldId="27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03:49:20.198"/>
    </inkml:context>
    <inkml:brush xml:id="br0">
      <inkml:brushProperty name="width" value="0.05" units="cm"/>
      <inkml:brushProperty name="height" value="0.05" units="cm"/>
      <inkml:brushProperty name="color" value="#E71224"/>
    </inkml:brush>
  </inkml:definitions>
  <inkml:trace contextRef="#ctx0" brushRef="#br0">1 1017 24575,'12'-1'0,"1"-1"0,-1 0 0,1-1 0,-1-1 0,0 1 0,0-2 0,0 0 0,12-7 0,40-15 0,-31 16 0,-1-2 0,-1-2 0,0 0 0,53-38 0,-69 44 0,0 0 0,25-10 0,-22 12 0,28-18 0,-29 16 0,0 0 0,1 1 0,0 0 0,31-7 0,-22 7 0,36-16 0,-37 13 0,1 1 0,42-9 0,-1 1 0,6-4 0,69-24 0,-127 40 0,1 1 0,0 1 0,0 0 0,32-2 0,72 3 0,-86 4 0,1-1 0,71-11 0,-37 1 0,2 2 0,138 4 0,-163 5 0,-21-3 0,0-1 0,-1-1 0,43-12 0,-29 7 0,16-7 0,-36 10 0,0 0 0,33-4 0,50 5 0,-66 5 0,0-2 0,41-7 0,44-8 0,12-3 0,-78 11 0,0 2 0,1 3 0,63 3 0,86-6 0,40-37 0,-218 38 0,16-2 0,-1 2 0,53 0 0,87 8 0,-56 1 0,-28-2 0,131-3 0,-120-14 0,0 0 0,91 8 0,45-3 0,339-12 0,-306 5 0,-31 1 0,-176 17 0,-9 0 0,112-14 0,12-5 0,-106 13 0,39-8 0,32-3 0,165 15 0,-11 0 0,-245-4 0,102-24 0,-14 2 0,-115 23 0,206-26 0,191 23 0,-255 10 0,-95-3 0,93 3 0,-154 1 0,-1 1 0,0 1 0,0 0 0,0 1 0,0 1 0,-1 1 0,0 1 0,18 12 0,34 15 0,-35-21 0,1-2 0,0-1 0,43 8 0,113 12 0,-113-20 0,313 45 0,-128-20 0,49-12 0,3-26 0,-114-1 0,566 2 0,-761 0 0,41-3 0,-45 3 0,-1 0 0,0 0 0,0 0 0,0 0 0,0-1 0,1 1 0,-1 0 0,0-1 0,0 1 0,0-1 0,0 1 0,0-1 0,0 1 0,0-1 0,0 0 0,0 1 0,0-1 0,0 0 0,-1 0 0,1 0 0,0 0 0,0 0 0,-1 0 0,1 0 0,-1 0 0,1 0 0,-1 0 0,1 0 0,-1 0 0,0 0 0,1 0 0,-1 0 0,0-2 0,0 1 21,-1 0 0,0 0 0,0 0-1,0 0 1,0 0 0,0 0 0,-1 0 0,1 1-1,0-1 1,-1 0 0,1 1 0,-1-1 0,0 1-1,0-1 1,-2-1 0,-34-20-1053,32 20 366,-17-9-6160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03:51:31.496"/>
    </inkml:context>
    <inkml:brush xml:id="br0">
      <inkml:brushProperty name="width" value="0.05" units="cm"/>
      <inkml:brushProperty name="height" value="0.05" units="cm"/>
      <inkml:brushProperty name="color" value="#E71224"/>
    </inkml:brush>
  </inkml:definitions>
  <inkml:trace contextRef="#ctx0" brushRef="#br0">0 1 24575,'1'2'0,"-1"1"0,1 0 0,0 0 0,-1-1 0,1 1 0,1-1 0,-1 1 0,0-1 0,1 1 0,-1-1 0,1 0 0,0 0 0,-1 0 0,5 4 0,34 28 0,-30-27 0,8 7 0,0-2 0,0 0 0,1-1 0,1-1 0,-1 0 0,2-2 0,-1 0 0,1-2 0,23 5 0,-24-6 0,-1 1 0,0 0 0,-1 2 0,0 0 0,27 17 0,83 64 0,-76-50 0,112 76 0,135 100 0,573 441-592,-853-642 605,25 19 180,2-2 0,52 26 0,223 139-202,-228-134-140,54 35-448,173 110 403,180 117 194,-490-316 14,0-1 1,1 0-1,0 0 1,1-1-1,-1-1 0,1 1 1,0-2-1,1 0 1,-1-1-1,24 4 0,22-1 211,95 22 0,56 28 93,-147-39-295,350 86-23,-274-75 0,260 17 0,26-45 0,-178-2 0,-159 2 0,0 4 0,126 21 0,-108-7 0,0-4 0,177 0 0,877-17 0,-770 3 0,-174-18 0,-35 1 0,-174 17 106,-5 0-167,0 0-1,0 0 1,0 0 0,0 0 0,0 0-1,0 0 1,0 0 0,1 0-1,-1 0 1,0 0 0,0 0-1,0-1 1,0 1 0,0 0 0,0-1-1,0 1 1,0-1 0,0 1-1,-1-1 1,1 1 0,0-1 0,0 0-1,1-1 1,-3-6-6765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03:50:06.885"/>
    </inkml:context>
    <inkml:brush xml:id="br0">
      <inkml:brushProperty name="width" value="0.05" units="cm"/>
      <inkml:brushProperty name="height" value="0.05" units="cm"/>
      <inkml:brushProperty name="color" value="#E71224"/>
    </inkml:brush>
  </inkml:definitions>
  <inkml:trace contextRef="#ctx0" brushRef="#br0">0 619 24575,'17'-1'0,"0"-1"0,0-1 0,31-9 0,-29 7 0,39-12 0,-28 8 0,1 1 0,48-6 0,59-10 0,-78 12 0,4-3 0,-31 8 0,52-7 0,-3 9 0,-30 3 0,54-10 0,-68 6 0,-1-1 0,1-3 0,42-16 0,-32 8 0,67-15 0,-28 9 0,220-42 0,-221 57 0,0 3 0,112 7 0,-75 1 0,32-6 0,238-38 0,-12 11 0,-173 19 0,313-22 0,-41-3 0,-273 16 0,195-14 0,-188 17 0,60-2 0,235 21 0,-395 5 0,205 35 0,-261-29 0,85 28 0,53 31 0,-2 0 0,-105-41 0,307 96 0,5-21 0,321 32 0,-484-82 0,-14-3 0,213 51 0,-358-84 0,1-3 0,0-4 0,2-3 0,144-3 0,-122-9 0,223 3 0,-270 7 0,89 22 0,-93-16 0,109 10 0,29-22-125,-140-2-1115,-36 1-5586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03:50:09.816"/>
    </inkml:context>
    <inkml:brush xml:id="br0">
      <inkml:brushProperty name="width" value="0.05" units="cm"/>
      <inkml:brushProperty name="height" value="0.05" units="cm"/>
      <inkml:brushProperty name="color" value="#E71224"/>
    </inkml:brush>
  </inkml:definitions>
  <inkml:trace contextRef="#ctx0" brushRef="#br0">1 1 24575,'68'2'0,"1"3"0,-1 3 0,69 17 0,194 69 0,-267-73 0,0-3 0,1-4 0,1-2 0,0-2 0,77 0 0,-80-9 0,108 18 0,-28 4 0,203 6 0,-85-7 0,-146-10 0,163 25 0,-48-6 0,327 12 0,169-45 0,-669 3 0,87 15 0,54 22 0,13 2 0,32-9 0,221 25 0,-299-40 0,130 5 0,-80-7 0,-65 1 0,213-8 0,-325-5 0,73 12 0,5 1 0,428-9 0,-305-8 0,1643 2-1365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03:51:36.965"/>
    </inkml:context>
    <inkml:brush xml:id="br0">
      <inkml:brushProperty name="width" value="0.05" units="cm"/>
      <inkml:brushProperty name="height" value="0.05" units="cm"/>
      <inkml:brushProperty name="color" value="#E71224"/>
    </inkml:brush>
  </inkml:definitions>
  <inkml:trace contextRef="#ctx0" brushRef="#br0">0 546 24575,'32'-1'0,"0"-3"0,-1 0 0,47-14 0,-5 2 0,523-114 0,-532 113 0,16-4 0,130-50 0,-112 35 0,-63 24 0,55-25 0,40-25 0,-107 53 0,0 1 0,0 1 0,46-8 0,27 0 0,121-10 0,-187 22 0,57-12 0,-57 8 0,55-4 0,203 9 0,-154 3 0,-123-1 0,0 1 0,-1 0 0,1 0 0,20 6 0,-26-5 0,0 0 0,1 0 0,-1 0 0,0 1 0,-1 0 0,1 0 0,0 0 0,-1 0 0,0 1 0,0 0 0,6 6 0,12 17 0,-1-1 0,1 0 0,29 25 0,-2-13 0,60 37 0,-69-49 0,-24-18 0,0 0 0,1 0 0,0-2 0,0 0 0,29 5 0,0 1 0,57 23 0,-64-20 0,1-2 0,58 11 0,-76-20 0,0 1 0,0 1 0,-1 2 0,0 0 0,0 1 0,-1 0 0,21 15 0,99 51 0,153 57 0,-291-131 0,145 75 0,-40-19 0,-91-51 0,1 0 0,-1-1 0,1-1 0,1-1 0,-1 0 0,0-1 0,1-1 0,28-1 0,17 2 0,-23 3 0,-1 2 0,1 2 0,-2 2 0,58 23 0,-30-11 0,117 50 0,11 2 0,-160-63 0,-10-3 0,1-1 0,44 7 0,-16-6 0,0 3 0,98 34 0,-48-12 0,46 18 0,-61-20 0,64 26 0,-103-36 0,-29-14 0,39 21 0,935 546 0,-926-539 0,605 331 0,-394-181 0,-148-95 0,232 163 0,126 84 0,-485-335 0,98 59 0,-87-54 0,-1-2 0,1 0 0,0 0 0,0-1 0,22 3 0,-23-6 0,0 0 0,-1 1 0,0 1 0,0 0 0,0 0 0,0 2 0,-1-1 0,12 8 0,40 28-69,63 53 0,57 60-226,-96-78 144,-21-19 62,249 195 61,-301-242 18,0-1 0,1 0-1,0-1 1,28 10 0,-38-16 45,-1 0 0,1 0 1,0-1-1,0 0 0,-1 0 1,1 0-1,0-1 0,0 0 1,0 0-1,0-1 0,0 1 1,0-1-1,0 0 0,-1-1 0,1 0 1,0 0-1,8-4 0,-13 5-26,1 0-1,0 0 0,-1 0 0,1-1 0,-1 1 1,1 0-1,-1-1 0,1 1 0,-1-1 1,0 0-1,0 1 0,0-1 0,0 0 0,0 0 1,0 0-1,0 0 0,-1 1 0,1-1 0,-1 0 1,1 0-1,-1 0 0,0-1 0,0 1 1,0 0-1,0 0 0,0 0 0,0 0 0,-1 0 1,0-4-1,-1-1-222,-1 0 1,0 0-1,0 0 1,-1 1-1,1-1 1,-9-9-1,-10-12-6612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03:52:19.533"/>
    </inkml:context>
    <inkml:brush xml:id="br0">
      <inkml:brushProperty name="width" value="0.05" units="cm"/>
      <inkml:brushProperty name="height" value="0.05" units="cm"/>
      <inkml:brushProperty name="color" value="#E71224"/>
    </inkml:brush>
  </inkml:definitions>
  <inkml:trace contextRef="#ctx0" brushRef="#br0">296 1 24575,'0'2925'0,"-3"-2864"0,-12 72 0,6-70 0,-1 68 0,12 13 0,-3 108 0,-3-220 0,-10 46 0,7-47 0,-4 44 0,11-65 0,-1 13 0,-2 0 0,0 0 0,-6 23 0,2-17 0,-5 53 0,8-51 0,-10 44 0,8-45 0,1 0 0,1 1 0,1 35 0,-1 8 0,3-67 29,0 1-1,-1 0 1,0-1-1,0 1 0,-1-1 1,1 0-1,-2 0 1,1 0-1,-1 0 1,0-1-1,-7 9 1,8-11-107,1-1 0,-1 0 1,0 0-1,0 0 1,0-1-1,-1 1 1,1-1-1,-1 1 0,1-1 1,-1 0-1,0-1 1,0 1-1,0-1 1,0 1-1,0-1 0,0 0 1,0-1-1,0 1 1,0-1-1,-1 0 1,-7 0-1,-9-4-6748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04:04:30.677"/>
    </inkml:context>
    <inkml:brush xml:id="br0">
      <inkml:brushProperty name="width" value="0.05" units="cm"/>
      <inkml:brushProperty name="height" value="0.05" units="cm"/>
      <inkml:brushProperty name="color" value="#E71224"/>
    </inkml:brush>
  </inkml:definitions>
  <inkml:trace contextRef="#ctx0" brushRef="#br0">102 1 24575,'6'1'0,"1"0"0,0 0 0,-1 1 0,1 0 0,-1 1 0,8 3 0,3 1 0,-8-4 0,0 1 0,0 0 0,0 1 0,-1 0 0,0 0 0,0 0 0,0 1 0,0 1 0,-1-1 0,0 1 0,-1 0 0,10 14 0,-3-4 0,-2-3 0,-1 0 0,10 18 0,-18-29 0,-1 0 0,1 0 0,-1 1 0,0-1 0,1 0 0,-2 1 0,1-1 0,0 1 0,-1-1 0,1 1 0,-1-1 0,0 1 0,0 0 0,-1-1 0,1 1 0,-2 4 0,2-7 0,0 0 0,-1 0 0,1-1 0,0 1 0,-1 0 0,1 0 0,-1-1 0,1 1 0,-1 0 0,1-1 0,-1 1 0,0-1 0,1 1 0,-1-1 0,0 1 0,1-1 0,-1 1 0,0-1 0,0 1 0,1-1 0,-1 0 0,0 1 0,0-1 0,0 0 0,1 0 0,-1 0 0,0 0 0,0 0 0,0 0 0,0 0 0,0 0 0,1 0 0,-1 0 0,0 0 0,0 0 0,0-1 0,0 1 0,1 0 0,-1-1 0,0 1 0,0 0 0,1-1 0,-2 0 0,-5-3 0,1 0 0,-1-1 0,-9-8 0,12 9 0,-38-35 0,30 26 0,-2 0 0,0 1 0,-23-15 0,-6-2 0,31 20 0,-2 0 0,1 1 0,-1 0 0,-24-9 0,27 13 0,0 0 0,17 7 0,57 20 184,-38-15-147,42 19 1,-61-24-186,1 1 1,-1 0-1,1 0 0,-1 1 1,0 0-1,-1 0 0,1 0 1,-1 0-1,0 1 1,7 10-1,-1 6-6678</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customXml" Target="../ink/ink5.xml"/><Relationship Id="rId17" Type="http://schemas.openxmlformats.org/officeDocument/2006/relationships/image" Target="../media/image13.png"/><Relationship Id="rId2" Type="http://schemas.openxmlformats.org/officeDocument/2006/relationships/image" Target="../media/image5.png"/><Relationship Id="rId16" Type="http://schemas.openxmlformats.org/officeDocument/2006/relationships/customXml" Target="../ink/ink7.xml"/><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10.png"/><Relationship Id="rId5" Type="http://schemas.openxmlformats.org/officeDocument/2006/relationships/image" Target="../media/image7.png"/><Relationship Id="rId15" Type="http://schemas.openxmlformats.org/officeDocument/2006/relationships/image" Target="../media/image12.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9.png"/><Relationship Id="rId14" Type="http://schemas.openxmlformats.org/officeDocument/2006/relationships/customXml" Target="../ink/ink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304800" y="1750074"/>
            <a:ext cx="11702278" cy="3896572"/>
            <a:chOff x="0" y="0"/>
            <a:chExt cx="1835157" cy="611062"/>
          </a:xfrm>
        </p:grpSpPr>
        <p:sp>
          <p:nvSpPr>
            <p:cNvPr id="3" name="Freeform 3"/>
            <p:cNvSpPr/>
            <p:nvPr/>
          </p:nvSpPr>
          <p:spPr>
            <a:xfrm>
              <a:off x="0" y="0"/>
              <a:ext cx="1835157" cy="611062"/>
            </a:xfrm>
            <a:custGeom>
              <a:avLst/>
              <a:gdLst/>
              <a:ahLst/>
              <a:cxnLst/>
              <a:rect l="l" t="t" r="r" b="b"/>
              <a:pathLst>
                <a:path w="1835157" h="611062">
                  <a:moveTo>
                    <a:pt x="15216" y="0"/>
                  </a:moveTo>
                  <a:lnTo>
                    <a:pt x="1819941" y="0"/>
                  </a:lnTo>
                  <a:cubicBezTo>
                    <a:pt x="1823977" y="0"/>
                    <a:pt x="1827847" y="1603"/>
                    <a:pt x="1830700" y="4457"/>
                  </a:cubicBezTo>
                  <a:cubicBezTo>
                    <a:pt x="1833554" y="7310"/>
                    <a:pt x="1835157" y="11181"/>
                    <a:pt x="1835157" y="15216"/>
                  </a:cubicBezTo>
                  <a:lnTo>
                    <a:pt x="1835157" y="595846"/>
                  </a:lnTo>
                  <a:cubicBezTo>
                    <a:pt x="1835157" y="604250"/>
                    <a:pt x="1828345" y="611062"/>
                    <a:pt x="1819941" y="611062"/>
                  </a:cubicBezTo>
                  <a:lnTo>
                    <a:pt x="15216" y="611062"/>
                  </a:lnTo>
                  <a:cubicBezTo>
                    <a:pt x="6813" y="611062"/>
                    <a:pt x="0" y="604250"/>
                    <a:pt x="0" y="595846"/>
                  </a:cubicBezTo>
                  <a:lnTo>
                    <a:pt x="0" y="15216"/>
                  </a:lnTo>
                  <a:cubicBezTo>
                    <a:pt x="0" y="6813"/>
                    <a:pt x="6813" y="0"/>
                    <a:pt x="15216" y="0"/>
                  </a:cubicBezTo>
                  <a:close/>
                </a:path>
              </a:pathLst>
            </a:custGeom>
            <a:blipFill>
              <a:blip r:embed="rId2"/>
              <a:stretch>
                <a:fillRect t="-16821" b="-16821"/>
              </a:stretch>
            </a:blipFill>
          </p:spPr>
          <p:txBody>
            <a:bodyPr/>
            <a:lstStyle/>
            <a:p>
              <a:endParaRPr lang="en-AU"/>
            </a:p>
          </p:txBody>
        </p:sp>
      </p:grpSp>
      <p:sp>
        <p:nvSpPr>
          <p:cNvPr id="4" name="TextBox 4"/>
          <p:cNvSpPr txBox="1"/>
          <p:nvPr/>
        </p:nvSpPr>
        <p:spPr>
          <a:xfrm>
            <a:off x="7200089" y="8163750"/>
            <a:ext cx="10842221" cy="1619479"/>
          </a:xfrm>
          <a:prstGeom prst="rect">
            <a:avLst/>
          </a:prstGeom>
        </p:spPr>
        <p:txBody>
          <a:bodyPr lIns="0" tIns="0" rIns="0" bIns="0" rtlCol="0" anchor="t">
            <a:spAutoFit/>
          </a:bodyPr>
          <a:lstStyle/>
          <a:p>
            <a:pPr marL="0" lvl="0" indent="0" algn="ctr">
              <a:lnSpc>
                <a:spcPts val="10048"/>
              </a:lnSpc>
            </a:pPr>
            <a:r>
              <a:rPr lang="en-US" sz="13956" b="1">
                <a:solidFill>
                  <a:srgbClr val="333446"/>
                </a:solidFill>
                <a:latin typeface="Poppins Ultra-Bold"/>
                <a:ea typeface="Poppins Ultra-Bold"/>
                <a:cs typeface="Poppins Ultra-Bold"/>
                <a:sym typeface="Poppins Ultra-Bold"/>
              </a:rPr>
              <a:t>PORTFOLIO</a:t>
            </a:r>
          </a:p>
        </p:txBody>
      </p:sp>
      <p:sp>
        <p:nvSpPr>
          <p:cNvPr id="5" name="TextBox 5"/>
          <p:cNvSpPr txBox="1"/>
          <p:nvPr/>
        </p:nvSpPr>
        <p:spPr>
          <a:xfrm>
            <a:off x="10574586" y="5758440"/>
            <a:ext cx="6684714" cy="1256787"/>
          </a:xfrm>
          <a:prstGeom prst="rect">
            <a:avLst/>
          </a:prstGeom>
        </p:spPr>
        <p:txBody>
          <a:bodyPr lIns="0" tIns="0" rIns="0" bIns="0" rtlCol="0" anchor="t">
            <a:spAutoFit/>
          </a:bodyPr>
          <a:lstStyle/>
          <a:p>
            <a:pPr marL="0" lvl="0" indent="0" algn="r">
              <a:lnSpc>
                <a:spcPts val="4381"/>
              </a:lnSpc>
            </a:pPr>
            <a:r>
              <a:rPr lang="en-US" sz="6085">
                <a:solidFill>
                  <a:srgbClr val="333446"/>
                </a:solidFill>
                <a:latin typeface="Poppins Light"/>
                <a:ea typeface="Poppins Light"/>
                <a:cs typeface="Poppins Light"/>
                <a:sym typeface="Poppins Light"/>
              </a:rPr>
              <a:t>YEAR 9 STEM DIGITAL</a:t>
            </a:r>
          </a:p>
        </p:txBody>
      </p:sp>
      <p:sp>
        <p:nvSpPr>
          <p:cNvPr id="6" name="TextBox 6"/>
          <p:cNvSpPr txBox="1"/>
          <p:nvPr/>
        </p:nvSpPr>
        <p:spPr>
          <a:xfrm>
            <a:off x="10370897" y="1143037"/>
            <a:ext cx="6888403" cy="308802"/>
          </a:xfrm>
          <a:prstGeom prst="rect">
            <a:avLst/>
          </a:prstGeom>
        </p:spPr>
        <p:txBody>
          <a:bodyPr lIns="0" tIns="0" rIns="0" bIns="0" rtlCol="0" anchor="t">
            <a:spAutoFit/>
          </a:bodyPr>
          <a:lstStyle/>
          <a:p>
            <a:pPr marL="0" lvl="0" indent="0" algn="r">
              <a:lnSpc>
                <a:spcPts val="2142"/>
              </a:lnSpc>
            </a:pPr>
            <a:r>
              <a:rPr lang="en-US" sz="2975" spc="-59" dirty="0">
                <a:solidFill>
                  <a:srgbClr val="333446"/>
                </a:solidFill>
                <a:latin typeface="Poppins"/>
                <a:ea typeface="Poppins"/>
                <a:cs typeface="Poppins"/>
                <a:sym typeface="Poppins"/>
              </a:rPr>
              <a:t>STUDENT NAME: Grace </a:t>
            </a:r>
          </a:p>
        </p:txBody>
      </p:sp>
      <p:sp>
        <p:nvSpPr>
          <p:cNvPr id="7" name="TextBox 7"/>
          <p:cNvSpPr txBox="1"/>
          <p:nvPr/>
        </p:nvSpPr>
        <p:spPr>
          <a:xfrm>
            <a:off x="1028700" y="1143000"/>
            <a:ext cx="6888403" cy="333794"/>
          </a:xfrm>
          <a:prstGeom prst="rect">
            <a:avLst/>
          </a:prstGeom>
        </p:spPr>
        <p:txBody>
          <a:bodyPr lIns="0" tIns="0" rIns="0" bIns="0" rtlCol="0" anchor="t">
            <a:spAutoFit/>
          </a:bodyPr>
          <a:lstStyle/>
          <a:p>
            <a:pPr marL="0" lvl="0" indent="0" algn="l">
              <a:lnSpc>
                <a:spcPts val="2142"/>
              </a:lnSpc>
            </a:pPr>
            <a:r>
              <a:rPr lang="en-US" sz="2975" spc="-59">
                <a:solidFill>
                  <a:srgbClr val="333446"/>
                </a:solidFill>
                <a:latin typeface="Poppins"/>
                <a:ea typeface="Poppins"/>
                <a:cs typeface="Poppins"/>
                <a:sym typeface="Poppins"/>
              </a:rPr>
              <a:t>RECORDING MY LEARNING JOURNEY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997686" y="4550231"/>
            <a:ext cx="9290314" cy="5736769"/>
          </a:xfrm>
          <a:custGeom>
            <a:avLst/>
            <a:gdLst/>
            <a:ahLst/>
            <a:cxnLst/>
            <a:rect l="l" t="t" r="r" b="b"/>
            <a:pathLst>
              <a:path w="9290314" h="5736769">
                <a:moveTo>
                  <a:pt x="0" y="0"/>
                </a:moveTo>
                <a:lnTo>
                  <a:pt x="9290314" y="0"/>
                </a:lnTo>
                <a:lnTo>
                  <a:pt x="9290314" y="5736769"/>
                </a:lnTo>
                <a:lnTo>
                  <a:pt x="0" y="5736769"/>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1028700" y="2103893"/>
            <a:ext cx="8115300" cy="1416463"/>
          </a:xfrm>
          <a:prstGeom prst="rect">
            <a:avLst/>
          </a:prstGeom>
        </p:spPr>
        <p:txBody>
          <a:bodyPr lIns="0" tIns="0" rIns="0" bIns="0" rtlCol="0" anchor="t">
            <a:spAutoFit/>
          </a:bodyPr>
          <a:lstStyle/>
          <a:p>
            <a:pPr marL="0" lvl="0" indent="0" algn="just">
              <a:lnSpc>
                <a:spcPts val="2777"/>
              </a:lnSpc>
              <a:spcBef>
                <a:spcPct val="0"/>
              </a:spcBef>
            </a:pPr>
            <a:r>
              <a:rPr lang="en-US" sz="1983">
                <a:solidFill>
                  <a:srgbClr val="333446"/>
                </a:solidFill>
                <a:latin typeface="Poppins"/>
                <a:ea typeface="Poppins"/>
                <a:cs typeface="Poppins"/>
                <a:sym typeface="Poppins"/>
              </a:rPr>
              <a:t>Have you used robots, coding platforms, or block-based programming before? Describe any experience — even playing games or using apps counts!</a:t>
            </a:r>
          </a:p>
          <a:p>
            <a:pPr marL="0" lvl="0" indent="0" algn="just">
              <a:lnSpc>
                <a:spcPts val="2777"/>
              </a:lnSpc>
              <a:spcBef>
                <a:spcPct val="0"/>
              </a:spcBef>
            </a:pPr>
            <a:r>
              <a:rPr lang="en-US" sz="1983">
                <a:solidFill>
                  <a:srgbClr val="333446"/>
                </a:solidFill>
                <a:latin typeface="Poppins"/>
                <a:ea typeface="Poppins"/>
                <a:cs typeface="Poppins"/>
                <a:sym typeface="Poppins"/>
              </a:rPr>
              <a:t>✏️ [Your response here]</a:t>
            </a:r>
          </a:p>
        </p:txBody>
      </p:sp>
      <p:sp>
        <p:nvSpPr>
          <p:cNvPr id="4" name="TextBox 4"/>
          <p:cNvSpPr txBox="1"/>
          <p:nvPr/>
        </p:nvSpPr>
        <p:spPr>
          <a:xfrm>
            <a:off x="425286" y="-34202"/>
            <a:ext cx="16834014" cy="5125762"/>
          </a:xfrm>
          <a:prstGeom prst="rect">
            <a:avLst/>
          </a:prstGeom>
        </p:spPr>
        <p:txBody>
          <a:bodyPr lIns="0" tIns="0" rIns="0" bIns="0" rtlCol="0" anchor="t">
            <a:spAutoFit/>
          </a:bodyPr>
          <a:lstStyle/>
          <a:p>
            <a:pPr marL="0" lvl="0" indent="0" algn="ctr">
              <a:lnSpc>
                <a:spcPts val="14473"/>
              </a:lnSpc>
              <a:spcBef>
                <a:spcPct val="0"/>
              </a:spcBef>
            </a:pPr>
            <a:r>
              <a:rPr lang="en-US" sz="10338" spc="-206" dirty="0">
                <a:solidFill>
                  <a:srgbClr val="333446"/>
                </a:solidFill>
                <a:latin typeface="Poppins Light"/>
                <a:ea typeface="Poppins Light"/>
                <a:cs typeface="Poppins Light"/>
                <a:sym typeface="Poppins Light"/>
              </a:rPr>
              <a:t>MY ROBOTICS EXPERIENCE</a:t>
            </a:r>
          </a:p>
          <a:p>
            <a:pPr marL="0" lvl="0" indent="0">
              <a:lnSpc>
                <a:spcPts val="12933"/>
              </a:lnSpc>
              <a:spcBef>
                <a:spcPct val="0"/>
              </a:spcBef>
            </a:pPr>
            <a:endParaRPr lang="en-US" sz="10338" spc="-206" dirty="0">
              <a:solidFill>
                <a:srgbClr val="333446"/>
              </a:solidFill>
              <a:latin typeface="Poppins Light"/>
              <a:ea typeface="Poppins Light"/>
              <a:cs typeface="Poppins Light"/>
              <a:sym typeface="Poppins Light"/>
            </a:endParaRPr>
          </a:p>
          <a:p>
            <a:pPr marL="0" lvl="0" indent="0">
              <a:lnSpc>
                <a:spcPts val="12933"/>
              </a:lnSpc>
              <a:spcBef>
                <a:spcPct val="0"/>
              </a:spcBef>
            </a:pPr>
            <a:endParaRPr lang="en-US" sz="10338" spc="-206" dirty="0">
              <a:solidFill>
                <a:srgbClr val="333446"/>
              </a:solidFill>
              <a:latin typeface="Poppins Light"/>
              <a:ea typeface="Poppins Light"/>
              <a:cs typeface="Poppins Light"/>
              <a:sym typeface="Poppins Light"/>
            </a:endParaRPr>
          </a:p>
        </p:txBody>
      </p:sp>
      <p:sp>
        <p:nvSpPr>
          <p:cNvPr id="5" name="TextBox 4">
            <a:extLst>
              <a:ext uri="{FF2B5EF4-FFF2-40B4-BE49-F238E27FC236}">
                <a16:creationId xmlns:a16="http://schemas.microsoft.com/office/drawing/2014/main" id="{4970D774-E953-767F-C66C-42E2D7362F06}"/>
              </a:ext>
            </a:extLst>
          </p:cNvPr>
          <p:cNvSpPr txBox="1"/>
          <p:nvPr/>
        </p:nvSpPr>
        <p:spPr>
          <a:xfrm>
            <a:off x="425286" y="4305300"/>
            <a:ext cx="8572400" cy="646331"/>
          </a:xfrm>
          <a:prstGeom prst="rect">
            <a:avLst/>
          </a:prstGeom>
          <a:noFill/>
        </p:spPr>
        <p:txBody>
          <a:bodyPr wrap="square" rtlCol="0">
            <a:spAutoFit/>
          </a:bodyPr>
          <a:lstStyle/>
          <a:p>
            <a:r>
              <a:rPr lang="en-AU" dirty="0"/>
              <a:t>Yes I have used robots and coding platforms and programming before I have used this in digital makers in year 7 and 8 when we made bots.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1028700" y="2106462"/>
            <a:ext cx="8115300" cy="1416463"/>
          </a:xfrm>
          <a:prstGeom prst="rect">
            <a:avLst/>
          </a:prstGeom>
        </p:spPr>
        <p:txBody>
          <a:bodyPr lIns="0" tIns="0" rIns="0" bIns="0" rtlCol="0" anchor="t">
            <a:spAutoFit/>
          </a:bodyPr>
          <a:lstStyle/>
          <a:p>
            <a:pPr marL="0" lvl="0" indent="0" algn="just">
              <a:lnSpc>
                <a:spcPts val="2777"/>
              </a:lnSpc>
              <a:spcBef>
                <a:spcPct val="0"/>
              </a:spcBef>
            </a:pPr>
            <a:r>
              <a:rPr lang="en-US" sz="1983">
                <a:solidFill>
                  <a:srgbClr val="333446"/>
                </a:solidFill>
                <a:latin typeface="Poppins"/>
                <a:ea typeface="Poppins"/>
                <a:cs typeface="Poppins"/>
                <a:sym typeface="Poppins"/>
              </a:rPr>
              <a:t>Write 2–3 goals you have for this robotics unit. What skills, concepts, or experiences are you most excited about? What do you want to be able to do by the end?</a:t>
            </a:r>
          </a:p>
          <a:p>
            <a:pPr marL="0" lvl="0" indent="0" algn="just">
              <a:lnSpc>
                <a:spcPts val="2777"/>
              </a:lnSpc>
              <a:spcBef>
                <a:spcPct val="0"/>
              </a:spcBef>
            </a:pPr>
            <a:r>
              <a:rPr lang="en-US" sz="1983">
                <a:solidFill>
                  <a:srgbClr val="333446"/>
                </a:solidFill>
                <a:latin typeface="Poppins"/>
                <a:ea typeface="Poppins"/>
                <a:cs typeface="Poppins"/>
                <a:sym typeface="Poppins"/>
              </a:rPr>
              <a:t>✏️ [Your response here]</a:t>
            </a:r>
          </a:p>
        </p:txBody>
      </p:sp>
      <p:sp>
        <p:nvSpPr>
          <p:cNvPr id="3" name="TextBox 3"/>
          <p:cNvSpPr txBox="1"/>
          <p:nvPr/>
        </p:nvSpPr>
        <p:spPr>
          <a:xfrm>
            <a:off x="3132407" y="41998"/>
            <a:ext cx="10665202" cy="2801270"/>
          </a:xfrm>
          <a:prstGeom prst="rect">
            <a:avLst/>
          </a:prstGeom>
        </p:spPr>
        <p:txBody>
          <a:bodyPr lIns="0" tIns="0" rIns="0" bIns="0" rtlCol="0" anchor="t">
            <a:spAutoFit/>
          </a:bodyPr>
          <a:lstStyle/>
          <a:p>
            <a:pPr marL="0" lvl="0" indent="0" algn="ctr">
              <a:lnSpc>
                <a:spcPts val="10974"/>
              </a:lnSpc>
              <a:spcBef>
                <a:spcPct val="0"/>
              </a:spcBef>
            </a:pPr>
            <a:r>
              <a:rPr lang="en-US" sz="7838" spc="-156">
                <a:solidFill>
                  <a:srgbClr val="333446"/>
                </a:solidFill>
                <a:latin typeface="Poppins Light"/>
                <a:ea typeface="Poppins Light"/>
                <a:cs typeface="Poppins Light"/>
                <a:sym typeface="Poppins Light"/>
              </a:rPr>
              <a:t>WHAT I HOPE TO LEARN</a:t>
            </a:r>
          </a:p>
          <a:p>
            <a:pPr marL="0" lvl="0" indent="0" algn="ctr">
              <a:lnSpc>
                <a:spcPts val="10974"/>
              </a:lnSpc>
              <a:spcBef>
                <a:spcPct val="0"/>
              </a:spcBef>
            </a:pPr>
            <a:endParaRPr lang="en-US" sz="7838" spc="-156">
              <a:solidFill>
                <a:srgbClr val="333446"/>
              </a:solidFill>
              <a:latin typeface="Poppins Light"/>
              <a:ea typeface="Poppins Light"/>
              <a:cs typeface="Poppins Light"/>
              <a:sym typeface="Poppins Light"/>
            </a:endParaRPr>
          </a:p>
        </p:txBody>
      </p:sp>
      <p:grpSp>
        <p:nvGrpSpPr>
          <p:cNvPr id="4" name="Group 4"/>
          <p:cNvGrpSpPr/>
          <p:nvPr/>
        </p:nvGrpSpPr>
        <p:grpSpPr>
          <a:xfrm>
            <a:off x="9501984" y="3520356"/>
            <a:ext cx="7757316" cy="5732894"/>
            <a:chOff x="0" y="0"/>
            <a:chExt cx="584408" cy="431895"/>
          </a:xfrm>
        </p:grpSpPr>
        <p:sp>
          <p:nvSpPr>
            <p:cNvPr id="5" name="Freeform 5"/>
            <p:cNvSpPr/>
            <p:nvPr/>
          </p:nvSpPr>
          <p:spPr>
            <a:xfrm>
              <a:off x="0" y="0"/>
              <a:ext cx="584408" cy="431895"/>
            </a:xfrm>
            <a:custGeom>
              <a:avLst/>
              <a:gdLst/>
              <a:ahLst/>
              <a:cxnLst/>
              <a:rect l="l" t="t" r="r" b="b"/>
              <a:pathLst>
                <a:path w="584408" h="431895">
                  <a:moveTo>
                    <a:pt x="22954" y="0"/>
                  </a:moveTo>
                  <a:lnTo>
                    <a:pt x="561454" y="0"/>
                  </a:lnTo>
                  <a:cubicBezTo>
                    <a:pt x="567542" y="0"/>
                    <a:pt x="573380" y="2418"/>
                    <a:pt x="577685" y="6723"/>
                  </a:cubicBezTo>
                  <a:cubicBezTo>
                    <a:pt x="581990" y="11028"/>
                    <a:pt x="584408" y="16866"/>
                    <a:pt x="584408" y="22954"/>
                  </a:cubicBezTo>
                  <a:lnTo>
                    <a:pt x="584408" y="408941"/>
                  </a:lnTo>
                  <a:cubicBezTo>
                    <a:pt x="584408" y="415029"/>
                    <a:pt x="581990" y="420868"/>
                    <a:pt x="577685" y="425172"/>
                  </a:cubicBezTo>
                  <a:cubicBezTo>
                    <a:pt x="573380" y="429477"/>
                    <a:pt x="567542" y="431895"/>
                    <a:pt x="561454" y="431895"/>
                  </a:cubicBezTo>
                  <a:lnTo>
                    <a:pt x="22954" y="431895"/>
                  </a:lnTo>
                  <a:cubicBezTo>
                    <a:pt x="16866" y="431895"/>
                    <a:pt x="11028" y="429477"/>
                    <a:pt x="6723" y="425172"/>
                  </a:cubicBezTo>
                  <a:cubicBezTo>
                    <a:pt x="2418" y="420868"/>
                    <a:pt x="0" y="415029"/>
                    <a:pt x="0" y="408941"/>
                  </a:cubicBezTo>
                  <a:lnTo>
                    <a:pt x="0" y="22954"/>
                  </a:lnTo>
                  <a:cubicBezTo>
                    <a:pt x="0" y="16866"/>
                    <a:pt x="2418" y="11028"/>
                    <a:pt x="6723" y="6723"/>
                  </a:cubicBezTo>
                  <a:cubicBezTo>
                    <a:pt x="11028" y="2418"/>
                    <a:pt x="16866" y="0"/>
                    <a:pt x="22954" y="0"/>
                  </a:cubicBezTo>
                  <a:close/>
                </a:path>
              </a:pathLst>
            </a:custGeom>
            <a:blipFill>
              <a:blip r:embed="rId2"/>
              <a:stretch>
                <a:fillRect l="-14827" r="-14827"/>
              </a:stretch>
            </a:blipFill>
          </p:spPr>
          <p:txBody>
            <a:bodyPr/>
            <a:lstStyle/>
            <a:p>
              <a:endParaRPr lang="en-AU"/>
            </a:p>
          </p:txBody>
        </p:sp>
      </p:grpSp>
      <p:sp>
        <p:nvSpPr>
          <p:cNvPr id="6" name="TextBox 5">
            <a:extLst>
              <a:ext uri="{FF2B5EF4-FFF2-40B4-BE49-F238E27FC236}">
                <a16:creationId xmlns:a16="http://schemas.microsoft.com/office/drawing/2014/main" id="{EFA46FE7-DDFA-465A-D806-DFF559F2D477}"/>
              </a:ext>
            </a:extLst>
          </p:cNvPr>
          <p:cNvSpPr txBox="1"/>
          <p:nvPr/>
        </p:nvSpPr>
        <p:spPr>
          <a:xfrm>
            <a:off x="533400" y="4076700"/>
            <a:ext cx="8610600" cy="923330"/>
          </a:xfrm>
          <a:prstGeom prst="rect">
            <a:avLst/>
          </a:prstGeom>
          <a:noFill/>
        </p:spPr>
        <p:txBody>
          <a:bodyPr wrap="square" rtlCol="0">
            <a:spAutoFit/>
          </a:bodyPr>
          <a:lstStyle/>
          <a:p>
            <a:r>
              <a:rPr lang="en-AU" dirty="0"/>
              <a:t>Goals I have for this unit are learning new skills with programming and learning how to build a robot and by the end I want to have a fully built robot and fully programmed to do things.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436283" y="3495858"/>
            <a:ext cx="17415433" cy="180340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333446"/>
                </a:solidFill>
                <a:latin typeface="Poppins Light"/>
                <a:ea typeface="Poppins Light"/>
                <a:cs typeface="Poppins Light"/>
                <a:sym typeface="Poppins Light"/>
              </a:rPr>
              <a:t>UNIT GUIDE</a:t>
            </a:r>
          </a:p>
        </p:txBody>
      </p:sp>
      <p:sp>
        <p:nvSpPr>
          <p:cNvPr id="3" name="TextBox 3"/>
          <p:cNvSpPr txBox="1"/>
          <p:nvPr/>
        </p:nvSpPr>
        <p:spPr>
          <a:xfrm>
            <a:off x="1028700" y="6625559"/>
            <a:ext cx="5087534"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HOW TO USE EACH UNIT</a:t>
            </a:r>
          </a:p>
        </p:txBody>
      </p:sp>
      <p:sp>
        <p:nvSpPr>
          <p:cNvPr id="4" name="TextBox 4"/>
          <p:cNvSpPr txBox="1"/>
          <p:nvPr/>
        </p:nvSpPr>
        <p:spPr>
          <a:xfrm>
            <a:off x="1164145" y="7460174"/>
            <a:ext cx="4816643" cy="2645468"/>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slide includes the same prompts to help you document your learning consistently. Fill in each section as you work through the unit activities.</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Delete the prompts once each section is completed.</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Add more slides as required.</a:t>
            </a:r>
          </a:p>
        </p:txBody>
      </p:sp>
      <p:sp>
        <p:nvSpPr>
          <p:cNvPr id="5" name="TextBox 5"/>
          <p:cNvSpPr txBox="1"/>
          <p:nvPr/>
        </p:nvSpPr>
        <p:spPr>
          <a:xfrm>
            <a:off x="6753456" y="6637164"/>
            <a:ext cx="4960681" cy="446789"/>
          </a:xfrm>
          <a:prstGeom prst="rect">
            <a:avLst/>
          </a:prstGeom>
        </p:spPr>
        <p:txBody>
          <a:bodyPr wrap="square"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WHAT YOU WILL DOCUMENT</a:t>
            </a:r>
          </a:p>
        </p:txBody>
      </p:sp>
      <p:sp>
        <p:nvSpPr>
          <p:cNvPr id="6" name="TextBox 6"/>
          <p:cNvSpPr txBox="1"/>
          <p:nvPr/>
        </p:nvSpPr>
        <p:spPr>
          <a:xfrm>
            <a:off x="12543262" y="6625559"/>
            <a:ext cx="4554061"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TIPS FOR SUCCESS</a:t>
            </a:r>
          </a:p>
        </p:txBody>
      </p:sp>
      <p:sp>
        <p:nvSpPr>
          <p:cNvPr id="7" name="TextBox 7"/>
          <p:cNvSpPr txBox="1"/>
          <p:nvPr/>
        </p:nvSpPr>
        <p:spPr>
          <a:xfrm>
            <a:off x="6825476" y="7460174"/>
            <a:ext cx="4816643" cy="1760610"/>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includes: What I Learned, Key Vocabulary (3-5 terms), Code &amp; Programming Notes, Challenges &amp; Solutions, Pros &amp; Cons, and Reflection Questions. Complete each section after finishing the unit activities.</a:t>
            </a:r>
          </a:p>
        </p:txBody>
      </p:sp>
      <p:sp>
        <p:nvSpPr>
          <p:cNvPr id="8" name="TextBox 8"/>
          <p:cNvSpPr txBox="1"/>
          <p:nvPr/>
        </p:nvSpPr>
        <p:spPr>
          <a:xfrm>
            <a:off x="12443265" y="7460174"/>
            <a:ext cx="4816643" cy="1170705"/>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Use your own words. Include screenshots or sketches where possible. Be honest in your reflections. Ask your teacher if you are unsure what to write in any section.</a:t>
            </a:r>
          </a:p>
        </p:txBody>
      </p:sp>
      <p:grpSp>
        <p:nvGrpSpPr>
          <p:cNvPr id="9" name="Group 9"/>
          <p:cNvGrpSpPr/>
          <p:nvPr/>
        </p:nvGrpSpPr>
        <p:grpSpPr>
          <a:xfrm>
            <a:off x="1028700" y="233663"/>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602653" y="0"/>
            <a:ext cx="4685347" cy="4685347"/>
          </a:xfrm>
          <a:custGeom>
            <a:avLst/>
            <a:gdLst/>
            <a:ahLst/>
            <a:cxnLst/>
            <a:rect l="l" t="t" r="r" b="b"/>
            <a:pathLst>
              <a:path w="4685347" h="4685347">
                <a:moveTo>
                  <a:pt x="0" y="0"/>
                </a:moveTo>
                <a:lnTo>
                  <a:pt x="4685347" y="0"/>
                </a:lnTo>
                <a:lnTo>
                  <a:pt x="4685347" y="4685347"/>
                </a:lnTo>
                <a:lnTo>
                  <a:pt x="0" y="4685347"/>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43415"/>
            <a:ext cx="13334999" cy="1350370"/>
          </a:xfrm>
          <a:prstGeom prst="rect">
            <a:avLst/>
          </a:prstGeom>
        </p:spPr>
        <p:txBody>
          <a:bodyPr wrap="square" lIns="0" tIns="0" rIns="0" bIns="0" rtlCol="0" anchor="t">
            <a:spAutoFit/>
          </a:bodyPr>
          <a:lstStyle/>
          <a:p>
            <a:pPr marL="0" lvl="0" indent="0" algn="ctr">
              <a:lnSpc>
                <a:spcPts val="11751"/>
              </a:lnSpc>
              <a:spcBef>
                <a:spcPct val="0"/>
              </a:spcBef>
            </a:pPr>
            <a:r>
              <a:rPr lang="en-US" sz="6000" dirty="0">
                <a:solidFill>
                  <a:srgbClr val="333446"/>
                </a:solidFill>
                <a:latin typeface="Poppins Light"/>
                <a:ea typeface="Poppins Light"/>
                <a:cs typeface="Poppins Light"/>
                <a:sym typeface="Poppins Light"/>
              </a:rPr>
              <a:t>UNIT 1 – DRIVE WITH A CONTROLLER</a:t>
            </a:r>
          </a:p>
        </p:txBody>
      </p:sp>
      <p:sp>
        <p:nvSpPr>
          <p:cNvPr id="4" name="TextBox 4"/>
          <p:cNvSpPr txBox="1"/>
          <p:nvPr/>
        </p:nvSpPr>
        <p:spPr>
          <a:xfrm>
            <a:off x="466032" y="7872439"/>
            <a:ext cx="8220768" cy="1525226"/>
          </a:xfrm>
          <a:prstGeom prst="rect">
            <a:avLst/>
          </a:prstGeom>
        </p:spPr>
        <p:txBody>
          <a:bodyPr wrap="square" lIns="0" tIns="0" rIns="0" bIns="0" rtlCol="0" anchor="t">
            <a:spAutoFit/>
          </a:bodyPr>
          <a:lstStyle/>
          <a:p>
            <a:pPr marL="0" lvl="0" indent="0" algn="just">
              <a:lnSpc>
                <a:spcPts val="1968"/>
              </a:lnSpc>
            </a:pPr>
            <a:r>
              <a:rPr lang="en-US" sz="1405" dirty="0">
                <a:solidFill>
                  <a:srgbClr val="333446"/>
                </a:solidFill>
                <a:latin typeface="Poppins"/>
                <a:ea typeface="Poppins"/>
                <a:cs typeface="Poppins"/>
                <a:sym typeface="Poppins"/>
              </a:rPr>
              <a:t>WHAT I LEARNED</a:t>
            </a:r>
          </a:p>
          <a:p>
            <a:pPr marL="0" lvl="0" indent="0" algn="just">
              <a:lnSpc>
                <a:spcPts val="1968"/>
              </a:lnSpc>
            </a:pPr>
            <a:r>
              <a:rPr lang="en-US" sz="1405" dirty="0">
                <a:solidFill>
                  <a:srgbClr val="333446"/>
                </a:solidFill>
                <a:latin typeface="Poppins"/>
                <a:ea typeface="Poppins"/>
                <a:cs typeface="Poppins"/>
                <a:sym typeface="Poppins"/>
              </a:rPr>
              <a:t>Describe the key concepts you explored in this unit. How does the VEX AIM robot respond to controller inputs? What did you discover about driving and directional control?</a:t>
            </a:r>
          </a:p>
          <a:p>
            <a:pPr marL="0" lvl="0" indent="0" algn="just">
              <a:lnSpc>
                <a:spcPts val="1968"/>
              </a:lnSpc>
            </a:pPr>
            <a:r>
              <a:rPr lang="en-US" sz="1405" dirty="0">
                <a:solidFill>
                  <a:srgbClr val="333446"/>
                </a:solidFill>
                <a:latin typeface="Poppins"/>
                <a:ea typeface="Poppins"/>
                <a:cs typeface="Poppins"/>
                <a:sym typeface="Poppins"/>
              </a:rPr>
              <a:t>KEY VOCABULARY</a:t>
            </a:r>
          </a:p>
          <a:p>
            <a:pPr marL="303528" lvl="1" indent="-151764" algn="just">
              <a:lnSpc>
                <a:spcPts val="1968"/>
              </a:lnSpc>
              <a:buAutoNum type="arabicPeriod"/>
            </a:pPr>
            <a:r>
              <a:rPr lang="en-US" sz="1405" dirty="0">
                <a:solidFill>
                  <a:srgbClr val="333446"/>
                </a:solidFill>
                <a:latin typeface="Poppins"/>
                <a:ea typeface="Poppins"/>
                <a:cs typeface="Poppins"/>
                <a:sym typeface="Poppins"/>
              </a:rPr>
              <a:t>___________________  2. ___________________</a:t>
            </a:r>
          </a:p>
          <a:p>
            <a:pPr marL="303528" lvl="1" indent="-151764" algn="just">
              <a:lnSpc>
                <a:spcPts val="1968"/>
              </a:lnSpc>
              <a:buAutoNum type="arabicPeriod"/>
            </a:pPr>
            <a:r>
              <a:rPr lang="en-US" sz="1405" dirty="0">
                <a:solidFill>
                  <a:srgbClr val="333446"/>
                </a:solidFill>
                <a:latin typeface="Poppins"/>
                <a:ea typeface="Poppins"/>
                <a:cs typeface="Poppins"/>
                <a:sym typeface="Poppins"/>
              </a:rPr>
              <a:t>___________________  4. ___________________</a:t>
            </a:r>
          </a:p>
        </p:txBody>
      </p:sp>
      <p:sp>
        <p:nvSpPr>
          <p:cNvPr id="5" name="TextBox 5"/>
          <p:cNvSpPr txBox="1"/>
          <p:nvPr/>
        </p:nvSpPr>
        <p:spPr>
          <a:xfrm>
            <a:off x="444261" y="1707301"/>
            <a:ext cx="7868063" cy="4473084"/>
          </a:xfrm>
          <a:prstGeom prst="rect">
            <a:avLst/>
          </a:prstGeom>
        </p:spPr>
        <p:txBody>
          <a:bodyPr lIns="0" tIns="0" rIns="0" bIns="0" rtlCol="0" anchor="t">
            <a:spAutoFit/>
          </a:bodyPr>
          <a:lstStyle/>
          <a:p>
            <a:pPr algn="just">
              <a:lnSpc>
                <a:spcPts val="2528"/>
              </a:lnSpc>
            </a:pPr>
            <a:r>
              <a:rPr lang="en-US" sz="1805" dirty="0">
                <a:solidFill>
                  <a:srgbClr val="333446"/>
                </a:solidFill>
                <a:latin typeface="Poppins"/>
                <a:ea typeface="Poppins"/>
                <a:cs typeface="Poppins"/>
                <a:sym typeface="Poppins"/>
              </a:rPr>
              <a:t>Add an annotated image of the remote that explains how to use it.</a:t>
            </a: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marL="0" lvl="0" indent="0" algn="just">
              <a:lnSpc>
                <a:spcPts val="2528"/>
              </a:lnSpc>
            </a:pPr>
            <a:r>
              <a:rPr lang="en-US" sz="1805" dirty="0">
                <a:solidFill>
                  <a:srgbClr val="333446"/>
                </a:solidFill>
                <a:latin typeface="Poppins"/>
                <a:ea typeface="Poppins"/>
                <a:cs typeface="Poppins"/>
                <a:sym typeface="Poppins"/>
              </a:rPr>
              <a:t>CHALLENGES &amp; SOLUTIONS</a:t>
            </a:r>
          </a:p>
          <a:p>
            <a:pPr marL="0" lvl="0" indent="0" algn="just">
              <a:lnSpc>
                <a:spcPts val="2528"/>
              </a:lnSpc>
            </a:pPr>
            <a:r>
              <a:rPr lang="en-US" sz="1805" dirty="0">
                <a:solidFill>
                  <a:srgbClr val="333446"/>
                </a:solidFill>
                <a:latin typeface="Poppins"/>
                <a:ea typeface="Poppins"/>
                <a:cs typeface="Poppins"/>
                <a:sym typeface="Poppins"/>
              </a:rPr>
              <a:t>What difficulties did you face? How did you overcome them?</a:t>
            </a:r>
          </a:p>
        </p:txBody>
      </p:sp>
      <p:sp>
        <p:nvSpPr>
          <p:cNvPr id="6" name="TextBox 6"/>
          <p:cNvSpPr txBox="1"/>
          <p:nvPr/>
        </p:nvSpPr>
        <p:spPr>
          <a:xfrm>
            <a:off x="9462140" y="7772093"/>
            <a:ext cx="7868063" cy="1781706"/>
          </a:xfrm>
          <a:prstGeom prst="rect">
            <a:avLst/>
          </a:prstGeom>
        </p:spPr>
        <p:txBody>
          <a:bodyPr lIns="0" tIns="0" rIns="0" bIns="0" rtlCol="0" anchor="t">
            <a:spAutoFit/>
          </a:bodyPr>
          <a:lstStyle/>
          <a:p>
            <a:pPr marL="0" lvl="0" indent="0" algn="just">
              <a:lnSpc>
                <a:spcPts val="1968"/>
              </a:lnSpc>
            </a:pPr>
            <a:r>
              <a:rPr lang="en-US" sz="1405" dirty="0">
                <a:solidFill>
                  <a:srgbClr val="333446"/>
                </a:solidFill>
                <a:latin typeface="Poppins"/>
                <a:ea typeface="Poppins"/>
                <a:cs typeface="Poppins"/>
                <a:sym typeface="Poppins"/>
              </a:rPr>
              <a:t>PROS &amp; CONS OF USING A REMOTE</a:t>
            </a:r>
          </a:p>
          <a:p>
            <a:pPr marL="0" lvl="0" indent="0" algn="just">
              <a:lnSpc>
                <a:spcPts val="1968"/>
              </a:lnSpc>
            </a:pPr>
            <a:r>
              <a:rPr lang="en-US" sz="1405" dirty="0">
                <a:solidFill>
                  <a:srgbClr val="333446"/>
                </a:solidFill>
                <a:latin typeface="Poppins"/>
                <a:ea typeface="Poppins"/>
                <a:cs typeface="Poppins"/>
                <a:sym typeface="Poppins"/>
              </a:rPr>
              <a:t>Pros: it is easy to use once you get the hang of it </a:t>
            </a:r>
          </a:p>
          <a:p>
            <a:pPr marL="0" lvl="0" indent="0" algn="just">
              <a:lnSpc>
                <a:spcPts val="1968"/>
              </a:lnSpc>
            </a:pPr>
            <a:r>
              <a:rPr lang="en-US" sz="1405" dirty="0">
                <a:solidFill>
                  <a:srgbClr val="333446"/>
                </a:solidFill>
                <a:latin typeface="Poppins"/>
                <a:ea typeface="Poppins"/>
                <a:cs typeface="Poppins"/>
                <a:sym typeface="Poppins"/>
              </a:rPr>
              <a:t>Cons: there might be two many buttons on the remote  </a:t>
            </a:r>
          </a:p>
          <a:p>
            <a:pPr marL="0" lvl="0" indent="0" algn="just">
              <a:lnSpc>
                <a:spcPts val="1968"/>
              </a:lnSpc>
            </a:pPr>
            <a:r>
              <a:rPr lang="en-US" sz="1405" dirty="0">
                <a:solidFill>
                  <a:srgbClr val="333446"/>
                </a:solidFill>
                <a:latin typeface="Poppins"/>
                <a:ea typeface="Poppins"/>
                <a:cs typeface="Poppins"/>
                <a:sym typeface="Poppins"/>
              </a:rPr>
              <a:t>REFLECTION</a:t>
            </a:r>
          </a:p>
          <a:p>
            <a:pPr marL="0" lvl="0" indent="0" algn="just">
              <a:lnSpc>
                <a:spcPts val="1968"/>
              </a:lnSpc>
            </a:pPr>
            <a:r>
              <a:rPr lang="en-US" sz="1405" dirty="0">
                <a:solidFill>
                  <a:srgbClr val="333446"/>
                </a:solidFill>
                <a:latin typeface="Poppins"/>
                <a:ea typeface="Poppins"/>
                <a:cs typeface="Poppins"/>
                <a:sym typeface="Poppins"/>
              </a:rPr>
              <a:t>What surprised you most about driving the robot? What would you do differently next time? </a:t>
            </a:r>
          </a:p>
          <a:p>
            <a:pPr marL="0" lvl="0" indent="0" algn="just">
              <a:lnSpc>
                <a:spcPts val="1968"/>
              </a:lnSpc>
            </a:pPr>
            <a:r>
              <a:rPr lang="en-US" sz="1405" dirty="0">
                <a:solidFill>
                  <a:srgbClr val="333446"/>
                </a:solidFill>
                <a:latin typeface="Poppins"/>
                <a:ea typeface="Poppins"/>
                <a:cs typeface="Poppins"/>
                <a:sym typeface="Poppins"/>
              </a:rPr>
              <a:t>I would do more tricks with it and see what it can do </a:t>
            </a:r>
          </a:p>
        </p:txBody>
      </p:sp>
      <p:pic>
        <p:nvPicPr>
          <p:cNvPr id="8" name="Picture 7">
            <a:extLst>
              <a:ext uri="{FF2B5EF4-FFF2-40B4-BE49-F238E27FC236}">
                <a16:creationId xmlns:a16="http://schemas.microsoft.com/office/drawing/2014/main" id="{46FCC1FD-1154-11FA-5D62-0851B7ED7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324100"/>
            <a:ext cx="3581400" cy="2599072"/>
          </a:xfrm>
          <a:prstGeom prst="rect">
            <a:avLst/>
          </a:prstGeom>
        </p:spPr>
      </p:pic>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4B5A063B-CFE9-3D7F-7BC2-A9C6D2D2F2BD}"/>
                  </a:ext>
                </a:extLst>
              </p14:cNvPr>
              <p14:cNvContentPartPr/>
              <p14:nvPr/>
            </p14:nvContentPartPr>
            <p14:xfrm>
              <a:off x="1933149" y="2167714"/>
              <a:ext cx="4369680" cy="366120"/>
            </p14:xfrm>
          </p:contentPart>
        </mc:Choice>
        <mc:Fallback>
          <p:pic>
            <p:nvPicPr>
              <p:cNvPr id="9" name="Ink 8">
                <a:extLst>
                  <a:ext uri="{FF2B5EF4-FFF2-40B4-BE49-F238E27FC236}">
                    <a16:creationId xmlns:a16="http://schemas.microsoft.com/office/drawing/2014/main" id="{4B5A063B-CFE9-3D7F-7BC2-A9C6D2D2F2BD}"/>
                  </a:ext>
                </a:extLst>
              </p:cNvPr>
              <p:cNvPicPr/>
              <p:nvPr/>
            </p:nvPicPr>
            <p:blipFill>
              <a:blip r:embed="rId5"/>
              <a:stretch>
                <a:fillRect/>
              </a:stretch>
            </p:blipFill>
            <p:spPr>
              <a:xfrm>
                <a:off x="1924509" y="2159074"/>
                <a:ext cx="4387320" cy="383760"/>
              </a:xfrm>
              <a:prstGeom prst="rect">
                <a:avLst/>
              </a:prstGeom>
            </p:spPr>
          </p:pic>
        </mc:Fallback>
      </mc:AlternateContent>
      <p:sp>
        <p:nvSpPr>
          <p:cNvPr id="10" name="TextBox 9">
            <a:extLst>
              <a:ext uri="{FF2B5EF4-FFF2-40B4-BE49-F238E27FC236}">
                <a16:creationId xmlns:a16="http://schemas.microsoft.com/office/drawing/2014/main" id="{4609908A-4820-8066-6C90-F547DD3EC41F}"/>
              </a:ext>
            </a:extLst>
          </p:cNvPr>
          <p:cNvSpPr txBox="1"/>
          <p:nvPr/>
        </p:nvSpPr>
        <p:spPr>
          <a:xfrm>
            <a:off x="6302828" y="2167714"/>
            <a:ext cx="3907971" cy="369332"/>
          </a:xfrm>
          <a:prstGeom prst="rect">
            <a:avLst/>
          </a:prstGeom>
          <a:noFill/>
        </p:spPr>
        <p:txBody>
          <a:bodyPr wrap="square" rtlCol="0">
            <a:spAutoFit/>
          </a:bodyPr>
          <a:lstStyle/>
          <a:p>
            <a:r>
              <a:rPr lang="en-AU" dirty="0"/>
              <a:t>Move to the side and up and down.</a:t>
            </a:r>
          </a:p>
        </p:txBody>
      </p:sp>
      <p:sp>
        <p:nvSpPr>
          <p:cNvPr id="13" name="TextBox 12">
            <a:extLst>
              <a:ext uri="{FF2B5EF4-FFF2-40B4-BE49-F238E27FC236}">
                <a16:creationId xmlns:a16="http://schemas.microsoft.com/office/drawing/2014/main" id="{A994EE8D-4F53-9AD6-7D8D-ED5D643DCD5E}"/>
              </a:ext>
            </a:extLst>
          </p:cNvPr>
          <p:cNvSpPr txBox="1"/>
          <p:nvPr/>
        </p:nvSpPr>
        <p:spPr>
          <a:xfrm>
            <a:off x="6663909" y="2857500"/>
            <a:ext cx="1648415" cy="369332"/>
          </a:xfrm>
          <a:prstGeom prst="rect">
            <a:avLst/>
          </a:prstGeom>
          <a:noFill/>
        </p:spPr>
        <p:txBody>
          <a:bodyPr wrap="square" rtlCol="0">
            <a:spAutoFit/>
          </a:bodyPr>
          <a:lstStyle/>
          <a:p>
            <a:r>
              <a:rPr lang="en-AU" dirty="0"/>
              <a:t>Move to left</a:t>
            </a:r>
          </a:p>
        </p:txBody>
      </p:sp>
      <p:sp>
        <p:nvSpPr>
          <p:cNvPr id="14" name="TextBox 13">
            <a:extLst>
              <a:ext uri="{FF2B5EF4-FFF2-40B4-BE49-F238E27FC236}">
                <a16:creationId xmlns:a16="http://schemas.microsoft.com/office/drawing/2014/main" id="{9FC01942-7318-3848-EC7A-CEA272CB84D2}"/>
              </a:ext>
            </a:extLst>
          </p:cNvPr>
          <p:cNvSpPr txBox="1"/>
          <p:nvPr/>
        </p:nvSpPr>
        <p:spPr>
          <a:xfrm>
            <a:off x="7010399" y="3435634"/>
            <a:ext cx="1467263" cy="369332"/>
          </a:xfrm>
          <a:prstGeom prst="rect">
            <a:avLst/>
          </a:prstGeom>
          <a:noFill/>
        </p:spPr>
        <p:txBody>
          <a:bodyPr wrap="square" rtlCol="0">
            <a:spAutoFit/>
          </a:bodyPr>
          <a:lstStyle/>
          <a:p>
            <a:r>
              <a:rPr lang="en-AU" dirty="0"/>
              <a:t>Move to right</a:t>
            </a:r>
          </a:p>
        </p:txBody>
      </p:sp>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DFB0A524-9623-AE62-2F86-D1829437DC8F}"/>
                  </a:ext>
                </a:extLst>
              </p14:cNvPr>
              <p14:cNvContentPartPr/>
              <p14:nvPr/>
            </p14:nvContentPartPr>
            <p14:xfrm>
              <a:off x="2756109" y="3487474"/>
              <a:ext cx="3108960" cy="1006920"/>
            </p14:xfrm>
          </p:contentPart>
        </mc:Choice>
        <mc:Fallback>
          <p:pic>
            <p:nvPicPr>
              <p:cNvPr id="15" name="Ink 14">
                <a:extLst>
                  <a:ext uri="{FF2B5EF4-FFF2-40B4-BE49-F238E27FC236}">
                    <a16:creationId xmlns:a16="http://schemas.microsoft.com/office/drawing/2014/main" id="{DFB0A524-9623-AE62-2F86-D1829437DC8F}"/>
                  </a:ext>
                </a:extLst>
              </p:cNvPr>
              <p:cNvPicPr/>
              <p:nvPr/>
            </p:nvPicPr>
            <p:blipFill>
              <a:blip r:embed="rId7"/>
              <a:stretch>
                <a:fillRect/>
              </a:stretch>
            </p:blipFill>
            <p:spPr>
              <a:xfrm>
                <a:off x="2747109" y="3478834"/>
                <a:ext cx="3126600" cy="1024560"/>
              </a:xfrm>
              <a:prstGeom prst="rect">
                <a:avLst/>
              </a:prstGeom>
            </p:spPr>
          </p:pic>
        </mc:Fallback>
      </mc:AlternateContent>
      <p:grpSp>
        <p:nvGrpSpPr>
          <p:cNvPr id="17" name="Group 16">
            <a:extLst>
              <a:ext uri="{FF2B5EF4-FFF2-40B4-BE49-F238E27FC236}">
                <a16:creationId xmlns:a16="http://schemas.microsoft.com/office/drawing/2014/main" id="{F4F094C2-08B3-A33F-B14C-51BD2CBC9F03}"/>
              </a:ext>
            </a:extLst>
          </p:cNvPr>
          <p:cNvGrpSpPr/>
          <p:nvPr/>
        </p:nvGrpSpPr>
        <p:grpSpPr>
          <a:xfrm>
            <a:off x="2665029" y="2742634"/>
            <a:ext cx="4568400" cy="1653120"/>
            <a:chOff x="2665029" y="2742634"/>
            <a:chExt cx="4568400" cy="1653120"/>
          </a:xfrm>
        </p:grpSpPr>
        <mc:AlternateContent xmlns:mc="http://schemas.openxmlformats.org/markup-compatibility/2006">
          <mc:Choice xmlns:p14="http://schemas.microsoft.com/office/powerpoint/2010/main" Requires="p14">
            <p:contentPart p14:bwMode="auto" r:id="rId8">
              <p14:nvContentPartPr>
                <p14:cNvPr id="11" name="Ink 10">
                  <a:extLst>
                    <a:ext uri="{FF2B5EF4-FFF2-40B4-BE49-F238E27FC236}">
                      <a16:creationId xmlns:a16="http://schemas.microsoft.com/office/drawing/2014/main" id="{8B236ACB-0790-B95D-9EE7-6C3DC6A1E57A}"/>
                    </a:ext>
                  </a:extLst>
                </p14:cNvPr>
                <p14:cNvContentPartPr/>
                <p14:nvPr/>
              </p14:nvContentPartPr>
              <p14:xfrm>
                <a:off x="2665029" y="2742634"/>
                <a:ext cx="3998880" cy="353880"/>
              </p14:xfrm>
            </p:contentPart>
          </mc:Choice>
          <mc:Fallback>
            <p:pic>
              <p:nvPicPr>
                <p:cNvPr id="11" name="Ink 10">
                  <a:extLst>
                    <a:ext uri="{FF2B5EF4-FFF2-40B4-BE49-F238E27FC236}">
                      <a16:creationId xmlns:a16="http://schemas.microsoft.com/office/drawing/2014/main" id="{8B236ACB-0790-B95D-9EE7-6C3DC6A1E57A}"/>
                    </a:ext>
                  </a:extLst>
                </p:cNvPr>
                <p:cNvPicPr/>
                <p:nvPr/>
              </p:nvPicPr>
              <p:blipFill>
                <a:blip r:embed="rId9"/>
                <a:stretch>
                  <a:fillRect/>
                </a:stretch>
              </p:blipFill>
              <p:spPr>
                <a:xfrm>
                  <a:off x="2656029" y="2733994"/>
                  <a:ext cx="401652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9472B73D-FE3D-C2EB-D323-95CF9E1C65A5}"/>
                    </a:ext>
                  </a:extLst>
                </p14:cNvPr>
                <p14:cNvContentPartPr/>
                <p14:nvPr/>
              </p14:nvContentPartPr>
              <p14:xfrm>
                <a:off x="3448389" y="3435634"/>
                <a:ext cx="3408120" cy="261720"/>
              </p14:xfrm>
            </p:contentPart>
          </mc:Choice>
          <mc:Fallback>
            <p:pic>
              <p:nvPicPr>
                <p:cNvPr id="12" name="Ink 11">
                  <a:extLst>
                    <a:ext uri="{FF2B5EF4-FFF2-40B4-BE49-F238E27FC236}">
                      <a16:creationId xmlns:a16="http://schemas.microsoft.com/office/drawing/2014/main" id="{9472B73D-FE3D-C2EB-D323-95CF9E1C65A5}"/>
                    </a:ext>
                  </a:extLst>
                </p:cNvPr>
                <p:cNvPicPr/>
                <p:nvPr/>
              </p:nvPicPr>
              <p:blipFill>
                <a:blip r:embed="rId11"/>
                <a:stretch>
                  <a:fillRect/>
                </a:stretch>
              </p:blipFill>
              <p:spPr>
                <a:xfrm>
                  <a:off x="3439749" y="3426994"/>
                  <a:ext cx="342576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92AFC517-9521-9329-17A8-FD3249706EE9}"/>
                    </a:ext>
                  </a:extLst>
                </p14:cNvPr>
                <p14:cNvContentPartPr/>
                <p14:nvPr/>
              </p14:nvContentPartPr>
              <p14:xfrm>
                <a:off x="3330669" y="2873314"/>
                <a:ext cx="3902760" cy="1522440"/>
              </p14:xfrm>
            </p:contentPart>
          </mc:Choice>
          <mc:Fallback>
            <p:pic>
              <p:nvPicPr>
                <p:cNvPr id="16" name="Ink 15">
                  <a:extLst>
                    <a:ext uri="{FF2B5EF4-FFF2-40B4-BE49-F238E27FC236}">
                      <a16:creationId xmlns:a16="http://schemas.microsoft.com/office/drawing/2014/main" id="{92AFC517-9521-9329-17A8-FD3249706EE9}"/>
                    </a:ext>
                  </a:extLst>
                </p:cNvPr>
                <p:cNvPicPr/>
                <p:nvPr/>
              </p:nvPicPr>
              <p:blipFill>
                <a:blip r:embed="rId13"/>
                <a:stretch>
                  <a:fillRect/>
                </a:stretch>
              </p:blipFill>
              <p:spPr>
                <a:xfrm>
                  <a:off x="3321669" y="2864314"/>
                  <a:ext cx="3920400" cy="1540080"/>
                </a:xfrm>
                <a:prstGeom prst="rect">
                  <a:avLst/>
                </a:prstGeom>
              </p:spPr>
            </p:pic>
          </mc:Fallback>
        </mc:AlternateContent>
      </p:grpSp>
      <p:sp>
        <p:nvSpPr>
          <p:cNvPr id="18" name="TextBox 17">
            <a:extLst>
              <a:ext uri="{FF2B5EF4-FFF2-40B4-BE49-F238E27FC236}">
                <a16:creationId xmlns:a16="http://schemas.microsoft.com/office/drawing/2014/main" id="{9F049B38-84BE-C6CF-5653-BD746CAE9FD5}"/>
              </a:ext>
            </a:extLst>
          </p:cNvPr>
          <p:cNvSpPr txBox="1"/>
          <p:nvPr/>
        </p:nvSpPr>
        <p:spPr>
          <a:xfrm>
            <a:off x="5865069" y="4395754"/>
            <a:ext cx="798840" cy="369332"/>
          </a:xfrm>
          <a:prstGeom prst="rect">
            <a:avLst/>
          </a:prstGeom>
          <a:noFill/>
        </p:spPr>
        <p:txBody>
          <a:bodyPr wrap="square" rtlCol="0">
            <a:spAutoFit/>
          </a:bodyPr>
          <a:lstStyle/>
          <a:p>
            <a:r>
              <a:rPr lang="en-AU" dirty="0"/>
              <a:t>kick</a:t>
            </a:r>
          </a:p>
        </p:txBody>
      </p:sp>
      <p:sp>
        <p:nvSpPr>
          <p:cNvPr id="20" name="TextBox 19">
            <a:extLst>
              <a:ext uri="{FF2B5EF4-FFF2-40B4-BE49-F238E27FC236}">
                <a16:creationId xmlns:a16="http://schemas.microsoft.com/office/drawing/2014/main" id="{0FAD1281-FA5A-28A9-1459-461B753A6151}"/>
              </a:ext>
            </a:extLst>
          </p:cNvPr>
          <p:cNvSpPr txBox="1"/>
          <p:nvPr/>
        </p:nvSpPr>
        <p:spPr>
          <a:xfrm>
            <a:off x="7233429" y="4229100"/>
            <a:ext cx="1653455" cy="369332"/>
          </a:xfrm>
          <a:prstGeom prst="rect">
            <a:avLst/>
          </a:prstGeom>
          <a:noFill/>
        </p:spPr>
        <p:txBody>
          <a:bodyPr wrap="square" rtlCol="0">
            <a:spAutoFit/>
          </a:bodyPr>
          <a:lstStyle/>
          <a:p>
            <a:r>
              <a:rPr lang="en-AU" dirty="0"/>
              <a:t>Camera </a:t>
            </a:r>
          </a:p>
        </p:txBody>
      </p:sp>
      <mc:AlternateContent xmlns:mc="http://schemas.openxmlformats.org/markup-compatibility/2006">
        <mc:Choice xmlns:p14="http://schemas.microsoft.com/office/powerpoint/2010/main" Requires="p14">
          <p:contentPart p14:bwMode="auto" r:id="rId14">
            <p14:nvContentPartPr>
              <p14:cNvPr id="21" name="Ink 20">
                <a:extLst>
                  <a:ext uri="{FF2B5EF4-FFF2-40B4-BE49-F238E27FC236}">
                    <a16:creationId xmlns:a16="http://schemas.microsoft.com/office/drawing/2014/main" id="{81B7E8AE-3741-2769-3836-E1C8D0DAD9DA}"/>
                  </a:ext>
                </a:extLst>
              </p14:cNvPr>
              <p14:cNvContentPartPr/>
              <p14:nvPr/>
            </p14:nvContentPartPr>
            <p14:xfrm>
              <a:off x="1918029" y="3435634"/>
              <a:ext cx="106560" cy="1667880"/>
            </p14:xfrm>
          </p:contentPart>
        </mc:Choice>
        <mc:Fallback>
          <p:pic>
            <p:nvPicPr>
              <p:cNvPr id="21" name="Ink 20">
                <a:extLst>
                  <a:ext uri="{FF2B5EF4-FFF2-40B4-BE49-F238E27FC236}">
                    <a16:creationId xmlns:a16="http://schemas.microsoft.com/office/drawing/2014/main" id="{81B7E8AE-3741-2769-3836-E1C8D0DAD9DA}"/>
                  </a:ext>
                </a:extLst>
              </p:cNvPr>
              <p:cNvPicPr/>
              <p:nvPr/>
            </p:nvPicPr>
            <p:blipFill>
              <a:blip r:embed="rId15"/>
              <a:stretch>
                <a:fillRect/>
              </a:stretch>
            </p:blipFill>
            <p:spPr>
              <a:xfrm>
                <a:off x="1909389" y="3426994"/>
                <a:ext cx="124200" cy="1685520"/>
              </a:xfrm>
              <a:prstGeom prst="rect">
                <a:avLst/>
              </a:prstGeom>
            </p:spPr>
          </p:pic>
        </mc:Fallback>
      </mc:AlternateContent>
      <p:sp>
        <p:nvSpPr>
          <p:cNvPr id="22" name="TextBox 21">
            <a:extLst>
              <a:ext uri="{FF2B5EF4-FFF2-40B4-BE49-F238E27FC236}">
                <a16:creationId xmlns:a16="http://schemas.microsoft.com/office/drawing/2014/main" id="{FCD56374-9385-6C9C-2DE0-00AC3E12FCCA}"/>
              </a:ext>
            </a:extLst>
          </p:cNvPr>
          <p:cNvSpPr txBox="1"/>
          <p:nvPr/>
        </p:nvSpPr>
        <p:spPr>
          <a:xfrm>
            <a:off x="2024589" y="4923172"/>
            <a:ext cx="1175811" cy="369332"/>
          </a:xfrm>
          <a:prstGeom prst="rect">
            <a:avLst/>
          </a:prstGeom>
          <a:noFill/>
        </p:spPr>
        <p:txBody>
          <a:bodyPr wrap="square" rtlCol="0">
            <a:spAutoFit/>
          </a:bodyPr>
          <a:lstStyle/>
          <a:p>
            <a:r>
              <a:rPr lang="en-AU" dirty="0"/>
              <a:t>On off</a:t>
            </a:r>
          </a:p>
        </p:txBody>
      </p:sp>
      <mc:AlternateContent xmlns:mc="http://schemas.openxmlformats.org/markup-compatibility/2006">
        <mc:Choice xmlns:p14="http://schemas.microsoft.com/office/powerpoint/2010/main" Requires="p14">
          <p:contentPart p14:bwMode="auto" r:id="rId16">
            <p14:nvContentPartPr>
              <p14:cNvPr id="24" name="Ink 23">
                <a:extLst>
                  <a:ext uri="{FF2B5EF4-FFF2-40B4-BE49-F238E27FC236}">
                    <a16:creationId xmlns:a16="http://schemas.microsoft.com/office/drawing/2014/main" id="{F8F378B5-7F68-9243-3531-25C8CCC60870}"/>
                  </a:ext>
                </a:extLst>
              </p14:cNvPr>
              <p14:cNvContentPartPr/>
              <p14:nvPr/>
            </p14:nvContentPartPr>
            <p14:xfrm>
              <a:off x="1936029" y="5081194"/>
              <a:ext cx="126000" cy="95040"/>
            </p14:xfrm>
          </p:contentPart>
        </mc:Choice>
        <mc:Fallback>
          <p:pic>
            <p:nvPicPr>
              <p:cNvPr id="24" name="Ink 23">
                <a:extLst>
                  <a:ext uri="{FF2B5EF4-FFF2-40B4-BE49-F238E27FC236}">
                    <a16:creationId xmlns:a16="http://schemas.microsoft.com/office/drawing/2014/main" id="{F8F378B5-7F68-9243-3531-25C8CCC60870}"/>
                  </a:ext>
                </a:extLst>
              </p:cNvPr>
              <p:cNvPicPr/>
              <p:nvPr/>
            </p:nvPicPr>
            <p:blipFill>
              <a:blip r:embed="rId17"/>
              <a:stretch>
                <a:fillRect/>
              </a:stretch>
            </p:blipFill>
            <p:spPr>
              <a:xfrm>
                <a:off x="1927389" y="5072554"/>
                <a:ext cx="143640" cy="11268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658885" y="0"/>
            <a:ext cx="9629115" cy="4284956"/>
          </a:xfrm>
          <a:custGeom>
            <a:avLst/>
            <a:gdLst/>
            <a:ahLst/>
            <a:cxnLst/>
            <a:rect l="l" t="t" r="r" b="b"/>
            <a:pathLst>
              <a:path w="9629115" h="4284956">
                <a:moveTo>
                  <a:pt x="0" y="0"/>
                </a:moveTo>
                <a:lnTo>
                  <a:pt x="9629115" y="0"/>
                </a:lnTo>
                <a:lnTo>
                  <a:pt x="9629115" y="4284956"/>
                </a:lnTo>
                <a:lnTo>
                  <a:pt x="0" y="4284956"/>
                </a:lnTo>
                <a:lnTo>
                  <a:pt x="0" y="0"/>
                </a:lnTo>
                <a:close/>
              </a:path>
            </a:pathLst>
          </a:custGeom>
          <a:blipFill>
            <a:blip r:embed="rId2"/>
            <a:stretch>
              <a:fillRect/>
            </a:stretch>
          </a:blipFill>
        </p:spPr>
        <p:txBody>
          <a:bodyPr/>
          <a:lstStyle/>
          <a:p>
            <a:endParaRPr lang="en-AU"/>
          </a:p>
        </p:txBody>
      </p:sp>
      <p:sp>
        <p:nvSpPr>
          <p:cNvPr id="3" name="Freeform 3"/>
          <p:cNvSpPr/>
          <p:nvPr/>
        </p:nvSpPr>
        <p:spPr>
          <a:xfrm>
            <a:off x="1449365" y="7288062"/>
            <a:ext cx="4309579" cy="2725808"/>
          </a:xfrm>
          <a:custGeom>
            <a:avLst/>
            <a:gdLst/>
            <a:ahLst/>
            <a:cxnLst/>
            <a:rect l="l" t="t" r="r" b="b"/>
            <a:pathLst>
              <a:path w="4309579" h="2725808">
                <a:moveTo>
                  <a:pt x="0" y="0"/>
                </a:moveTo>
                <a:lnTo>
                  <a:pt x="4309579" y="0"/>
                </a:lnTo>
                <a:lnTo>
                  <a:pt x="4309579" y="2725809"/>
                </a:lnTo>
                <a:lnTo>
                  <a:pt x="0" y="2725809"/>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152400"/>
            <a:ext cx="8192853" cy="944876"/>
          </a:xfrm>
          <a:prstGeom prst="rect">
            <a:avLst/>
          </a:prstGeom>
        </p:spPr>
        <p:txBody>
          <a:bodyPr lIns="0" tIns="0" rIns="0" bIns="0" rtlCol="0" anchor="t">
            <a:spAutoFit/>
          </a:bodyPr>
          <a:lstStyle/>
          <a:p>
            <a:pPr marL="0" lvl="0" indent="0" algn="ctr">
              <a:lnSpc>
                <a:spcPts val="7314"/>
              </a:lnSpc>
              <a:spcBef>
                <a:spcPct val="0"/>
              </a:spcBef>
            </a:pPr>
            <a:r>
              <a:rPr lang="en-US" sz="5224">
                <a:solidFill>
                  <a:srgbClr val="333446"/>
                </a:solidFill>
                <a:latin typeface="Poppins Light"/>
                <a:ea typeface="Poppins Light"/>
                <a:cs typeface="Poppins Light"/>
                <a:sym typeface="Poppins Light"/>
              </a:rPr>
              <a:t>UNIT 2 – TOUCH TO CODE</a:t>
            </a:r>
          </a:p>
        </p:txBody>
      </p:sp>
      <p:sp>
        <p:nvSpPr>
          <p:cNvPr id="5" name="TextBox 5"/>
          <p:cNvSpPr txBox="1"/>
          <p:nvPr/>
        </p:nvSpPr>
        <p:spPr>
          <a:xfrm>
            <a:off x="1028700" y="971550"/>
            <a:ext cx="7868063" cy="2376170"/>
          </a:xfrm>
          <a:prstGeom prst="rect">
            <a:avLst/>
          </a:prstGeom>
        </p:spPr>
        <p:txBody>
          <a:bodyPr lIns="0" tIns="0" rIns="0" bIns="0" rtlCol="0" anchor="t">
            <a:spAutoFit/>
          </a:bodyPr>
          <a:lstStyle/>
          <a:p>
            <a:pPr marL="0" lvl="0" indent="0" algn="just">
              <a:lnSpc>
                <a:spcPts val="2379"/>
              </a:lnSpc>
            </a:pPr>
            <a:r>
              <a:rPr lang="en-US" sz="1699">
                <a:solidFill>
                  <a:srgbClr val="333446"/>
                </a:solidFill>
                <a:latin typeface="Poppins"/>
                <a:ea typeface="Poppins"/>
                <a:cs typeface="Poppins"/>
                <a:sym typeface="Poppins"/>
              </a:rPr>
              <a:t>WHAT I LEARNED</a:t>
            </a:r>
          </a:p>
          <a:p>
            <a:pPr marL="0" lvl="0" indent="0" algn="just">
              <a:lnSpc>
                <a:spcPts val="2379"/>
              </a:lnSpc>
            </a:pPr>
            <a:r>
              <a:rPr lang="en-US" sz="1699">
                <a:solidFill>
                  <a:srgbClr val="333446"/>
                </a:solidFill>
                <a:latin typeface="Poppins"/>
                <a:ea typeface="Poppins"/>
                <a:cs typeface="Poppins"/>
                <a:sym typeface="Poppins"/>
              </a:rPr>
              <a:t>Describe the key concepts from this unit:</a:t>
            </a:r>
          </a:p>
          <a:p>
            <a:pPr marL="0" lvl="0" indent="0" algn="just">
              <a:lnSpc>
                <a:spcPts val="2379"/>
              </a:lnSpc>
            </a:pPr>
            <a:r>
              <a:rPr lang="en-US" sz="1699">
                <a:solidFill>
                  <a:srgbClr val="333446"/>
                </a:solidFill>
                <a:latin typeface="Poppins"/>
                <a:ea typeface="Poppins"/>
                <a:cs typeface="Poppins"/>
                <a:sym typeface="Poppins"/>
              </a:rPr>
              <a:t>• How button inputs trigger robot movement commands</a:t>
            </a:r>
          </a:p>
          <a:p>
            <a:pPr marL="0" lvl="0" indent="0" algn="just">
              <a:lnSpc>
                <a:spcPts val="2379"/>
              </a:lnSpc>
            </a:pPr>
            <a:r>
              <a:rPr lang="en-US" sz="1699">
                <a:solidFill>
                  <a:srgbClr val="333446"/>
                </a:solidFill>
                <a:latin typeface="Poppins"/>
                <a:ea typeface="Poppins"/>
                <a:cs typeface="Poppins"/>
                <a:sym typeface="Poppins"/>
              </a:rPr>
              <a:t>• How to sequence commands using button coding logic</a:t>
            </a:r>
          </a:p>
          <a:p>
            <a:pPr marL="0" lvl="0" indent="0" algn="just">
              <a:lnSpc>
                <a:spcPts val="2379"/>
              </a:lnSpc>
            </a:pPr>
            <a:r>
              <a:rPr lang="en-US" sz="1699">
                <a:solidFill>
                  <a:srgbClr val="333446"/>
                </a:solidFill>
                <a:latin typeface="Poppins"/>
                <a:ea typeface="Poppins"/>
                <a:cs typeface="Poppins"/>
                <a:sym typeface="Poppins"/>
              </a:rPr>
              <a:t>• How the robot responds to different button signals</a:t>
            </a:r>
          </a:p>
          <a:p>
            <a:pPr marL="0" lvl="0" indent="0" algn="just">
              <a:lnSpc>
                <a:spcPts val="2379"/>
              </a:lnSpc>
            </a:pPr>
            <a:r>
              <a:rPr lang="en-US" sz="1699">
                <a:solidFill>
                  <a:srgbClr val="333446"/>
                </a:solidFill>
                <a:latin typeface="Poppins"/>
                <a:ea typeface="Poppins"/>
                <a:cs typeface="Poppins"/>
                <a:sym typeface="Poppins"/>
              </a:rPr>
              <a:t>KEY VOCABULARY</a:t>
            </a:r>
          </a:p>
          <a:p>
            <a:pPr marL="0" lvl="0" indent="0" algn="just">
              <a:lnSpc>
                <a:spcPts val="2379"/>
              </a:lnSpc>
            </a:pPr>
            <a:r>
              <a:rPr lang="en-US" sz="1699">
                <a:solidFill>
                  <a:srgbClr val="333446"/>
                </a:solidFill>
                <a:latin typeface="Poppins"/>
                <a:ea typeface="Poppins"/>
                <a:cs typeface="Poppins"/>
                <a:sym typeface="Poppins"/>
              </a:rPr>
              <a:t>• Button Event / Trigger:</a:t>
            </a:r>
          </a:p>
          <a:p>
            <a:pPr marL="0" lvl="0" indent="0" algn="just">
              <a:lnSpc>
                <a:spcPts val="2379"/>
              </a:lnSpc>
            </a:pPr>
            <a:r>
              <a:rPr lang="en-US" sz="1699">
                <a:solidFill>
                  <a:srgbClr val="333446"/>
                </a:solidFill>
                <a:latin typeface="Poppins"/>
                <a:ea typeface="Poppins"/>
                <a:cs typeface="Poppins"/>
                <a:sym typeface="Poppins"/>
              </a:rPr>
              <a:t>• Command Sequence:</a:t>
            </a:r>
          </a:p>
        </p:txBody>
      </p:sp>
      <p:sp>
        <p:nvSpPr>
          <p:cNvPr id="6" name="TextBox 6"/>
          <p:cNvSpPr txBox="1"/>
          <p:nvPr/>
        </p:nvSpPr>
        <p:spPr>
          <a:xfrm>
            <a:off x="1028700" y="4656896"/>
            <a:ext cx="7868063" cy="2376170"/>
          </a:xfrm>
          <a:prstGeom prst="rect">
            <a:avLst/>
          </a:prstGeom>
        </p:spPr>
        <p:txBody>
          <a:bodyPr lIns="0" tIns="0" rIns="0" bIns="0" rtlCol="0" anchor="t">
            <a:spAutoFit/>
          </a:bodyPr>
          <a:lstStyle/>
          <a:p>
            <a:pPr marL="0" lvl="0" indent="0" algn="just">
              <a:lnSpc>
                <a:spcPts val="2379"/>
              </a:lnSpc>
            </a:pPr>
            <a:r>
              <a:rPr lang="en-US" sz="1699">
                <a:solidFill>
                  <a:srgbClr val="333446"/>
                </a:solidFill>
                <a:latin typeface="Poppins"/>
                <a:ea typeface="Poppins"/>
                <a:cs typeface="Poppins"/>
                <a:sym typeface="Poppins"/>
              </a:rPr>
              <a:t>CODE / PROGRAMMING NOTES</a:t>
            </a:r>
          </a:p>
          <a:p>
            <a:pPr marL="0" lvl="0" indent="0" algn="just">
              <a:lnSpc>
                <a:spcPts val="2379"/>
              </a:lnSpc>
            </a:pPr>
            <a:r>
              <a:rPr lang="en-US" sz="1699">
                <a:solidFill>
                  <a:srgbClr val="333446"/>
                </a:solidFill>
                <a:latin typeface="Poppins"/>
                <a:ea typeface="Poppins"/>
                <a:cs typeface="Poppins"/>
                <a:sym typeface="Poppins"/>
              </a:rPr>
              <a:t>Sketch or describe your button coding program below:</a:t>
            </a:r>
          </a:p>
          <a:p>
            <a:pPr marL="0" lvl="0" indent="0" algn="just">
              <a:lnSpc>
                <a:spcPts val="2379"/>
              </a:lnSpc>
            </a:pPr>
            <a:r>
              <a:rPr lang="en-US" sz="1699">
                <a:solidFill>
                  <a:srgbClr val="333446"/>
                </a:solidFill>
                <a:latin typeface="Poppins"/>
                <a:ea typeface="Poppins"/>
                <a:cs typeface="Poppins"/>
                <a:sym typeface="Poppins"/>
              </a:rPr>
              <a:t>• Button used:</a:t>
            </a:r>
          </a:p>
          <a:p>
            <a:pPr marL="0" lvl="0" indent="0" algn="just">
              <a:lnSpc>
                <a:spcPts val="2379"/>
              </a:lnSpc>
            </a:pPr>
            <a:r>
              <a:rPr lang="en-US" sz="1699">
                <a:solidFill>
                  <a:srgbClr val="333446"/>
                </a:solidFill>
                <a:latin typeface="Poppins"/>
                <a:ea typeface="Poppins"/>
                <a:cs typeface="Poppins"/>
                <a:sym typeface="Poppins"/>
              </a:rPr>
              <a:t>• Robot action triggered:</a:t>
            </a:r>
          </a:p>
          <a:p>
            <a:pPr marL="0" lvl="0" indent="0" algn="just">
              <a:lnSpc>
                <a:spcPts val="2379"/>
              </a:lnSpc>
            </a:pPr>
            <a:r>
              <a:rPr lang="en-US" sz="1699">
                <a:solidFill>
                  <a:srgbClr val="333446"/>
                </a:solidFill>
                <a:latin typeface="Poppins"/>
                <a:ea typeface="Poppins"/>
                <a:cs typeface="Poppins"/>
                <a:sym typeface="Poppins"/>
              </a:rPr>
              <a:t>• Planning notes / sequence diagram:</a:t>
            </a:r>
          </a:p>
          <a:p>
            <a:pPr marL="0" lvl="0" indent="0" algn="just">
              <a:lnSpc>
                <a:spcPts val="2379"/>
              </a:lnSpc>
            </a:pPr>
            <a:r>
              <a:rPr lang="en-US" sz="1699">
                <a:solidFill>
                  <a:srgbClr val="333446"/>
                </a:solidFill>
                <a:latin typeface="Poppins"/>
                <a:ea typeface="Poppins"/>
                <a:cs typeface="Poppins"/>
                <a:sym typeface="Poppins"/>
              </a:rPr>
              <a:t>CHALLENGES &amp; SOLUTIONS</a:t>
            </a:r>
          </a:p>
          <a:p>
            <a:pPr marL="0" lvl="0" indent="0" algn="just">
              <a:lnSpc>
                <a:spcPts val="2379"/>
              </a:lnSpc>
            </a:pPr>
            <a:r>
              <a:rPr lang="en-US" sz="1699">
                <a:solidFill>
                  <a:srgbClr val="333446"/>
                </a:solidFill>
                <a:latin typeface="Poppins"/>
                <a:ea typeface="Poppins"/>
                <a:cs typeface="Poppins"/>
                <a:sym typeface="Poppins"/>
              </a:rPr>
              <a:t>• Challenge I faced:</a:t>
            </a:r>
          </a:p>
          <a:p>
            <a:pPr marL="0" lvl="0" indent="0" algn="just">
              <a:lnSpc>
                <a:spcPts val="2379"/>
              </a:lnSpc>
            </a:pPr>
            <a:r>
              <a:rPr lang="en-US" sz="1699">
                <a:solidFill>
                  <a:srgbClr val="333446"/>
                </a:solidFill>
                <a:latin typeface="Poppins"/>
                <a:ea typeface="Poppins"/>
                <a:cs typeface="Poppins"/>
                <a:sym typeface="Poppins"/>
              </a:rPr>
              <a:t>• How I solved it:</a:t>
            </a:r>
          </a:p>
        </p:txBody>
      </p:sp>
      <p:sp>
        <p:nvSpPr>
          <p:cNvPr id="7" name="TextBox 7"/>
          <p:cNvSpPr txBox="1"/>
          <p:nvPr/>
        </p:nvSpPr>
        <p:spPr>
          <a:xfrm>
            <a:off x="9539411" y="7157447"/>
            <a:ext cx="7868063" cy="2211705"/>
          </a:xfrm>
          <a:prstGeom prst="rect">
            <a:avLst/>
          </a:prstGeom>
        </p:spPr>
        <p:txBody>
          <a:bodyPr lIns="0" tIns="0" rIns="0" bIns="0" rtlCol="0" anchor="t">
            <a:spAutoFit/>
          </a:bodyPr>
          <a:lstStyle/>
          <a:p>
            <a:pPr marL="0" lvl="0" indent="0" algn="just">
              <a:lnSpc>
                <a:spcPts val="2519"/>
              </a:lnSpc>
            </a:pPr>
            <a:r>
              <a:rPr lang="en-US" sz="1799">
                <a:solidFill>
                  <a:srgbClr val="333446"/>
                </a:solidFill>
                <a:latin typeface="Poppins"/>
                <a:ea typeface="Poppins"/>
                <a:cs typeface="Poppins"/>
                <a:sym typeface="Poppins"/>
              </a:rPr>
              <a:t>REFLECTION</a:t>
            </a:r>
          </a:p>
          <a:p>
            <a:pPr marL="0" lvl="0" indent="0" algn="just">
              <a:lnSpc>
                <a:spcPts val="2519"/>
              </a:lnSpc>
            </a:pPr>
            <a:r>
              <a:rPr lang="en-US" sz="1799">
                <a:solidFill>
                  <a:srgbClr val="333446"/>
                </a:solidFill>
                <a:latin typeface="Poppins"/>
                <a:ea typeface="Poppins"/>
                <a:cs typeface="Poppins"/>
                <a:sym typeface="Poppins"/>
              </a:rPr>
              <a:t>• What surprised me about button coding?</a:t>
            </a:r>
          </a:p>
          <a:p>
            <a:pPr marL="0" lvl="0" indent="0" algn="just">
              <a:lnSpc>
                <a:spcPts val="2519"/>
              </a:lnSpc>
            </a:pPr>
            <a:r>
              <a:rPr lang="en-US" sz="1799">
                <a:solidFill>
                  <a:srgbClr val="333446"/>
                </a:solidFill>
                <a:latin typeface="Poppins"/>
                <a:ea typeface="Poppins"/>
                <a:cs typeface="Poppins"/>
                <a:sym typeface="Poppins"/>
              </a:rPr>
              <a:t>• How did planning my sequence help?</a:t>
            </a:r>
          </a:p>
          <a:p>
            <a:pPr marL="0" lvl="0" indent="0" algn="just">
              <a:lnSpc>
                <a:spcPts val="2519"/>
              </a:lnSpc>
            </a:pPr>
            <a:r>
              <a:rPr lang="en-US" sz="1799">
                <a:solidFill>
                  <a:srgbClr val="333446"/>
                </a:solidFill>
                <a:latin typeface="Poppins"/>
                <a:ea typeface="Poppins"/>
                <a:cs typeface="Poppins"/>
                <a:sym typeface="Poppins"/>
              </a:rPr>
              <a:t>• What would I improve next time?</a:t>
            </a:r>
          </a:p>
          <a:p>
            <a:pPr marL="0" lvl="0" indent="0" algn="just">
              <a:lnSpc>
                <a:spcPts val="2519"/>
              </a:lnSpc>
            </a:pPr>
            <a:r>
              <a:rPr lang="en-US" sz="1799">
                <a:solidFill>
                  <a:srgbClr val="333446"/>
                </a:solidFill>
                <a:latin typeface="Poppins"/>
                <a:ea typeface="Poppins"/>
                <a:cs typeface="Poppins"/>
                <a:sym typeface="Poppins"/>
              </a:rPr>
              <a:t>PROS &amp; CONS OF BUTTON CODING</a:t>
            </a:r>
          </a:p>
          <a:p>
            <a:pPr marL="0" lvl="0" indent="0" algn="just">
              <a:lnSpc>
                <a:spcPts val="2519"/>
              </a:lnSpc>
            </a:pPr>
            <a:r>
              <a:rPr lang="en-US" sz="1799">
                <a:solidFill>
                  <a:srgbClr val="333446"/>
                </a:solidFill>
                <a:latin typeface="Poppins"/>
                <a:ea typeface="Poppins"/>
                <a:cs typeface="Poppins"/>
                <a:sym typeface="Poppins"/>
              </a:rPr>
              <a:t>Pros:</a:t>
            </a:r>
          </a:p>
          <a:p>
            <a:pPr marL="0" lvl="0" indent="0" algn="just">
              <a:lnSpc>
                <a:spcPts val="2519"/>
              </a:lnSpc>
            </a:pPr>
            <a:r>
              <a:rPr lang="en-US" sz="1799">
                <a:solidFill>
                  <a:srgbClr val="333446"/>
                </a:solidFill>
                <a:latin typeface="Poppins"/>
                <a:ea typeface="Poppins"/>
                <a:cs typeface="Poppins"/>
                <a:sym typeface="Poppins"/>
              </a:rPr>
              <a:t>Cons: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567229" y="0"/>
            <a:ext cx="7720771" cy="3435743"/>
          </a:xfrm>
          <a:custGeom>
            <a:avLst/>
            <a:gdLst/>
            <a:ahLst/>
            <a:cxnLst/>
            <a:rect l="l" t="t" r="r" b="b"/>
            <a:pathLst>
              <a:path w="7720771" h="3435743">
                <a:moveTo>
                  <a:pt x="0" y="0"/>
                </a:moveTo>
                <a:lnTo>
                  <a:pt x="7720771" y="0"/>
                </a:lnTo>
                <a:lnTo>
                  <a:pt x="7720771" y="3435743"/>
                </a:lnTo>
                <a:lnTo>
                  <a:pt x="0" y="3435743"/>
                </a:lnTo>
                <a:lnTo>
                  <a:pt x="0" y="0"/>
                </a:lnTo>
                <a:close/>
              </a:path>
            </a:pathLst>
          </a:custGeom>
          <a:blipFill>
            <a:blip r:embed="rId2"/>
            <a:stretch>
              <a:fillRect/>
            </a:stretch>
          </a:blipFill>
        </p:spPr>
        <p:txBody>
          <a:bodyPr/>
          <a:lstStyle/>
          <a:p>
            <a:endParaRPr lang="en-AU"/>
          </a:p>
        </p:txBody>
      </p:sp>
      <p:sp>
        <p:nvSpPr>
          <p:cNvPr id="3" name="Freeform 3"/>
          <p:cNvSpPr/>
          <p:nvPr/>
        </p:nvSpPr>
        <p:spPr>
          <a:xfrm>
            <a:off x="16329" y="7581900"/>
            <a:ext cx="5593597" cy="2681575"/>
          </a:xfrm>
          <a:custGeom>
            <a:avLst/>
            <a:gdLst/>
            <a:ahLst/>
            <a:cxnLst/>
            <a:rect l="l" t="t" r="r" b="b"/>
            <a:pathLst>
              <a:path w="5593597" h="2681575">
                <a:moveTo>
                  <a:pt x="0" y="0"/>
                </a:moveTo>
                <a:lnTo>
                  <a:pt x="5593597" y="0"/>
                </a:lnTo>
                <a:lnTo>
                  <a:pt x="5593597" y="2681575"/>
                </a:lnTo>
                <a:lnTo>
                  <a:pt x="0" y="2681575"/>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133350"/>
            <a:ext cx="8996108" cy="1708118"/>
          </a:xfrm>
          <a:prstGeom prst="rect">
            <a:avLst/>
          </a:prstGeom>
        </p:spPr>
        <p:txBody>
          <a:bodyPr lIns="0" tIns="0" rIns="0" bIns="0" rtlCol="0" anchor="t">
            <a:spAutoFit/>
          </a:bodyPr>
          <a:lstStyle/>
          <a:p>
            <a:pPr marL="0" lvl="0" indent="0" algn="ctr">
              <a:lnSpc>
                <a:spcPts val="6679"/>
              </a:lnSpc>
              <a:spcBef>
                <a:spcPct val="0"/>
              </a:spcBef>
            </a:pPr>
            <a:r>
              <a:rPr lang="en-US" sz="4771">
                <a:solidFill>
                  <a:srgbClr val="333446"/>
                </a:solidFill>
                <a:latin typeface="Poppins Light"/>
                <a:ea typeface="Poppins Light"/>
                <a:cs typeface="Poppins Light"/>
                <a:sym typeface="Poppins Light"/>
              </a:rPr>
              <a:t>UNIT 3 – MOVE AROUND OBSTACLES</a:t>
            </a:r>
          </a:p>
        </p:txBody>
      </p:sp>
      <p:sp>
        <p:nvSpPr>
          <p:cNvPr id="5" name="TextBox 5"/>
          <p:cNvSpPr txBox="1"/>
          <p:nvPr/>
        </p:nvSpPr>
        <p:spPr>
          <a:xfrm>
            <a:off x="564023" y="1880111"/>
            <a:ext cx="8432086" cy="1900142"/>
          </a:xfrm>
          <a:prstGeom prst="rect">
            <a:avLst/>
          </a:prstGeom>
        </p:spPr>
        <p:txBody>
          <a:bodyPr lIns="0" tIns="0" rIns="0" bIns="0" rtlCol="0" anchor="t">
            <a:spAutoFit/>
          </a:bodyPr>
          <a:lstStyle/>
          <a:p>
            <a:pPr marL="0" lvl="0" indent="0" algn="just">
              <a:lnSpc>
                <a:spcPts val="2542"/>
              </a:lnSpc>
            </a:pPr>
            <a:r>
              <a:rPr lang="en-US" sz="1816">
                <a:solidFill>
                  <a:srgbClr val="333446"/>
                </a:solidFill>
                <a:latin typeface="Poppins"/>
                <a:ea typeface="Poppins"/>
                <a:cs typeface="Poppins"/>
                <a:sym typeface="Poppins"/>
              </a:rPr>
              <a:t>WHAT I LEARNED</a:t>
            </a:r>
          </a:p>
          <a:p>
            <a:pPr marL="0" lvl="0" indent="0" algn="just">
              <a:lnSpc>
                <a:spcPts val="2542"/>
              </a:lnSpc>
            </a:pPr>
            <a:r>
              <a:rPr lang="en-US" sz="1816">
                <a:solidFill>
                  <a:srgbClr val="333446"/>
                </a:solidFill>
                <a:latin typeface="Poppins"/>
                <a:ea typeface="Poppins"/>
                <a:cs typeface="Poppins"/>
                <a:sym typeface="Poppins"/>
              </a:rPr>
              <a:t>Describe how block coding was used to program the robot to detect and navigate around obstacles. What movement commands did you use? How did the robot "decide" when to turn or stop?</a:t>
            </a:r>
          </a:p>
          <a:p>
            <a:pPr marL="0" lvl="0" indent="0" algn="just">
              <a:lnSpc>
                <a:spcPts val="2542"/>
              </a:lnSpc>
            </a:pPr>
            <a:r>
              <a:rPr lang="en-US" sz="1816">
                <a:solidFill>
                  <a:srgbClr val="333446"/>
                </a:solidFill>
                <a:latin typeface="Poppins"/>
                <a:ea typeface="Poppins"/>
                <a:cs typeface="Poppins"/>
                <a:sym typeface="Poppins"/>
              </a:rPr>
              <a:t>KEY VOCABULARY</a:t>
            </a:r>
          </a:p>
          <a:p>
            <a:pPr marL="0" lvl="0" indent="0" algn="just">
              <a:lnSpc>
                <a:spcPts val="2542"/>
              </a:lnSpc>
            </a:pPr>
            <a:r>
              <a:rPr lang="en-US" sz="1816">
                <a:solidFill>
                  <a:srgbClr val="333446"/>
                </a:solidFill>
                <a:latin typeface="Poppins"/>
                <a:ea typeface="Poppins"/>
                <a:cs typeface="Poppins"/>
                <a:sym typeface="Poppins"/>
              </a:rPr>
              <a:t>• Block code  • Obstacle detection  • Loop  • Conditional  • Sensor input</a:t>
            </a:r>
          </a:p>
        </p:txBody>
      </p:sp>
      <p:sp>
        <p:nvSpPr>
          <p:cNvPr id="6" name="TextBox 6"/>
          <p:cNvSpPr txBox="1"/>
          <p:nvPr/>
        </p:nvSpPr>
        <p:spPr>
          <a:xfrm>
            <a:off x="564023" y="5318086"/>
            <a:ext cx="8432086" cy="1267258"/>
          </a:xfrm>
          <a:prstGeom prst="rect">
            <a:avLst/>
          </a:prstGeom>
        </p:spPr>
        <p:txBody>
          <a:bodyPr lIns="0" tIns="0" rIns="0" bIns="0" rtlCol="0" anchor="t">
            <a:spAutoFit/>
          </a:bodyPr>
          <a:lstStyle/>
          <a:p>
            <a:pPr marL="0" lvl="0" indent="0" algn="just">
              <a:lnSpc>
                <a:spcPts val="2542"/>
              </a:lnSpc>
            </a:pPr>
            <a:r>
              <a:rPr lang="en-US" sz="1816">
                <a:solidFill>
                  <a:srgbClr val="333446"/>
                </a:solidFill>
                <a:latin typeface="Poppins"/>
                <a:ea typeface="Poppins"/>
                <a:cs typeface="Poppins"/>
                <a:sym typeface="Poppins"/>
              </a:rPr>
              <a:t>CODE / PROGRAMMING NOTES</a:t>
            </a:r>
          </a:p>
          <a:p>
            <a:pPr marL="0" lvl="0" indent="0" algn="just">
              <a:lnSpc>
                <a:spcPts val="2542"/>
              </a:lnSpc>
            </a:pPr>
            <a:r>
              <a:rPr lang="en-US" sz="1816">
                <a:solidFill>
                  <a:srgbClr val="333446"/>
                </a:solidFill>
                <a:latin typeface="Poppins"/>
                <a:ea typeface="Poppins"/>
                <a:cs typeface="Poppins"/>
                <a:sym typeface="Poppins"/>
              </a:rPr>
              <a:t>Sketch or describe your block code sequence below. Which blocks did you use to move, detect, and avoid obstacles? Note any key logic or order of steps.</a:t>
            </a:r>
          </a:p>
        </p:txBody>
      </p:sp>
      <p:sp>
        <p:nvSpPr>
          <p:cNvPr id="7" name="TextBox 7"/>
          <p:cNvSpPr txBox="1"/>
          <p:nvPr/>
        </p:nvSpPr>
        <p:spPr>
          <a:xfrm>
            <a:off x="10226504" y="7455736"/>
            <a:ext cx="7032796" cy="1585948"/>
          </a:xfrm>
          <a:prstGeom prst="rect">
            <a:avLst/>
          </a:prstGeom>
        </p:spPr>
        <p:txBody>
          <a:bodyPr lIns="0" tIns="0" rIns="0" bIns="0" rtlCol="0" anchor="t">
            <a:spAutoFit/>
          </a:bodyPr>
          <a:lstStyle/>
          <a:p>
            <a:pPr marL="0" lvl="0" indent="0" algn="just">
              <a:lnSpc>
                <a:spcPts val="2530"/>
              </a:lnSpc>
            </a:pPr>
            <a:r>
              <a:rPr lang="en-US" sz="1807">
                <a:solidFill>
                  <a:srgbClr val="333446"/>
                </a:solidFill>
                <a:latin typeface="Poppins"/>
                <a:ea typeface="Poppins"/>
                <a:cs typeface="Poppins"/>
                <a:sym typeface="Poppins"/>
              </a:rPr>
              <a:t>PROS &amp; CONS OF BLOCK CODING</a:t>
            </a:r>
          </a:p>
          <a:p>
            <a:pPr marL="0" lvl="0" indent="0" algn="just">
              <a:lnSpc>
                <a:spcPts val="2530"/>
              </a:lnSpc>
            </a:pPr>
            <a:r>
              <a:rPr lang="en-US" sz="1807">
                <a:solidFill>
                  <a:srgbClr val="333446"/>
                </a:solidFill>
                <a:latin typeface="Poppins"/>
                <a:ea typeface="Poppins"/>
                <a:cs typeface="Poppins"/>
                <a:sym typeface="Poppins"/>
              </a:rPr>
              <a:t>Pros: [e.g., easy to read, visual logic]</a:t>
            </a:r>
          </a:p>
          <a:p>
            <a:pPr marL="0" lvl="0" indent="0" algn="just">
              <a:lnSpc>
                <a:spcPts val="2530"/>
              </a:lnSpc>
            </a:pPr>
            <a:r>
              <a:rPr lang="en-US" sz="1807">
                <a:solidFill>
                  <a:srgbClr val="333446"/>
                </a:solidFill>
                <a:latin typeface="Poppins"/>
                <a:ea typeface="Poppins"/>
                <a:cs typeface="Poppins"/>
                <a:sym typeface="Poppins"/>
              </a:rPr>
              <a:t>Cons: [e.g., limited flexibility]</a:t>
            </a:r>
          </a:p>
          <a:p>
            <a:pPr marL="0" lvl="0" indent="0" algn="just">
              <a:lnSpc>
                <a:spcPts val="2530"/>
              </a:lnSpc>
            </a:pPr>
            <a:r>
              <a:rPr lang="en-US" sz="1807">
                <a:solidFill>
                  <a:srgbClr val="333446"/>
                </a:solidFill>
                <a:latin typeface="Poppins"/>
                <a:ea typeface="Poppins"/>
                <a:cs typeface="Poppins"/>
                <a:sym typeface="Poppins"/>
              </a:rPr>
              <a:t>CHALLENGES &amp; SOLUTIONS</a:t>
            </a:r>
          </a:p>
          <a:p>
            <a:pPr marL="0" lvl="0" indent="0" algn="just">
              <a:lnSpc>
                <a:spcPts val="2530"/>
              </a:lnSpc>
            </a:pPr>
            <a:r>
              <a:rPr lang="en-US" sz="1807">
                <a:solidFill>
                  <a:srgbClr val="333446"/>
                </a:solidFill>
                <a:latin typeface="Poppins"/>
                <a:ea typeface="Poppins"/>
                <a:cs typeface="Poppins"/>
                <a:sym typeface="Poppins"/>
              </a:rPr>
              <a:t>Describe one difficulty you faced and how you solved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144000" y="0"/>
            <a:ext cx="9144000" cy="4069080"/>
          </a:xfrm>
          <a:custGeom>
            <a:avLst/>
            <a:gdLst/>
            <a:ahLst/>
            <a:cxnLst/>
            <a:rect l="l" t="t" r="r" b="b"/>
            <a:pathLst>
              <a:path w="9144000" h="4069080">
                <a:moveTo>
                  <a:pt x="0" y="0"/>
                </a:moveTo>
                <a:lnTo>
                  <a:pt x="9144000" y="0"/>
                </a:lnTo>
                <a:lnTo>
                  <a:pt x="9144000" y="4069080"/>
                </a:lnTo>
                <a:lnTo>
                  <a:pt x="0" y="406908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04112"/>
            <a:ext cx="8665101" cy="1779789"/>
          </a:xfrm>
          <a:prstGeom prst="rect">
            <a:avLst/>
          </a:prstGeom>
        </p:spPr>
        <p:txBody>
          <a:bodyPr lIns="0" tIns="0" rIns="0" bIns="0" rtlCol="0" anchor="t">
            <a:spAutoFit/>
          </a:bodyPr>
          <a:lstStyle/>
          <a:p>
            <a:pPr marL="0" lvl="0" indent="0" algn="ctr">
              <a:lnSpc>
                <a:spcPts val="6983"/>
              </a:lnSpc>
              <a:spcBef>
                <a:spcPct val="0"/>
              </a:spcBef>
            </a:pPr>
            <a:r>
              <a:rPr lang="en-US" sz="4988">
                <a:solidFill>
                  <a:srgbClr val="333446"/>
                </a:solidFill>
                <a:latin typeface="Poppins Light"/>
                <a:ea typeface="Poppins Light"/>
                <a:cs typeface="Poppins Light"/>
                <a:sym typeface="Poppins Light"/>
              </a:rPr>
              <a:t>UNIT 4 – NAVIGATE DIAGONAL PATHS</a:t>
            </a:r>
          </a:p>
        </p:txBody>
      </p:sp>
      <p:sp>
        <p:nvSpPr>
          <p:cNvPr id="4" name="TextBox 4"/>
          <p:cNvSpPr txBox="1"/>
          <p:nvPr/>
        </p:nvSpPr>
        <p:spPr>
          <a:xfrm>
            <a:off x="797039" y="2645640"/>
            <a:ext cx="7868063" cy="2300886"/>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WHAT I LEARNED</a:t>
            </a:r>
          </a:p>
          <a:p>
            <a:pPr marL="0" lvl="0" indent="0" algn="just">
              <a:lnSpc>
                <a:spcPts val="1827"/>
              </a:lnSpc>
            </a:pPr>
            <a:r>
              <a:rPr lang="en-US" sz="1600">
                <a:solidFill>
                  <a:srgbClr val="333446"/>
                </a:solidFill>
                <a:latin typeface="Poppins"/>
                <a:ea typeface="Poppins"/>
                <a:cs typeface="Poppins"/>
                <a:sym typeface="Poppins"/>
              </a:rPr>
              <a:t>Describe the key concepts from this unit. How does the VEX AIM robot navigate diagonal paths? What block coding commands did you use to control direction and movement angles?</a:t>
            </a:r>
          </a:p>
          <a:p>
            <a:pPr marL="0" lvl="0" indent="0" algn="just">
              <a:lnSpc>
                <a:spcPts val="1827"/>
              </a:lnSpc>
            </a:pPr>
            <a:r>
              <a:rPr lang="en-US" sz="1600">
                <a:solidFill>
                  <a:srgbClr val="333446"/>
                </a:solidFill>
                <a:latin typeface="Poppins"/>
                <a:ea typeface="Poppins"/>
                <a:cs typeface="Poppins"/>
                <a:sym typeface="Poppins"/>
              </a:rPr>
              <a:t>KEY VOCABULARY</a:t>
            </a:r>
          </a:p>
          <a:p>
            <a:pPr marL="0" lvl="0" indent="0" algn="just">
              <a:lnSpc>
                <a:spcPts val="1827"/>
              </a:lnSpc>
            </a:pPr>
            <a:r>
              <a:rPr lang="en-US" sz="1600">
                <a:solidFill>
                  <a:srgbClr val="333446"/>
                </a:solidFill>
                <a:latin typeface="Poppins"/>
                <a:ea typeface="Poppins"/>
                <a:cs typeface="Poppins"/>
                <a:sym typeface="Poppins"/>
              </a:rPr>
              <a:t>• Diagonal movement:</a:t>
            </a:r>
          </a:p>
          <a:p>
            <a:pPr marL="0" lvl="0" indent="0" algn="just">
              <a:lnSpc>
                <a:spcPts val="1827"/>
              </a:lnSpc>
            </a:pPr>
            <a:r>
              <a:rPr lang="en-US" sz="1600">
                <a:solidFill>
                  <a:srgbClr val="333446"/>
                </a:solidFill>
                <a:latin typeface="Poppins"/>
                <a:ea typeface="Poppins"/>
                <a:cs typeface="Poppins"/>
                <a:sym typeface="Poppins"/>
              </a:rPr>
              <a:t>• Heading/direction block:</a:t>
            </a:r>
          </a:p>
          <a:p>
            <a:pPr marL="0" lvl="0" indent="0" algn="just">
              <a:lnSpc>
                <a:spcPts val="1827"/>
              </a:lnSpc>
            </a:pPr>
            <a:r>
              <a:rPr lang="en-US" sz="1600">
                <a:solidFill>
                  <a:srgbClr val="333446"/>
                </a:solidFill>
                <a:latin typeface="Poppins"/>
                <a:ea typeface="Poppins"/>
                <a:cs typeface="Poppins"/>
                <a:sym typeface="Poppins"/>
              </a:rPr>
              <a:t>• Angle/degree:</a:t>
            </a:r>
          </a:p>
          <a:p>
            <a:pPr marL="0" lvl="0" indent="0" algn="just">
              <a:lnSpc>
                <a:spcPts val="1827"/>
              </a:lnSpc>
            </a:pPr>
            <a:r>
              <a:rPr lang="en-US" sz="1600">
                <a:solidFill>
                  <a:srgbClr val="333446"/>
                </a:solidFill>
                <a:latin typeface="Poppins"/>
                <a:ea typeface="Poppins"/>
                <a:cs typeface="Poppins"/>
                <a:sym typeface="Poppins"/>
              </a:rPr>
              <a:t>• Path planning:</a:t>
            </a:r>
          </a:p>
          <a:p>
            <a:pPr marL="0" lvl="0" indent="0" algn="just">
              <a:lnSpc>
                <a:spcPts val="1827"/>
              </a:lnSpc>
            </a:pPr>
            <a:r>
              <a:rPr lang="en-US" sz="1600">
                <a:solidFill>
                  <a:srgbClr val="333446"/>
                </a:solidFill>
                <a:latin typeface="Poppins"/>
                <a:ea typeface="Poppins"/>
                <a:cs typeface="Poppins"/>
                <a:sym typeface="Poppins"/>
              </a:rPr>
              <a:t>• Coordinate navigation:</a:t>
            </a:r>
          </a:p>
        </p:txBody>
      </p:sp>
      <p:sp>
        <p:nvSpPr>
          <p:cNvPr id="5" name="TextBox 5"/>
          <p:cNvSpPr txBox="1"/>
          <p:nvPr/>
        </p:nvSpPr>
        <p:spPr>
          <a:xfrm>
            <a:off x="797039" y="5677945"/>
            <a:ext cx="7868063" cy="1384995"/>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CODE / PROGRAMMING NOTES</a:t>
            </a:r>
          </a:p>
          <a:p>
            <a:pPr marL="0" lvl="0" indent="0" algn="just">
              <a:lnSpc>
                <a:spcPts val="1827"/>
              </a:lnSpc>
            </a:pPr>
            <a:r>
              <a:rPr lang="en-US" sz="1600">
                <a:solidFill>
                  <a:srgbClr val="333446"/>
                </a:solidFill>
                <a:latin typeface="Poppins"/>
                <a:ea typeface="Poppins"/>
                <a:cs typeface="Poppins"/>
                <a:sym typeface="Poppins"/>
              </a:rPr>
              <a:t>Sketch or describe your block code sequence for diagonal movement. What blocks did you combine? What values did you use for angles or headings?</a:t>
            </a:r>
          </a:p>
          <a:p>
            <a:pPr marL="0" lvl="0" indent="0" algn="just">
              <a:lnSpc>
                <a:spcPts val="1827"/>
              </a:lnSpc>
            </a:pPr>
            <a:r>
              <a:rPr lang="en-US" sz="1600">
                <a:solidFill>
                  <a:srgbClr val="333446"/>
                </a:solidFill>
                <a:latin typeface="Poppins"/>
                <a:ea typeface="Poppins"/>
                <a:cs typeface="Poppins"/>
                <a:sym typeface="Poppins"/>
              </a:rPr>
              <a:t>CHALLENGES &amp; SOLUTIONS</a:t>
            </a:r>
          </a:p>
          <a:p>
            <a:pPr marL="0" lvl="0" indent="0" algn="just">
              <a:lnSpc>
                <a:spcPts val="1827"/>
              </a:lnSpc>
            </a:pPr>
            <a:r>
              <a:rPr lang="en-US" sz="1600">
                <a:solidFill>
                  <a:srgbClr val="333446"/>
                </a:solidFill>
                <a:latin typeface="Poppins"/>
                <a:ea typeface="Poppins"/>
                <a:cs typeface="Poppins"/>
                <a:sym typeface="Poppins"/>
              </a:rPr>
              <a:t>What difficulties did you face when coding diagonal paths? How did you solve them?</a:t>
            </a:r>
          </a:p>
        </p:txBody>
      </p:sp>
      <p:sp>
        <p:nvSpPr>
          <p:cNvPr id="6" name="TextBox 6"/>
          <p:cNvSpPr txBox="1"/>
          <p:nvPr/>
        </p:nvSpPr>
        <p:spPr>
          <a:xfrm>
            <a:off x="10419937" y="5351623"/>
            <a:ext cx="7868063" cy="919343"/>
          </a:xfrm>
          <a:prstGeom prst="rect">
            <a:avLst/>
          </a:prstGeom>
        </p:spPr>
        <p:txBody>
          <a:bodyPr lIns="0" tIns="0" rIns="0" bIns="0" rtlCol="0" anchor="t">
            <a:spAutoFit/>
          </a:bodyPr>
          <a:lstStyle/>
          <a:p>
            <a:pPr marL="0" lvl="0" indent="0" algn="just">
              <a:lnSpc>
                <a:spcPts val="1827"/>
              </a:lnSpc>
            </a:pPr>
            <a:r>
              <a:rPr lang="en-US" sz="1600" dirty="0">
                <a:solidFill>
                  <a:srgbClr val="333446"/>
                </a:solidFill>
                <a:latin typeface="Poppins"/>
                <a:ea typeface="Poppins"/>
                <a:cs typeface="Poppins"/>
                <a:sym typeface="Poppins"/>
              </a:rPr>
              <a:t>REFLECTION</a:t>
            </a:r>
          </a:p>
          <a:p>
            <a:pPr marL="0" lvl="0" indent="0" algn="just">
              <a:lnSpc>
                <a:spcPts val="1827"/>
              </a:lnSpc>
            </a:pPr>
            <a:r>
              <a:rPr lang="en-US" sz="1600" dirty="0">
                <a:solidFill>
                  <a:srgbClr val="333446"/>
                </a:solidFill>
                <a:latin typeface="Poppins"/>
                <a:ea typeface="Poppins"/>
                <a:cs typeface="Poppins"/>
                <a:sym typeface="Poppins"/>
              </a:rPr>
              <a:t>• What surprised you about navigating diagonal paths?</a:t>
            </a:r>
          </a:p>
          <a:p>
            <a:pPr marL="0" lvl="0" indent="0" algn="just">
              <a:lnSpc>
                <a:spcPts val="1827"/>
              </a:lnSpc>
            </a:pPr>
            <a:r>
              <a:rPr lang="en-US" sz="1600" dirty="0">
                <a:solidFill>
                  <a:srgbClr val="333446"/>
                </a:solidFill>
                <a:latin typeface="Poppins"/>
                <a:ea typeface="Poppins"/>
                <a:cs typeface="Poppins"/>
                <a:sym typeface="Poppins"/>
              </a:rPr>
              <a:t>• How did block coding help you plan the </a:t>
            </a:r>
            <a:r>
              <a:rPr lang="en-US" dirty="0">
                <a:solidFill>
                  <a:srgbClr val="333446"/>
                </a:solidFill>
                <a:latin typeface="Poppins"/>
                <a:ea typeface="Poppins"/>
                <a:cs typeface="Poppins"/>
                <a:sym typeface="Poppins"/>
              </a:rPr>
              <a:t>robot's</a:t>
            </a:r>
            <a:r>
              <a:rPr lang="en-US" sz="1600" dirty="0">
                <a:solidFill>
                  <a:srgbClr val="333446"/>
                </a:solidFill>
                <a:latin typeface="Poppins"/>
                <a:ea typeface="Poppins"/>
                <a:cs typeface="Poppins"/>
                <a:sym typeface="Poppins"/>
              </a:rPr>
              <a:t> route?</a:t>
            </a:r>
          </a:p>
          <a:p>
            <a:pPr marL="0" lvl="0" indent="0" algn="just">
              <a:lnSpc>
                <a:spcPts val="1827"/>
              </a:lnSpc>
            </a:pPr>
            <a:r>
              <a:rPr lang="en-US" sz="1600" dirty="0">
                <a:solidFill>
                  <a:srgbClr val="333446"/>
                </a:solidFill>
                <a:latin typeface="Poppins"/>
                <a:ea typeface="Poppins"/>
                <a:cs typeface="Poppins"/>
                <a:sym typeface="Poppins"/>
              </a:rPr>
              <a:t>• What would you change or improve in your code next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67623" y="0"/>
            <a:ext cx="8320377" cy="3702568"/>
          </a:xfrm>
          <a:custGeom>
            <a:avLst/>
            <a:gdLst/>
            <a:ahLst/>
            <a:cxnLst/>
            <a:rect l="l" t="t" r="r" b="b"/>
            <a:pathLst>
              <a:path w="8320377" h="3702568">
                <a:moveTo>
                  <a:pt x="0" y="0"/>
                </a:moveTo>
                <a:lnTo>
                  <a:pt x="8320377" y="0"/>
                </a:lnTo>
                <a:lnTo>
                  <a:pt x="8320377" y="3702568"/>
                </a:lnTo>
                <a:lnTo>
                  <a:pt x="0" y="3702568"/>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61925"/>
            <a:ext cx="9462140" cy="1000028"/>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5 – TRANSPORT CARGO</a:t>
            </a:r>
          </a:p>
        </p:txBody>
      </p:sp>
      <p:sp>
        <p:nvSpPr>
          <p:cNvPr id="4" name="TextBox 4"/>
          <p:cNvSpPr txBox="1"/>
          <p:nvPr/>
        </p:nvSpPr>
        <p:spPr>
          <a:xfrm>
            <a:off x="1028700" y="1940580"/>
            <a:ext cx="7868063" cy="2062343"/>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WHAT I LEARNED</a:t>
            </a:r>
          </a:p>
          <a:p>
            <a:pPr marL="0" lvl="0" indent="0" algn="just">
              <a:lnSpc>
                <a:spcPts val="1827"/>
              </a:lnSpc>
            </a:pPr>
            <a:r>
              <a:rPr lang="en-US" sz="1600">
                <a:solidFill>
                  <a:srgbClr val="333446"/>
                </a:solidFill>
                <a:latin typeface="Poppins"/>
                <a:ea typeface="Poppins"/>
                <a:cs typeface="Poppins"/>
                <a:sym typeface="Poppins"/>
              </a:rPr>
              <a:t>Describe what you discovered about using 'turn to heading' blocks to navigate the robot. How does the heading system work?</a:t>
            </a:r>
          </a:p>
          <a:p>
            <a:pPr marL="0" lvl="0" indent="0" algn="just">
              <a:lnSpc>
                <a:spcPts val="1827"/>
              </a:lnSpc>
            </a:pPr>
            <a:r>
              <a:rPr lang="en-US" sz="1600">
                <a:solidFill>
                  <a:srgbClr val="333446"/>
                </a:solidFill>
                <a:latin typeface="Poppins"/>
                <a:ea typeface="Poppins"/>
                <a:cs typeface="Poppins"/>
                <a:sym typeface="Poppins"/>
              </a:rPr>
              <a:t>KEY VOCABULARY</a:t>
            </a:r>
          </a:p>
          <a:p>
            <a:pPr marL="0" lvl="0" indent="0" algn="just">
              <a:lnSpc>
                <a:spcPts val="1827"/>
              </a:lnSpc>
            </a:pPr>
            <a:r>
              <a:rPr lang="en-US" sz="1600">
                <a:solidFill>
                  <a:srgbClr val="333446"/>
                </a:solidFill>
                <a:latin typeface="Poppins"/>
                <a:ea typeface="Poppins"/>
                <a:cs typeface="Poppins"/>
                <a:sym typeface="Poppins"/>
              </a:rPr>
              <a:t>• Turn to Heading</a:t>
            </a:r>
          </a:p>
          <a:p>
            <a:pPr marL="0" lvl="0" indent="0" algn="just">
              <a:lnSpc>
                <a:spcPts val="1827"/>
              </a:lnSpc>
            </a:pPr>
            <a:r>
              <a:rPr lang="en-US" sz="1600">
                <a:solidFill>
                  <a:srgbClr val="333446"/>
                </a:solidFill>
                <a:latin typeface="Poppins"/>
                <a:ea typeface="Poppins"/>
                <a:cs typeface="Poppins"/>
                <a:sym typeface="Poppins"/>
              </a:rPr>
              <a:t>• Absolute Heading</a:t>
            </a:r>
          </a:p>
          <a:p>
            <a:pPr marL="0" lvl="0" indent="0" algn="just">
              <a:lnSpc>
                <a:spcPts val="1827"/>
              </a:lnSpc>
            </a:pPr>
            <a:r>
              <a:rPr lang="en-US" sz="1600">
                <a:solidFill>
                  <a:srgbClr val="333446"/>
                </a:solidFill>
                <a:latin typeface="Poppins"/>
                <a:ea typeface="Poppins"/>
                <a:cs typeface="Poppins"/>
                <a:sym typeface="Poppins"/>
              </a:rPr>
              <a:t>• Degrees / Direction</a:t>
            </a:r>
          </a:p>
          <a:p>
            <a:pPr marL="0" lvl="0" indent="0" algn="just">
              <a:lnSpc>
                <a:spcPts val="1827"/>
              </a:lnSpc>
            </a:pPr>
            <a:r>
              <a:rPr lang="en-US" sz="1600">
                <a:solidFill>
                  <a:srgbClr val="333446"/>
                </a:solidFill>
                <a:latin typeface="Poppins"/>
                <a:ea typeface="Poppins"/>
                <a:cs typeface="Poppins"/>
                <a:sym typeface="Poppins"/>
              </a:rPr>
              <a:t>• Cargo / Payload</a:t>
            </a:r>
          </a:p>
          <a:p>
            <a:pPr marL="0" lvl="0" indent="0" algn="just">
              <a:lnSpc>
                <a:spcPts val="1827"/>
              </a:lnSpc>
            </a:pPr>
            <a:r>
              <a:rPr lang="en-US" sz="1600">
                <a:solidFill>
                  <a:srgbClr val="333446"/>
                </a:solidFill>
                <a:latin typeface="Poppins"/>
                <a:ea typeface="Poppins"/>
                <a:cs typeface="Poppins"/>
                <a:sym typeface="Poppins"/>
              </a:rPr>
              <a:t>• Navigation Path</a:t>
            </a:r>
          </a:p>
        </p:txBody>
      </p:sp>
      <p:sp>
        <p:nvSpPr>
          <p:cNvPr id="5" name="TextBox 5"/>
          <p:cNvSpPr txBox="1"/>
          <p:nvPr/>
        </p:nvSpPr>
        <p:spPr>
          <a:xfrm>
            <a:off x="1028700" y="5105400"/>
            <a:ext cx="7868063" cy="1147943"/>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CODE / PROGRAMMING NOTES</a:t>
            </a:r>
          </a:p>
          <a:p>
            <a:pPr marL="0" lvl="0" indent="0" algn="just">
              <a:lnSpc>
                <a:spcPts val="1827"/>
              </a:lnSpc>
            </a:pPr>
            <a:r>
              <a:rPr lang="en-US" sz="1600">
                <a:solidFill>
                  <a:srgbClr val="333446"/>
                </a:solidFill>
                <a:latin typeface="Poppins"/>
                <a:ea typeface="Poppins"/>
                <a:cs typeface="Poppins"/>
                <a:sym typeface="Poppins"/>
              </a:rPr>
              <a:t>Sketch or describe your heading-based program below. What heading values did you use to transport cargo successfully?</a:t>
            </a:r>
          </a:p>
          <a:p>
            <a:pPr marL="0" lvl="0" indent="0" algn="just">
              <a:lnSpc>
                <a:spcPts val="1827"/>
              </a:lnSpc>
            </a:pPr>
            <a:r>
              <a:rPr lang="en-US" sz="1600">
                <a:solidFill>
                  <a:srgbClr val="333446"/>
                </a:solidFill>
                <a:latin typeface="Poppins"/>
                <a:ea typeface="Poppins"/>
                <a:cs typeface="Poppins"/>
                <a:sym typeface="Poppins"/>
              </a:rPr>
              <a:t>CHALLENGES &amp; SOLUTIONS</a:t>
            </a:r>
          </a:p>
          <a:p>
            <a:pPr marL="0" lvl="0" indent="0" algn="just">
              <a:lnSpc>
                <a:spcPts val="1827"/>
              </a:lnSpc>
            </a:pPr>
            <a:r>
              <a:rPr lang="en-US" sz="1600">
                <a:solidFill>
                  <a:srgbClr val="333446"/>
                </a:solidFill>
                <a:latin typeface="Poppins"/>
                <a:ea typeface="Poppins"/>
                <a:cs typeface="Poppins"/>
                <a:sym typeface="Poppins"/>
              </a:rPr>
              <a:t>What went wrong? How did you fix it?</a:t>
            </a:r>
          </a:p>
        </p:txBody>
      </p:sp>
      <p:sp>
        <p:nvSpPr>
          <p:cNvPr id="6" name="TextBox 6"/>
          <p:cNvSpPr txBox="1"/>
          <p:nvPr/>
        </p:nvSpPr>
        <p:spPr>
          <a:xfrm>
            <a:off x="9462140" y="7781618"/>
            <a:ext cx="7868063" cy="1384995"/>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PROS &amp; CONS OF TURN TO HEADING</a:t>
            </a:r>
          </a:p>
          <a:p>
            <a:pPr marL="0" lvl="0" indent="0" algn="just">
              <a:lnSpc>
                <a:spcPts val="1827"/>
              </a:lnSpc>
            </a:pPr>
            <a:r>
              <a:rPr lang="en-US" sz="1600">
                <a:solidFill>
                  <a:srgbClr val="333446"/>
                </a:solidFill>
                <a:latin typeface="Poppins"/>
                <a:ea typeface="Poppins"/>
                <a:cs typeface="Poppins"/>
                <a:sym typeface="Poppins"/>
              </a:rPr>
              <a:t>Pros: ________________________________</a:t>
            </a:r>
          </a:p>
          <a:p>
            <a:pPr marL="0" lvl="0" indent="0" algn="just">
              <a:lnSpc>
                <a:spcPts val="1827"/>
              </a:lnSpc>
            </a:pPr>
            <a:r>
              <a:rPr lang="en-US" sz="1600">
                <a:solidFill>
                  <a:srgbClr val="333446"/>
                </a:solidFill>
                <a:latin typeface="Poppins"/>
                <a:ea typeface="Poppins"/>
                <a:cs typeface="Poppins"/>
                <a:sym typeface="Poppins"/>
              </a:rPr>
              <a:t>Cons: ________________________________</a:t>
            </a:r>
          </a:p>
          <a:p>
            <a:pPr marL="0" lvl="0" indent="0" algn="just">
              <a:lnSpc>
                <a:spcPts val="1827"/>
              </a:lnSpc>
            </a:pPr>
            <a:r>
              <a:rPr lang="en-US" sz="1600">
                <a:solidFill>
                  <a:srgbClr val="333446"/>
                </a:solidFill>
                <a:latin typeface="Poppins"/>
                <a:ea typeface="Poppins"/>
                <a:cs typeface="Poppins"/>
                <a:sym typeface="Poppins"/>
              </a:rPr>
              <a:t>REFLECTION</a:t>
            </a:r>
          </a:p>
          <a:p>
            <a:pPr marL="0" lvl="0" indent="0" algn="just">
              <a:lnSpc>
                <a:spcPts val="1827"/>
              </a:lnSpc>
            </a:pPr>
            <a:r>
              <a:rPr lang="en-US" sz="1600">
                <a:solidFill>
                  <a:srgbClr val="333446"/>
                </a:solidFill>
                <a:latin typeface="Poppins"/>
                <a:ea typeface="Poppins"/>
                <a:cs typeface="Poppins"/>
                <a:sym typeface="Poppins"/>
              </a:rPr>
              <a:t>How did using headings make your program more precise? What would you improve?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394022" y="0"/>
            <a:ext cx="7893978" cy="3512820"/>
          </a:xfrm>
          <a:custGeom>
            <a:avLst/>
            <a:gdLst/>
            <a:ahLst/>
            <a:cxnLst/>
            <a:rect l="l" t="t" r="r" b="b"/>
            <a:pathLst>
              <a:path w="7893978" h="3512820">
                <a:moveTo>
                  <a:pt x="0" y="0"/>
                </a:moveTo>
                <a:lnTo>
                  <a:pt x="7893978" y="0"/>
                </a:lnTo>
                <a:lnTo>
                  <a:pt x="7893978" y="3512820"/>
                </a:lnTo>
                <a:lnTo>
                  <a:pt x="0" y="35128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54311"/>
            <a:ext cx="11014881" cy="1910721"/>
          </a:xfrm>
          <a:prstGeom prst="rect">
            <a:avLst/>
          </a:prstGeom>
        </p:spPr>
        <p:txBody>
          <a:bodyPr lIns="0" tIns="0" rIns="0" bIns="0" rtlCol="0" anchor="t">
            <a:spAutoFit/>
          </a:bodyPr>
          <a:lstStyle/>
          <a:p>
            <a:pPr marL="0" lvl="0" indent="0" algn="ctr">
              <a:lnSpc>
                <a:spcPts val="7458"/>
              </a:lnSpc>
              <a:spcBef>
                <a:spcPct val="0"/>
              </a:spcBef>
            </a:pPr>
            <a:r>
              <a:rPr lang="en-US" sz="5327">
                <a:solidFill>
                  <a:srgbClr val="333446"/>
                </a:solidFill>
                <a:latin typeface="Poppins Light"/>
                <a:ea typeface="Poppins Light"/>
                <a:cs typeface="Poppins Light"/>
                <a:sym typeface="Poppins Light"/>
              </a:rPr>
              <a:t>UNIT 6 – FINDING &amp; TRANSPORTING CARGO</a:t>
            </a:r>
          </a:p>
        </p:txBody>
      </p:sp>
      <p:sp>
        <p:nvSpPr>
          <p:cNvPr id="4" name="TextBox 4"/>
          <p:cNvSpPr txBox="1"/>
          <p:nvPr/>
        </p:nvSpPr>
        <p:spPr>
          <a:xfrm>
            <a:off x="1028700" y="2242185"/>
            <a:ext cx="7868063" cy="2837059"/>
          </a:xfrm>
          <a:prstGeom prst="rect">
            <a:avLst/>
          </a:prstGeom>
        </p:spPr>
        <p:txBody>
          <a:bodyPr lIns="0" tIns="0" rIns="0" bIns="0" rtlCol="0" anchor="t">
            <a:spAutoFit/>
          </a:bodyPr>
          <a:lstStyle/>
          <a:p>
            <a:pPr marL="0" lvl="0" indent="0" algn="just">
              <a:lnSpc>
                <a:spcPts val="1679"/>
              </a:lnSpc>
            </a:pPr>
            <a:r>
              <a:rPr lang="en-US" sz="1600">
                <a:solidFill>
                  <a:srgbClr val="333446"/>
                </a:solidFill>
                <a:latin typeface="Poppins"/>
                <a:ea typeface="Poppins"/>
                <a:cs typeface="Poppins"/>
                <a:sym typeface="Poppins"/>
              </a:rPr>
              <a:t>WHAT I LEARNED</a:t>
            </a:r>
          </a:p>
          <a:p>
            <a:pPr marL="0" lvl="0" indent="0" algn="just">
              <a:lnSpc>
                <a:spcPts val="1679"/>
              </a:lnSpc>
            </a:pPr>
            <a:r>
              <a:rPr lang="en-US" sz="1600">
                <a:solidFill>
                  <a:srgbClr val="333446"/>
                </a:solidFill>
                <a:latin typeface="Poppins"/>
                <a:ea typeface="Poppins"/>
                <a:cs typeface="Poppins"/>
                <a:sym typeface="Poppins"/>
              </a:rPr>
              <a:t>Describe how the VEX AIM robot uses AI Vision to locate and transport cargo autonomously. What commands or blocks did you use to detect objects and navigate toward them? How did the robot decide when to pick up or move cargo?</a:t>
            </a:r>
          </a:p>
          <a:p>
            <a:pPr marL="0" lvl="0" indent="0" algn="just">
              <a:lnSpc>
                <a:spcPts val="1679"/>
              </a:lnSpc>
            </a:pPr>
            <a:r>
              <a:rPr lang="en-US" sz="1600">
                <a:solidFill>
                  <a:srgbClr val="333446"/>
                </a:solidFill>
                <a:latin typeface="Poppins"/>
                <a:ea typeface="Poppins"/>
                <a:cs typeface="Poppins"/>
                <a:sym typeface="Poppins"/>
              </a:rPr>
              <a:t>KEY VOCABULARY</a:t>
            </a:r>
          </a:p>
          <a:p>
            <a:pPr marL="0" lvl="0" indent="0" algn="just">
              <a:lnSpc>
                <a:spcPts val="1679"/>
              </a:lnSpc>
            </a:pPr>
            <a:r>
              <a:rPr lang="en-US" sz="1600">
                <a:solidFill>
                  <a:srgbClr val="333446"/>
                </a:solidFill>
                <a:latin typeface="Poppins"/>
                <a:ea typeface="Poppins"/>
                <a:cs typeface="Poppins"/>
                <a:sym typeface="Poppins"/>
              </a:rPr>
              <a:t>List 3–5 important terms (e.g., AI Vision sensor, autonomous navigation, object detection, pathfinding, cargo transport):</a:t>
            </a:r>
          </a:p>
          <a:p>
            <a:pPr marL="0" lvl="0" indent="0" algn="just">
              <a:lnSpc>
                <a:spcPts val="1679"/>
              </a:lnSpc>
            </a:pPr>
            <a:r>
              <a:rPr lang="en-US" sz="1600">
                <a:solidFill>
                  <a:srgbClr val="333446"/>
                </a:solidFill>
                <a:latin typeface="Poppins"/>
                <a:ea typeface="Poppins"/>
                <a:cs typeface="Poppins"/>
                <a:sym typeface="Poppins"/>
              </a:rPr>
              <a:t>1.</a:t>
            </a:r>
          </a:p>
          <a:p>
            <a:pPr marL="0" lvl="0" indent="0" algn="just">
              <a:lnSpc>
                <a:spcPts val="1679"/>
              </a:lnSpc>
            </a:pPr>
            <a:r>
              <a:rPr lang="en-US" sz="1600">
                <a:solidFill>
                  <a:srgbClr val="333446"/>
                </a:solidFill>
                <a:latin typeface="Poppins"/>
                <a:ea typeface="Poppins"/>
                <a:cs typeface="Poppins"/>
                <a:sym typeface="Poppins"/>
              </a:rPr>
              <a:t>2.</a:t>
            </a:r>
          </a:p>
          <a:p>
            <a:pPr marL="0" lvl="0" indent="0" algn="just">
              <a:lnSpc>
                <a:spcPts val="1679"/>
              </a:lnSpc>
            </a:pPr>
            <a:r>
              <a:rPr lang="en-US" sz="1600">
                <a:solidFill>
                  <a:srgbClr val="333446"/>
                </a:solidFill>
                <a:latin typeface="Poppins"/>
                <a:ea typeface="Poppins"/>
                <a:cs typeface="Poppins"/>
                <a:sym typeface="Poppins"/>
              </a:rPr>
              <a:t>3.</a:t>
            </a:r>
          </a:p>
          <a:p>
            <a:pPr marL="0" lvl="0" indent="0" algn="just">
              <a:lnSpc>
                <a:spcPts val="1679"/>
              </a:lnSpc>
            </a:pPr>
            <a:r>
              <a:rPr lang="en-US" sz="1600">
                <a:solidFill>
                  <a:srgbClr val="333446"/>
                </a:solidFill>
                <a:latin typeface="Poppins"/>
                <a:ea typeface="Poppins"/>
                <a:cs typeface="Poppins"/>
                <a:sym typeface="Poppins"/>
              </a:rPr>
              <a:t>4.</a:t>
            </a:r>
          </a:p>
          <a:p>
            <a:pPr marL="0" lvl="0" indent="0" algn="just">
              <a:lnSpc>
                <a:spcPts val="1679"/>
              </a:lnSpc>
            </a:pPr>
            <a:r>
              <a:rPr lang="en-US" sz="1600">
                <a:solidFill>
                  <a:srgbClr val="333446"/>
                </a:solidFill>
                <a:latin typeface="Poppins"/>
                <a:ea typeface="Poppins"/>
                <a:cs typeface="Poppins"/>
                <a:sym typeface="Poppins"/>
              </a:rPr>
              <a:t>5.</a:t>
            </a:r>
          </a:p>
        </p:txBody>
      </p:sp>
      <p:sp>
        <p:nvSpPr>
          <p:cNvPr id="5" name="TextBox 5"/>
          <p:cNvSpPr txBox="1"/>
          <p:nvPr/>
        </p:nvSpPr>
        <p:spPr>
          <a:xfrm>
            <a:off x="1028700" y="5560076"/>
            <a:ext cx="7868063" cy="1303818"/>
          </a:xfrm>
          <a:prstGeom prst="rect">
            <a:avLst/>
          </a:prstGeom>
        </p:spPr>
        <p:txBody>
          <a:bodyPr lIns="0" tIns="0" rIns="0" bIns="0" rtlCol="0" anchor="t">
            <a:spAutoFit/>
          </a:bodyPr>
          <a:lstStyle/>
          <a:p>
            <a:pPr marL="0" lvl="0" indent="0" algn="just">
              <a:lnSpc>
                <a:spcPts val="1679"/>
              </a:lnSpc>
            </a:pPr>
            <a:r>
              <a:rPr lang="en-US" sz="1600">
                <a:solidFill>
                  <a:srgbClr val="333446"/>
                </a:solidFill>
                <a:latin typeface="Poppins"/>
                <a:ea typeface="Poppins"/>
                <a:cs typeface="Poppins"/>
                <a:sym typeface="Poppins"/>
              </a:rPr>
              <a:t>CODING STRATEGIES &amp; PROGRAM NOTES</a:t>
            </a:r>
          </a:p>
          <a:p>
            <a:pPr marL="0" lvl="0" indent="0" algn="just">
              <a:lnSpc>
                <a:spcPts val="1679"/>
              </a:lnSpc>
            </a:pPr>
            <a:r>
              <a:rPr lang="en-US" sz="1600">
                <a:solidFill>
                  <a:srgbClr val="333446"/>
                </a:solidFill>
                <a:latin typeface="Poppins"/>
                <a:ea typeface="Poppins"/>
                <a:cs typeface="Poppins"/>
                <a:sym typeface="Poppins"/>
              </a:rPr>
              <a:t>Sketch or describe your program logic below. How did you structure your code to find and transport cargo? What sensor inputs triggered each action?</a:t>
            </a:r>
          </a:p>
          <a:p>
            <a:pPr marL="0" lvl="0" indent="0" algn="just">
              <a:lnSpc>
                <a:spcPts val="1679"/>
              </a:lnSpc>
            </a:pPr>
            <a:r>
              <a:rPr lang="en-US" sz="1600">
                <a:solidFill>
                  <a:srgbClr val="333446"/>
                </a:solidFill>
                <a:latin typeface="Poppins"/>
                <a:ea typeface="Poppins"/>
                <a:cs typeface="Poppins"/>
                <a:sym typeface="Poppins"/>
              </a:rPr>
              <a:t>CHALLENGES &amp; SOLUTIONS</a:t>
            </a:r>
          </a:p>
          <a:p>
            <a:pPr marL="0" lvl="0" indent="0" algn="just">
              <a:lnSpc>
                <a:spcPts val="1679"/>
              </a:lnSpc>
            </a:pPr>
            <a:r>
              <a:rPr lang="en-US" sz="1600">
                <a:solidFill>
                  <a:srgbClr val="333446"/>
                </a:solidFill>
                <a:latin typeface="Poppins"/>
                <a:ea typeface="Poppins"/>
                <a:cs typeface="Poppins"/>
                <a:sym typeface="Poppins"/>
              </a:rPr>
              <a:t>What difficulties did you encounter with the AI Vision sensor or cargo transport? How did you solve them?</a:t>
            </a:r>
          </a:p>
        </p:txBody>
      </p:sp>
      <p:sp>
        <p:nvSpPr>
          <p:cNvPr id="6" name="TextBox 6"/>
          <p:cNvSpPr txBox="1"/>
          <p:nvPr/>
        </p:nvSpPr>
        <p:spPr>
          <a:xfrm>
            <a:off x="10194655" y="7548901"/>
            <a:ext cx="7868063" cy="1085810"/>
          </a:xfrm>
          <a:prstGeom prst="rect">
            <a:avLst/>
          </a:prstGeom>
        </p:spPr>
        <p:txBody>
          <a:bodyPr lIns="0" tIns="0" rIns="0" bIns="0" rtlCol="0" anchor="t">
            <a:spAutoFit/>
          </a:bodyPr>
          <a:lstStyle/>
          <a:p>
            <a:pPr marL="0" lvl="0" indent="0" algn="just">
              <a:lnSpc>
                <a:spcPts val="1679"/>
              </a:lnSpc>
            </a:pPr>
            <a:r>
              <a:rPr lang="en-US" sz="1600">
                <a:solidFill>
                  <a:srgbClr val="333446"/>
                </a:solidFill>
                <a:latin typeface="Poppins"/>
                <a:ea typeface="Poppins"/>
                <a:cs typeface="Poppins"/>
                <a:sym typeface="Poppins"/>
              </a:rPr>
              <a:t>REFLECTION QUESTIONS</a:t>
            </a:r>
          </a:p>
          <a:p>
            <a:pPr marL="0" lvl="0" indent="0" algn="just">
              <a:lnSpc>
                <a:spcPts val="1679"/>
              </a:lnSpc>
            </a:pPr>
            <a:r>
              <a:rPr lang="en-US" sz="1600">
                <a:solidFill>
                  <a:srgbClr val="333446"/>
                </a:solidFill>
                <a:latin typeface="Poppins"/>
                <a:ea typeface="Poppins"/>
                <a:cs typeface="Poppins"/>
                <a:sym typeface="Poppins"/>
              </a:rPr>
              <a:t>• How does autonomous navigation differ from manual control?</a:t>
            </a:r>
          </a:p>
          <a:p>
            <a:pPr marL="0" lvl="0" indent="0" algn="just">
              <a:lnSpc>
                <a:spcPts val="1679"/>
              </a:lnSpc>
            </a:pPr>
            <a:r>
              <a:rPr lang="en-US" sz="1600">
                <a:solidFill>
                  <a:srgbClr val="333446"/>
                </a:solidFill>
                <a:latin typeface="Poppins"/>
                <a:ea typeface="Poppins"/>
                <a:cs typeface="Poppins"/>
                <a:sym typeface="Poppins"/>
              </a:rPr>
              <a:t>• What factors affected the AI Vision sensor's accuracy?</a:t>
            </a:r>
          </a:p>
          <a:p>
            <a:pPr marL="0" lvl="0" indent="0" algn="just">
              <a:lnSpc>
                <a:spcPts val="1679"/>
              </a:lnSpc>
            </a:pPr>
            <a:r>
              <a:rPr lang="en-US" sz="1600">
                <a:solidFill>
                  <a:srgbClr val="333446"/>
                </a:solidFill>
                <a:latin typeface="Poppins"/>
                <a:ea typeface="Poppins"/>
                <a:cs typeface="Poppins"/>
                <a:sym typeface="Poppins"/>
              </a:rPr>
              <a:t>• What improvements would you make to your program?</a:t>
            </a:r>
          </a:p>
          <a:p>
            <a:pPr marL="0" lvl="0" indent="0" algn="just">
              <a:lnSpc>
                <a:spcPts val="1679"/>
              </a:lnSpc>
            </a:pPr>
            <a:r>
              <a:rPr lang="en-US" sz="1600">
                <a:solidFill>
                  <a:srgbClr val="333446"/>
                </a:solidFill>
                <a:latin typeface="Poppins"/>
                <a:ea typeface="Poppins"/>
                <a:cs typeface="Poppins"/>
                <a:sym typeface="Poppins"/>
              </a:rPr>
              <a:t>• What did this unit teach you about real-world robotics?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203461" y="0"/>
            <a:ext cx="8084539" cy="3597620"/>
          </a:xfrm>
          <a:custGeom>
            <a:avLst/>
            <a:gdLst/>
            <a:ahLst/>
            <a:cxnLst/>
            <a:rect l="l" t="t" r="r" b="b"/>
            <a:pathLst>
              <a:path w="8084539" h="3597620">
                <a:moveTo>
                  <a:pt x="0" y="0"/>
                </a:moveTo>
                <a:lnTo>
                  <a:pt x="8084539" y="0"/>
                </a:lnTo>
                <a:lnTo>
                  <a:pt x="8084539" y="3597620"/>
                </a:lnTo>
                <a:lnTo>
                  <a:pt x="0" y="35976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94016" y="27560"/>
            <a:ext cx="9737430" cy="1001140"/>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7 – EXPLORING AI VISION</a:t>
            </a:r>
          </a:p>
        </p:txBody>
      </p:sp>
      <p:sp>
        <p:nvSpPr>
          <p:cNvPr id="4" name="TextBox 4"/>
          <p:cNvSpPr txBox="1"/>
          <p:nvPr/>
        </p:nvSpPr>
        <p:spPr>
          <a:xfrm>
            <a:off x="1028700" y="1760710"/>
            <a:ext cx="7868063" cy="2413866"/>
          </a:xfrm>
          <a:prstGeom prst="rect">
            <a:avLst/>
          </a:prstGeom>
        </p:spPr>
        <p:txBody>
          <a:bodyPr lIns="0" tIns="0" rIns="0" bIns="0" rtlCol="0" anchor="t">
            <a:spAutoFit/>
          </a:bodyPr>
          <a:lstStyle/>
          <a:p>
            <a:pPr marL="0" lvl="0" indent="0" algn="just">
              <a:lnSpc>
                <a:spcPts val="2073"/>
              </a:lnSpc>
            </a:pPr>
            <a:r>
              <a:rPr lang="en-US" sz="1600">
                <a:solidFill>
                  <a:srgbClr val="333446"/>
                </a:solidFill>
                <a:latin typeface="Poppins"/>
                <a:ea typeface="Poppins"/>
                <a:cs typeface="Poppins"/>
                <a:sym typeface="Poppins"/>
              </a:rPr>
              <a:t>WHAT I LEARNED</a:t>
            </a:r>
          </a:p>
          <a:p>
            <a:pPr marL="0" lvl="0" indent="0" algn="just">
              <a:lnSpc>
                <a:spcPts val="2073"/>
              </a:lnSpc>
            </a:pPr>
            <a:r>
              <a:rPr lang="en-US" sz="1600">
                <a:solidFill>
                  <a:srgbClr val="333446"/>
                </a:solidFill>
                <a:latin typeface="Poppins"/>
                <a:ea typeface="Poppins"/>
                <a:cs typeface="Poppins"/>
                <a:sym typeface="Poppins"/>
              </a:rPr>
              <a:t>Describe how the VEX AIM robot's AI Vision sensor works and what it can detect.</a:t>
            </a:r>
          </a:p>
          <a:p>
            <a:pPr marL="0" lvl="0" indent="0" algn="just">
              <a:lnSpc>
                <a:spcPts val="2073"/>
              </a:lnSpc>
            </a:pPr>
            <a:r>
              <a:rPr lang="en-US" sz="1600">
                <a:solidFill>
                  <a:srgbClr val="333446"/>
                </a:solidFill>
                <a:latin typeface="Poppins"/>
                <a:ea typeface="Poppins"/>
                <a:cs typeface="Poppins"/>
                <a:sym typeface="Poppins"/>
              </a:rPr>
              <a:t>KEY VOCABULARY</a:t>
            </a:r>
          </a:p>
          <a:p>
            <a:pPr marL="0" lvl="0" indent="0" algn="just">
              <a:lnSpc>
                <a:spcPts val="2073"/>
              </a:lnSpc>
            </a:pPr>
            <a:r>
              <a:rPr lang="en-US" sz="1600">
                <a:solidFill>
                  <a:srgbClr val="333446"/>
                </a:solidFill>
                <a:latin typeface="Poppins"/>
                <a:ea typeface="Poppins"/>
                <a:cs typeface="Poppins"/>
                <a:sym typeface="Poppins"/>
              </a:rPr>
              <a:t>• AI Vision Sensor</a:t>
            </a:r>
          </a:p>
          <a:p>
            <a:pPr marL="0" lvl="0" indent="0" algn="just">
              <a:lnSpc>
                <a:spcPts val="2073"/>
              </a:lnSpc>
            </a:pPr>
            <a:r>
              <a:rPr lang="en-US" sz="1600">
                <a:solidFill>
                  <a:srgbClr val="333446"/>
                </a:solidFill>
                <a:latin typeface="Poppins"/>
                <a:ea typeface="Poppins"/>
                <a:cs typeface="Poppins"/>
                <a:sym typeface="Poppins"/>
              </a:rPr>
              <a:t>• Light sensitivity</a:t>
            </a:r>
          </a:p>
          <a:p>
            <a:pPr marL="0" lvl="0" indent="0" algn="just">
              <a:lnSpc>
                <a:spcPts val="2073"/>
              </a:lnSpc>
            </a:pPr>
            <a:r>
              <a:rPr lang="en-US" sz="1600">
                <a:solidFill>
                  <a:srgbClr val="333446"/>
                </a:solidFill>
                <a:latin typeface="Poppins"/>
                <a:ea typeface="Poppins"/>
                <a:cs typeface="Poppins"/>
                <a:sym typeface="Poppins"/>
              </a:rPr>
              <a:t>• Detection threshold</a:t>
            </a:r>
          </a:p>
          <a:p>
            <a:pPr marL="0" lvl="0" indent="0" algn="just">
              <a:lnSpc>
                <a:spcPts val="2073"/>
              </a:lnSpc>
            </a:pPr>
            <a:r>
              <a:rPr lang="en-US" sz="1600">
                <a:solidFill>
                  <a:srgbClr val="333446"/>
                </a:solidFill>
                <a:latin typeface="Poppins"/>
                <a:ea typeface="Poppins"/>
                <a:cs typeface="Poppins"/>
                <a:sym typeface="Poppins"/>
              </a:rPr>
              <a:t>• Environmental variable</a:t>
            </a:r>
          </a:p>
          <a:p>
            <a:pPr marL="0" lvl="0" indent="0" algn="just">
              <a:lnSpc>
                <a:spcPts val="2073"/>
              </a:lnSpc>
            </a:pPr>
            <a:r>
              <a:rPr lang="en-US" sz="1600">
                <a:solidFill>
                  <a:srgbClr val="333446"/>
                </a:solidFill>
                <a:latin typeface="Poppins"/>
                <a:ea typeface="Poppins"/>
                <a:cs typeface="Poppins"/>
                <a:sym typeface="Poppins"/>
              </a:rPr>
              <a:t>• Sensor calibration</a:t>
            </a:r>
          </a:p>
        </p:txBody>
      </p:sp>
      <p:sp>
        <p:nvSpPr>
          <p:cNvPr id="5" name="TextBox 5"/>
          <p:cNvSpPr txBox="1"/>
          <p:nvPr/>
        </p:nvSpPr>
        <p:spPr>
          <a:xfrm>
            <a:off x="1099603" y="5105400"/>
            <a:ext cx="7868063" cy="528734"/>
          </a:xfrm>
          <a:prstGeom prst="rect">
            <a:avLst/>
          </a:prstGeom>
        </p:spPr>
        <p:txBody>
          <a:bodyPr lIns="0" tIns="0" rIns="0" bIns="0" rtlCol="0" anchor="t">
            <a:spAutoFit/>
          </a:bodyPr>
          <a:lstStyle/>
          <a:p>
            <a:pPr marL="0" lvl="0" indent="0" algn="just">
              <a:lnSpc>
                <a:spcPts val="2073"/>
              </a:lnSpc>
            </a:pPr>
            <a:r>
              <a:rPr lang="en-US" sz="1600">
                <a:solidFill>
                  <a:srgbClr val="333446"/>
                </a:solidFill>
                <a:latin typeface="Poppins"/>
                <a:ea typeface="Poppins"/>
                <a:cs typeface="Poppins"/>
                <a:sym typeface="Poppins"/>
              </a:rPr>
              <a:t>INVESTIGATION STEPS</a:t>
            </a:r>
          </a:p>
          <a:p>
            <a:pPr marL="0" lvl="0" indent="0" algn="just">
              <a:lnSpc>
                <a:spcPts val="2073"/>
              </a:lnSpc>
            </a:pPr>
            <a:r>
              <a:rPr lang="en-US" sz="1600">
                <a:solidFill>
                  <a:srgbClr val="333446"/>
                </a:solidFill>
                <a:latin typeface="Poppins"/>
                <a:ea typeface="Poppins"/>
                <a:cs typeface="Poppins"/>
                <a:sym typeface="Poppins"/>
              </a:rPr>
              <a:t>Document your steps here:</a:t>
            </a:r>
          </a:p>
        </p:txBody>
      </p:sp>
      <p:sp>
        <p:nvSpPr>
          <p:cNvPr id="6" name="TextBox 6"/>
          <p:cNvSpPr txBox="1"/>
          <p:nvPr/>
        </p:nvSpPr>
        <p:spPr>
          <a:xfrm>
            <a:off x="10203461" y="5105400"/>
            <a:ext cx="7868063" cy="1067343"/>
          </a:xfrm>
          <a:prstGeom prst="rect">
            <a:avLst/>
          </a:prstGeom>
        </p:spPr>
        <p:txBody>
          <a:bodyPr lIns="0" tIns="0" rIns="0" bIns="0" rtlCol="0" anchor="t">
            <a:spAutoFit/>
          </a:bodyPr>
          <a:lstStyle/>
          <a:p>
            <a:pPr marL="0" lvl="0" indent="0" algn="just">
              <a:lnSpc>
                <a:spcPts val="2073"/>
              </a:lnSpc>
            </a:pPr>
            <a:r>
              <a:rPr lang="en-US" sz="1600">
                <a:solidFill>
                  <a:srgbClr val="333446"/>
                </a:solidFill>
                <a:latin typeface="Poppins"/>
                <a:ea typeface="Poppins"/>
                <a:cs typeface="Poppins"/>
                <a:sym typeface="Poppins"/>
              </a:rPr>
              <a:t>FINDINGS &amp; REFLECTION</a:t>
            </a:r>
          </a:p>
          <a:p>
            <a:pPr marL="0" lvl="0" indent="0" algn="just">
              <a:lnSpc>
                <a:spcPts val="2073"/>
              </a:lnSpc>
            </a:pPr>
            <a:r>
              <a:rPr lang="en-US" sz="1600">
                <a:solidFill>
                  <a:srgbClr val="333446"/>
                </a:solidFill>
                <a:latin typeface="Poppins"/>
                <a:ea typeface="Poppins"/>
                <a:cs typeface="Poppins"/>
                <a:sym typeface="Poppins"/>
              </a:rPr>
              <a:t>How did light and other factors impact the AI Vision sensor?</a:t>
            </a:r>
          </a:p>
          <a:p>
            <a:pPr marL="0" lvl="0" indent="0" algn="just">
              <a:lnSpc>
                <a:spcPts val="2073"/>
              </a:lnSpc>
            </a:pPr>
            <a:r>
              <a:rPr lang="en-US" sz="1600">
                <a:solidFill>
                  <a:srgbClr val="333446"/>
                </a:solidFill>
                <a:latin typeface="Poppins"/>
                <a:ea typeface="Poppins"/>
                <a:cs typeface="Poppins"/>
                <a:sym typeface="Poppins"/>
              </a:rPr>
              <a:t>What changes improved sensor accuracy?</a:t>
            </a:r>
          </a:p>
          <a:p>
            <a:pPr marL="0" lvl="0" indent="0" algn="just">
              <a:lnSpc>
                <a:spcPts val="2073"/>
              </a:lnSpc>
            </a:pPr>
            <a:r>
              <a:rPr lang="en-US" sz="1600">
                <a:solidFill>
                  <a:srgbClr val="333446"/>
                </a:solidFill>
                <a:latin typeface="Poppins"/>
                <a:ea typeface="Poppins"/>
                <a:cs typeface="Poppins"/>
                <a:sym typeface="Poppins"/>
              </a:rPr>
              <a:t>What would you test next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02492" y="0"/>
            <a:ext cx="8385508" cy="3731551"/>
          </a:xfrm>
          <a:custGeom>
            <a:avLst/>
            <a:gdLst/>
            <a:ahLst/>
            <a:cxnLst/>
            <a:rect l="l" t="t" r="r" b="b"/>
            <a:pathLst>
              <a:path w="8385508" h="3731551">
                <a:moveTo>
                  <a:pt x="0" y="0"/>
                </a:moveTo>
                <a:lnTo>
                  <a:pt x="8385508" y="0"/>
                </a:lnTo>
                <a:lnTo>
                  <a:pt x="8385508" y="3731551"/>
                </a:lnTo>
                <a:lnTo>
                  <a:pt x="0" y="3731551"/>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0135" y="-171450"/>
            <a:ext cx="9542275" cy="2252665"/>
          </a:xfrm>
          <a:prstGeom prst="rect">
            <a:avLst/>
          </a:prstGeom>
        </p:spPr>
        <p:txBody>
          <a:bodyPr lIns="0" tIns="0" rIns="0" bIns="0" rtlCol="0" anchor="t">
            <a:spAutoFit/>
          </a:bodyPr>
          <a:lstStyle/>
          <a:p>
            <a:pPr marL="0" lvl="0" indent="0" algn="ctr">
              <a:lnSpc>
                <a:spcPts val="8827"/>
              </a:lnSpc>
              <a:spcBef>
                <a:spcPct val="0"/>
              </a:spcBef>
            </a:pPr>
            <a:r>
              <a:rPr lang="en-US" sz="6305">
                <a:solidFill>
                  <a:srgbClr val="333446"/>
                </a:solidFill>
                <a:latin typeface="Poppins Light"/>
                <a:ea typeface="Poppins Light"/>
                <a:cs typeface="Poppins Light"/>
                <a:sym typeface="Poppins Light"/>
              </a:rPr>
              <a:t>UNIT 8 – CONTROLLING DECISIONS</a:t>
            </a:r>
          </a:p>
        </p:txBody>
      </p:sp>
      <p:sp>
        <p:nvSpPr>
          <p:cNvPr id="4" name="TextBox 4"/>
          <p:cNvSpPr txBox="1"/>
          <p:nvPr/>
        </p:nvSpPr>
        <p:spPr>
          <a:xfrm>
            <a:off x="1028700" y="3062473"/>
            <a:ext cx="7868063" cy="2142125"/>
          </a:xfrm>
          <a:prstGeom prst="rect">
            <a:avLst/>
          </a:prstGeom>
        </p:spPr>
        <p:txBody>
          <a:bodyPr lIns="0" tIns="0" rIns="0" bIns="0" rtlCol="0" anchor="t">
            <a:spAutoFit/>
          </a:bodyPr>
          <a:lstStyle/>
          <a:p>
            <a:pPr marL="0" lvl="0" indent="0" algn="just">
              <a:lnSpc>
                <a:spcPts val="2372"/>
              </a:lnSpc>
            </a:pPr>
            <a:r>
              <a:rPr lang="en-US" sz="1600">
                <a:solidFill>
                  <a:srgbClr val="333446"/>
                </a:solidFill>
                <a:latin typeface="Poppins"/>
                <a:ea typeface="Poppins"/>
                <a:cs typeface="Poppins"/>
                <a:sym typeface="Poppins"/>
              </a:rPr>
              <a:t>What I Learned:</a:t>
            </a:r>
          </a:p>
          <a:p>
            <a:pPr marL="0" lvl="0" indent="0" algn="just">
              <a:lnSpc>
                <a:spcPts val="2372"/>
              </a:lnSpc>
            </a:pPr>
            <a:r>
              <a:rPr lang="en-US" sz="1600">
                <a:solidFill>
                  <a:srgbClr val="333446"/>
                </a:solidFill>
                <a:latin typeface="Poppins"/>
                <a:ea typeface="Poppins"/>
                <a:cs typeface="Poppins"/>
                <a:sym typeface="Poppins"/>
              </a:rPr>
              <a:t>Describe how you used conditional logic and decision-making in your code. How did the robot "decide" what action to take based on sensor input or conditions?</a:t>
            </a:r>
          </a:p>
          <a:p>
            <a:pPr marL="0" lvl="0" indent="0" algn="just">
              <a:lnSpc>
                <a:spcPts val="2372"/>
              </a:lnSpc>
            </a:pPr>
            <a:r>
              <a:rPr lang="en-US" sz="1600">
                <a:solidFill>
                  <a:srgbClr val="333446"/>
                </a:solidFill>
                <a:latin typeface="Poppins"/>
                <a:ea typeface="Poppins"/>
                <a:cs typeface="Poppins"/>
                <a:sym typeface="Poppins"/>
              </a:rPr>
              <a:t>Key Vocabulary:</a:t>
            </a:r>
          </a:p>
          <a:p>
            <a:pPr marL="0" lvl="0" indent="0" algn="just">
              <a:lnSpc>
                <a:spcPts val="2372"/>
              </a:lnSpc>
            </a:pPr>
            <a:r>
              <a:rPr lang="en-US" sz="1600">
                <a:solidFill>
                  <a:srgbClr val="333446"/>
                </a:solidFill>
                <a:latin typeface="Poppins"/>
                <a:ea typeface="Poppins"/>
                <a:cs typeface="Poppins"/>
                <a:sym typeface="Poppins"/>
              </a:rPr>
              <a:t>List 3–5 important terms (e.g., conditional, if/else, Boolean, sensor trigger, decision tree)</a:t>
            </a:r>
          </a:p>
        </p:txBody>
      </p:sp>
      <p:sp>
        <p:nvSpPr>
          <p:cNvPr id="5" name="TextBox 5"/>
          <p:cNvSpPr txBox="1"/>
          <p:nvPr/>
        </p:nvSpPr>
        <p:spPr>
          <a:xfrm>
            <a:off x="1099603" y="5786289"/>
            <a:ext cx="7868063" cy="911019"/>
          </a:xfrm>
          <a:prstGeom prst="rect">
            <a:avLst/>
          </a:prstGeom>
        </p:spPr>
        <p:txBody>
          <a:bodyPr lIns="0" tIns="0" rIns="0" bIns="0" rtlCol="0" anchor="t">
            <a:spAutoFit/>
          </a:bodyPr>
          <a:lstStyle/>
          <a:p>
            <a:pPr marL="0" lvl="0" indent="0" algn="just">
              <a:lnSpc>
                <a:spcPts val="2372"/>
              </a:lnSpc>
            </a:pPr>
            <a:r>
              <a:rPr lang="en-US" sz="1600">
                <a:solidFill>
                  <a:srgbClr val="333446"/>
                </a:solidFill>
                <a:latin typeface="Poppins"/>
                <a:ea typeface="Poppins"/>
                <a:cs typeface="Poppins"/>
                <a:sym typeface="Poppins"/>
              </a:rPr>
              <a:t>Code / Programming Notes:</a:t>
            </a:r>
          </a:p>
          <a:p>
            <a:pPr marL="0" lvl="0" indent="0" algn="just">
              <a:lnSpc>
                <a:spcPts val="2372"/>
              </a:lnSpc>
            </a:pPr>
            <a:r>
              <a:rPr lang="en-US" sz="1600">
                <a:solidFill>
                  <a:srgbClr val="333446"/>
                </a:solidFill>
                <a:latin typeface="Poppins"/>
                <a:ea typeface="Poppins"/>
                <a:cs typeface="Poppins"/>
                <a:sym typeface="Poppins"/>
              </a:rPr>
              <a:t>Sketch or describe the decision-making logic you programmed. What conditions did you set? What actions followed each condition?</a:t>
            </a:r>
          </a:p>
        </p:txBody>
      </p:sp>
      <p:sp>
        <p:nvSpPr>
          <p:cNvPr id="6" name="TextBox 6"/>
          <p:cNvSpPr txBox="1"/>
          <p:nvPr/>
        </p:nvSpPr>
        <p:spPr>
          <a:xfrm>
            <a:off x="9462140" y="7762568"/>
            <a:ext cx="7868063" cy="1218795"/>
          </a:xfrm>
          <a:prstGeom prst="rect">
            <a:avLst/>
          </a:prstGeom>
        </p:spPr>
        <p:txBody>
          <a:bodyPr lIns="0" tIns="0" rIns="0" bIns="0" rtlCol="0" anchor="t">
            <a:spAutoFit/>
          </a:bodyPr>
          <a:lstStyle/>
          <a:p>
            <a:pPr marL="0" lvl="0" indent="0" algn="just">
              <a:lnSpc>
                <a:spcPts val="2372"/>
              </a:lnSpc>
            </a:pPr>
            <a:r>
              <a:rPr lang="en-US" sz="1600">
                <a:solidFill>
                  <a:srgbClr val="333446"/>
                </a:solidFill>
                <a:latin typeface="Poppins"/>
                <a:ea typeface="Poppins"/>
                <a:cs typeface="Poppins"/>
                <a:sym typeface="Poppins"/>
              </a:rPr>
              <a:t>Capstone Preparation Reflection:</a:t>
            </a:r>
          </a:p>
          <a:p>
            <a:pPr marL="0" lvl="0" indent="0" algn="just">
              <a:lnSpc>
                <a:spcPts val="2372"/>
              </a:lnSpc>
            </a:pPr>
            <a:r>
              <a:rPr lang="en-US" sz="1600">
                <a:solidFill>
                  <a:srgbClr val="333446"/>
                </a:solidFill>
                <a:latin typeface="Poppins"/>
                <a:ea typeface="Poppins"/>
                <a:cs typeface="Poppins"/>
                <a:sym typeface="Poppins"/>
              </a:rPr>
              <a:t>How does controlling decisions connect to the Delivery Dash challenge? Which skills from Units 1–7 will you integrate? What is your biggest strength going into the capstone?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0" y="6103480"/>
            <a:ext cx="9144000" cy="4069080"/>
          </a:xfrm>
          <a:custGeom>
            <a:avLst/>
            <a:gdLst/>
            <a:ahLst/>
            <a:cxnLst/>
            <a:rect l="l" t="t" r="r" b="b"/>
            <a:pathLst>
              <a:path w="9144000" h="4069080">
                <a:moveTo>
                  <a:pt x="0" y="0"/>
                </a:moveTo>
                <a:lnTo>
                  <a:pt x="9144000" y="0"/>
                </a:lnTo>
                <a:lnTo>
                  <a:pt x="9144000" y="4069080"/>
                </a:lnTo>
                <a:lnTo>
                  <a:pt x="0" y="406908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sp>
        <p:nvSpPr>
          <p:cNvPr id="4" name="TextBox 4"/>
          <p:cNvSpPr txBox="1"/>
          <p:nvPr/>
        </p:nvSpPr>
        <p:spPr>
          <a:xfrm>
            <a:off x="865601" y="3255313"/>
            <a:ext cx="4233192" cy="1676242"/>
          </a:xfrm>
          <a:prstGeom prst="rect">
            <a:avLst/>
          </a:prstGeom>
        </p:spPr>
        <p:txBody>
          <a:bodyPr lIns="0" tIns="0" rIns="0" bIns="0" rtlCol="0" anchor="t">
            <a:spAutoFit/>
          </a:bodyPr>
          <a:lstStyle/>
          <a:p>
            <a:pPr marL="0" lvl="0" indent="0" algn="just">
              <a:lnSpc>
                <a:spcPts val="2633"/>
              </a:lnSpc>
            </a:pPr>
            <a:r>
              <a:rPr lang="en-US" sz="1881">
                <a:solidFill>
                  <a:srgbClr val="333446"/>
                </a:solidFill>
                <a:latin typeface="Poppins"/>
                <a:ea typeface="Poppins"/>
                <a:cs typeface="Poppins"/>
                <a:sym typeface="Poppins"/>
              </a:rPr>
              <a:t>Project Goal:</a:t>
            </a:r>
          </a:p>
          <a:p>
            <a:pPr marL="0" lvl="0" indent="0" algn="just">
              <a:lnSpc>
                <a:spcPts val="2633"/>
              </a:lnSpc>
            </a:pPr>
            <a:r>
              <a:rPr lang="en-US" sz="1881">
                <a:solidFill>
                  <a:srgbClr val="333446"/>
                </a:solidFill>
                <a:latin typeface="Poppins"/>
                <a:ea typeface="Poppins"/>
                <a:cs typeface="Poppins"/>
                <a:sym typeface="Poppins"/>
              </a:rPr>
              <a:t>My Approach / Strategy:</a:t>
            </a:r>
          </a:p>
          <a:p>
            <a:pPr marL="0" lvl="0" indent="0" algn="just">
              <a:lnSpc>
                <a:spcPts val="2633"/>
              </a:lnSpc>
            </a:pPr>
            <a:r>
              <a:rPr lang="en-US" sz="1881">
                <a:solidFill>
                  <a:srgbClr val="333446"/>
                </a:solidFill>
                <a:latin typeface="Poppins"/>
                <a:ea typeface="Poppins"/>
                <a:cs typeface="Poppins"/>
                <a:sym typeface="Poppins"/>
              </a:rPr>
              <a:t>Steps I Plan to Take:</a:t>
            </a:r>
          </a:p>
          <a:p>
            <a:pPr marL="0" lvl="0" indent="0" algn="just">
              <a:lnSpc>
                <a:spcPts val="2633"/>
              </a:lnSpc>
            </a:pPr>
            <a:r>
              <a:rPr lang="en-US" sz="1881">
                <a:solidFill>
                  <a:srgbClr val="333446"/>
                </a:solidFill>
                <a:latin typeface="Poppins"/>
                <a:ea typeface="Poppins"/>
                <a:cs typeface="Poppins"/>
                <a:sym typeface="Poppins"/>
              </a:rPr>
              <a:t>Resources / Code I Will Use:</a:t>
            </a:r>
          </a:p>
          <a:p>
            <a:pPr marL="0" lvl="0" indent="0" algn="just">
              <a:lnSpc>
                <a:spcPts val="2633"/>
              </a:lnSpc>
            </a:pPr>
            <a:r>
              <a:rPr lang="en-US" sz="1881">
                <a:solidFill>
                  <a:srgbClr val="333446"/>
                </a:solidFill>
                <a:latin typeface="Poppins"/>
                <a:ea typeface="Poppins"/>
                <a:cs typeface="Poppins"/>
                <a:sym typeface="Poppins"/>
              </a:rPr>
              <a:t>Potential Challenges:</a:t>
            </a:r>
          </a:p>
        </p:txBody>
      </p:sp>
      <p:sp>
        <p:nvSpPr>
          <p:cNvPr id="5" name="TextBox 5"/>
          <p:cNvSpPr txBox="1"/>
          <p:nvPr/>
        </p:nvSpPr>
        <p:spPr>
          <a:xfrm>
            <a:off x="865601" y="2467706"/>
            <a:ext cx="5919723" cy="435181"/>
          </a:xfrm>
          <a:prstGeom prst="rect">
            <a:avLst/>
          </a:prstGeom>
        </p:spPr>
        <p:txBody>
          <a:bodyPr lIns="0" tIns="0" rIns="0" bIns="0" rtlCol="0" anchor="t">
            <a:spAutoFit/>
          </a:bodyPr>
          <a:lstStyle/>
          <a:p>
            <a:pPr marL="0" lvl="0" indent="0" algn="just">
              <a:lnSpc>
                <a:spcPts val="3313"/>
              </a:lnSpc>
              <a:spcBef>
                <a:spcPct val="0"/>
              </a:spcBef>
            </a:pPr>
            <a:r>
              <a:rPr lang="en-US" sz="2366" b="1" spc="-47">
                <a:solidFill>
                  <a:srgbClr val="333446"/>
                </a:solidFill>
                <a:latin typeface="Poppins Bold"/>
                <a:ea typeface="Poppins Bold"/>
                <a:cs typeface="Poppins Bold"/>
                <a:sym typeface="Poppins Bold"/>
              </a:rPr>
              <a:t>CAPSTONE CHALLENGE – PLANNING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1028700" y="5111333"/>
            <a:ext cx="6259913" cy="795968"/>
          </a:xfrm>
          <a:prstGeom prst="rect">
            <a:avLst/>
          </a:prstGeom>
        </p:spPr>
        <p:txBody>
          <a:bodyPr lIns="0" tIns="0" rIns="0" bIns="0" rtlCol="0" anchor="t">
            <a:spAutoFit/>
          </a:bodyPr>
          <a:lstStyle/>
          <a:p>
            <a:pPr marL="0" lvl="0" indent="0" algn="just">
              <a:lnSpc>
                <a:spcPts val="3109"/>
              </a:lnSpc>
            </a:pPr>
            <a:r>
              <a:rPr lang="en-US" sz="2220">
                <a:solidFill>
                  <a:srgbClr val="333446"/>
                </a:solidFill>
                <a:latin typeface="Poppins"/>
                <a:ea typeface="Poppins"/>
                <a:cs typeface="Poppins"/>
                <a:sym typeface="Poppins"/>
              </a:rPr>
              <a:t>Steps I took to complete the Delivery Dash:</a:t>
            </a:r>
          </a:p>
          <a:p>
            <a:pPr marL="0" lvl="0" indent="0" algn="just">
              <a:lnSpc>
                <a:spcPts val="3109"/>
              </a:lnSpc>
            </a:pPr>
            <a:r>
              <a:rPr lang="en-US" sz="2220">
                <a:solidFill>
                  <a:srgbClr val="333446"/>
                </a:solidFill>
                <a:latin typeface="Poppins"/>
                <a:ea typeface="Poppins"/>
                <a:cs typeface="Poppins"/>
                <a:sym typeface="Poppins"/>
              </a:rPr>
              <a:t>Key coding highlights / snippets used:</a:t>
            </a:r>
          </a:p>
        </p:txBody>
      </p:sp>
      <p:sp>
        <p:nvSpPr>
          <p:cNvPr id="3" name="TextBox 3"/>
          <p:cNvSpPr txBox="1"/>
          <p:nvPr/>
        </p:nvSpPr>
        <p:spPr>
          <a:xfrm>
            <a:off x="1028700" y="6890927"/>
            <a:ext cx="6259913" cy="1581670"/>
          </a:xfrm>
          <a:prstGeom prst="rect">
            <a:avLst/>
          </a:prstGeom>
        </p:spPr>
        <p:txBody>
          <a:bodyPr lIns="0" tIns="0" rIns="0" bIns="0" rtlCol="0" anchor="t">
            <a:spAutoFit/>
          </a:bodyPr>
          <a:lstStyle/>
          <a:p>
            <a:pPr marL="0" lvl="0" indent="0" algn="just">
              <a:lnSpc>
                <a:spcPts val="3109"/>
              </a:lnSpc>
            </a:pPr>
            <a:r>
              <a:rPr lang="en-US" sz="2220">
                <a:solidFill>
                  <a:srgbClr val="333446"/>
                </a:solidFill>
                <a:latin typeface="Poppins"/>
                <a:ea typeface="Poppins"/>
                <a:cs typeface="Poppins"/>
                <a:sym typeface="Poppins"/>
              </a:rPr>
              <a:t>Outcomes &amp; robot performance:</a:t>
            </a:r>
          </a:p>
          <a:p>
            <a:pPr marL="0" lvl="0" indent="0" algn="just">
              <a:lnSpc>
                <a:spcPts val="3109"/>
              </a:lnSpc>
            </a:pPr>
            <a:r>
              <a:rPr lang="en-US" sz="2220">
                <a:solidFill>
                  <a:srgbClr val="333446"/>
                </a:solidFill>
                <a:latin typeface="Poppins"/>
                <a:ea typeface="Poppins"/>
                <a:cs typeface="Poppins"/>
                <a:sym typeface="Poppins"/>
              </a:rPr>
              <a:t>What went well:</a:t>
            </a:r>
          </a:p>
          <a:p>
            <a:pPr marL="0" lvl="0" indent="0" algn="just">
              <a:lnSpc>
                <a:spcPts val="3109"/>
              </a:lnSpc>
            </a:pPr>
            <a:r>
              <a:rPr lang="en-US" sz="2220">
                <a:solidFill>
                  <a:srgbClr val="333446"/>
                </a:solidFill>
                <a:latin typeface="Poppins"/>
                <a:ea typeface="Poppins"/>
                <a:cs typeface="Poppins"/>
                <a:sym typeface="Poppins"/>
              </a:rPr>
              <a:t>Lessons learned &amp; improvements for next time:</a:t>
            </a:r>
          </a:p>
        </p:txBody>
      </p:sp>
      <p:sp>
        <p:nvSpPr>
          <p:cNvPr id="4" name="TextBox 4"/>
          <p:cNvSpPr txBox="1"/>
          <p:nvPr/>
        </p:nvSpPr>
        <p:spPr>
          <a:xfrm>
            <a:off x="1028700" y="4679189"/>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a:solidFill>
                  <a:srgbClr val="333446"/>
                </a:solidFill>
                <a:latin typeface="Poppins Bold"/>
                <a:ea typeface="Poppins Bold"/>
                <a:cs typeface="Poppins Bold"/>
                <a:sym typeface="Poppins Bold"/>
              </a:rPr>
              <a:t>EXECUTION &amp; CODING</a:t>
            </a:r>
          </a:p>
        </p:txBody>
      </p:sp>
      <p:sp>
        <p:nvSpPr>
          <p:cNvPr id="5" name="TextBox 5"/>
          <p:cNvSpPr txBox="1"/>
          <p:nvPr/>
        </p:nvSpPr>
        <p:spPr>
          <a:xfrm>
            <a:off x="1028700" y="6458783"/>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a:solidFill>
                  <a:srgbClr val="333446"/>
                </a:solidFill>
                <a:latin typeface="Poppins Bold"/>
                <a:ea typeface="Poppins Bold"/>
                <a:cs typeface="Poppins Bold"/>
                <a:sym typeface="Poppins Bold"/>
              </a:rPr>
              <a:t>RESULTS &amp; REFLECTION</a:t>
            </a:r>
          </a:p>
        </p:txBody>
      </p:sp>
      <p:sp>
        <p:nvSpPr>
          <p:cNvPr id="6" name="TextBox 6"/>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2597906" y="0"/>
            <a:ext cx="5690094" cy="4426940"/>
          </a:xfrm>
          <a:custGeom>
            <a:avLst/>
            <a:gdLst/>
            <a:ahLst/>
            <a:cxnLst/>
            <a:rect l="l" t="t" r="r" b="b"/>
            <a:pathLst>
              <a:path w="5690094" h="4426940">
                <a:moveTo>
                  <a:pt x="0" y="0"/>
                </a:moveTo>
                <a:lnTo>
                  <a:pt x="5690094" y="0"/>
                </a:lnTo>
                <a:lnTo>
                  <a:pt x="5690094" y="4426940"/>
                </a:lnTo>
                <a:lnTo>
                  <a:pt x="0" y="4426940"/>
                </a:lnTo>
                <a:lnTo>
                  <a:pt x="0" y="0"/>
                </a:lnTo>
                <a:close/>
              </a:path>
            </a:pathLst>
          </a:custGeom>
          <a:blipFill>
            <a:blip r:embed="rId2"/>
            <a:stretch>
              <a:fillRect t="-13788" b="-14744"/>
            </a:stretch>
          </a:blipFill>
        </p:spPr>
        <p:txBody>
          <a:bodyPr/>
          <a:lstStyle/>
          <a:p>
            <a:endParaRPr lang="en-AU"/>
          </a:p>
        </p:txBody>
      </p:sp>
      <p:sp>
        <p:nvSpPr>
          <p:cNvPr id="3" name="Freeform 3"/>
          <p:cNvSpPr/>
          <p:nvPr/>
        </p:nvSpPr>
        <p:spPr>
          <a:xfrm>
            <a:off x="0" y="1250465"/>
            <a:ext cx="7997903" cy="3189164"/>
          </a:xfrm>
          <a:custGeom>
            <a:avLst/>
            <a:gdLst/>
            <a:ahLst/>
            <a:cxnLst/>
            <a:rect l="l" t="t" r="r" b="b"/>
            <a:pathLst>
              <a:path w="7997903" h="3189164">
                <a:moveTo>
                  <a:pt x="0" y="0"/>
                </a:moveTo>
                <a:lnTo>
                  <a:pt x="7997903" y="0"/>
                </a:lnTo>
                <a:lnTo>
                  <a:pt x="7997903" y="3189164"/>
                </a:lnTo>
                <a:lnTo>
                  <a:pt x="0" y="3189164"/>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209550"/>
            <a:ext cx="10386091" cy="1356207"/>
          </a:xfrm>
          <a:prstGeom prst="rect">
            <a:avLst/>
          </a:prstGeom>
        </p:spPr>
        <p:txBody>
          <a:bodyPr lIns="0" tIns="0" rIns="0" bIns="0" rtlCol="0" anchor="t">
            <a:spAutoFit/>
          </a:bodyPr>
          <a:lstStyle/>
          <a:p>
            <a:pPr marL="0" lvl="0" indent="0" algn="l">
              <a:lnSpc>
                <a:spcPts val="10557"/>
              </a:lnSpc>
              <a:spcBef>
                <a:spcPct val="0"/>
              </a:spcBef>
            </a:pPr>
            <a:r>
              <a:rPr lang="en-US" sz="7541">
                <a:solidFill>
                  <a:srgbClr val="333446"/>
                </a:solidFill>
                <a:latin typeface="Poppins Light"/>
                <a:ea typeface="Poppins Light"/>
                <a:cs typeface="Poppins Light"/>
                <a:sym typeface="Poppins Light"/>
              </a:rPr>
              <a:t>SHOWCASE PLANNING</a:t>
            </a:r>
          </a:p>
        </p:txBody>
      </p:sp>
      <p:sp>
        <p:nvSpPr>
          <p:cNvPr id="5" name="TextBox 5"/>
          <p:cNvSpPr txBox="1"/>
          <p:nvPr/>
        </p:nvSpPr>
        <p:spPr>
          <a:xfrm>
            <a:off x="2099101"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DEMO ACTIVITY</a:t>
            </a:r>
          </a:p>
        </p:txBody>
      </p:sp>
      <p:sp>
        <p:nvSpPr>
          <p:cNvPr id="6" name="TextBox 6"/>
          <p:cNvSpPr txBox="1"/>
          <p:nvPr/>
        </p:nvSpPr>
        <p:spPr>
          <a:xfrm>
            <a:off x="10391347"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MATERIALS NEEDED</a:t>
            </a:r>
          </a:p>
        </p:txBody>
      </p:sp>
      <p:sp>
        <p:nvSpPr>
          <p:cNvPr id="7" name="TextBox 7"/>
          <p:cNvSpPr txBox="1"/>
          <p:nvPr/>
        </p:nvSpPr>
        <p:spPr>
          <a:xfrm>
            <a:off x="1440040" y="6983327"/>
            <a:ext cx="6332360" cy="2776914"/>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Activity Description:</a:t>
            </a:r>
          </a:p>
          <a:p>
            <a:pPr marL="0" lvl="0" indent="0" algn="just">
              <a:lnSpc>
                <a:spcPts val="1769"/>
              </a:lnSpc>
              <a:spcBef>
                <a:spcPct val="0"/>
              </a:spcBef>
            </a:pPr>
            <a:r>
              <a:rPr lang="en-US" dirty="0">
                <a:solidFill>
                  <a:srgbClr val="333446"/>
                </a:solidFill>
                <a:latin typeface="Poppins"/>
                <a:ea typeface="Poppins"/>
                <a:cs typeface="Poppins"/>
                <a:sym typeface="Poppins"/>
              </a:rPr>
              <a:t>Demonstrate your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to parents and visitors. Show how your robot navigates, avoids obstacles, and completes tasks using your chosen coding approach.</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Step-by-Step Instructions:</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Set up the robot and arena</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Explain your coding method</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Run a live demonstration</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Invite visitors to try the controller</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Answer questions about your learning</a:t>
            </a:r>
          </a:p>
        </p:txBody>
      </p:sp>
      <p:sp>
        <p:nvSpPr>
          <p:cNvPr id="8" name="TextBox 8"/>
          <p:cNvSpPr txBox="1"/>
          <p:nvPr/>
        </p:nvSpPr>
        <p:spPr>
          <a:xfrm>
            <a:off x="9732286" y="6970636"/>
            <a:ext cx="6650714" cy="2546082"/>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Materials Checklist:</a:t>
            </a:r>
          </a:p>
          <a:p>
            <a:pPr marL="0" lvl="0" indent="0" algn="just">
              <a:lnSpc>
                <a:spcPts val="1769"/>
              </a:lnSpc>
              <a:spcBef>
                <a:spcPct val="0"/>
              </a:spcBef>
            </a:pPr>
            <a:r>
              <a:rPr lang="en-US" dirty="0">
                <a:solidFill>
                  <a:srgbClr val="333446"/>
                </a:solidFill>
                <a:latin typeface="Poppins"/>
                <a:ea typeface="Poppins"/>
                <a:cs typeface="Poppins"/>
                <a:sym typeface="Poppins"/>
              </a:rPr>
              <a:t>•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(charged)</a:t>
            </a:r>
          </a:p>
          <a:p>
            <a:pPr marL="0" lvl="0" indent="0" algn="just">
              <a:lnSpc>
                <a:spcPts val="1769"/>
              </a:lnSpc>
              <a:spcBef>
                <a:spcPct val="0"/>
              </a:spcBef>
            </a:pPr>
            <a:r>
              <a:rPr lang="en-US" dirty="0">
                <a:solidFill>
                  <a:srgbClr val="333446"/>
                </a:solidFill>
                <a:latin typeface="Poppins"/>
                <a:ea typeface="Poppins"/>
                <a:cs typeface="Poppins"/>
                <a:sym typeface="Poppins"/>
              </a:rPr>
              <a:t>• Remote controller</a:t>
            </a:r>
          </a:p>
          <a:p>
            <a:pPr marL="0" lvl="0" indent="0" algn="just">
              <a:lnSpc>
                <a:spcPts val="1769"/>
              </a:lnSpc>
              <a:spcBef>
                <a:spcPct val="0"/>
              </a:spcBef>
            </a:pPr>
            <a:r>
              <a:rPr lang="en-US" dirty="0">
                <a:solidFill>
                  <a:srgbClr val="333446"/>
                </a:solidFill>
                <a:latin typeface="Poppins"/>
                <a:ea typeface="Poppins"/>
                <a:cs typeface="Poppins"/>
                <a:sym typeface="Poppins"/>
              </a:rPr>
              <a:t>• Laptop with VEX coding environment</a:t>
            </a:r>
          </a:p>
          <a:p>
            <a:pPr marL="0" lvl="0" indent="0" algn="just">
              <a:lnSpc>
                <a:spcPts val="1769"/>
              </a:lnSpc>
              <a:spcBef>
                <a:spcPct val="0"/>
              </a:spcBef>
            </a:pPr>
            <a:r>
              <a:rPr lang="en-US" dirty="0">
                <a:solidFill>
                  <a:srgbClr val="333446"/>
                </a:solidFill>
                <a:latin typeface="Poppins"/>
                <a:ea typeface="Poppins"/>
                <a:cs typeface="Poppins"/>
                <a:sym typeface="Poppins"/>
              </a:rPr>
              <a:t>• Arena/obstacle course setup</a:t>
            </a:r>
          </a:p>
          <a:p>
            <a:pPr marL="0" lvl="0" indent="0" algn="just">
              <a:lnSpc>
                <a:spcPts val="1769"/>
              </a:lnSpc>
              <a:spcBef>
                <a:spcPct val="0"/>
              </a:spcBef>
            </a:pPr>
            <a:r>
              <a:rPr lang="en-US" dirty="0">
                <a:solidFill>
                  <a:srgbClr val="333446"/>
                </a:solidFill>
                <a:latin typeface="Poppins"/>
                <a:ea typeface="Poppins"/>
                <a:cs typeface="Poppins"/>
                <a:sym typeface="Poppins"/>
              </a:rPr>
              <a:t>• Printed program or cue cards</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Expected Learning Outcomes:</a:t>
            </a:r>
          </a:p>
          <a:p>
            <a:pPr marL="0" lvl="0" indent="0" algn="just">
              <a:lnSpc>
                <a:spcPts val="1769"/>
              </a:lnSpc>
              <a:spcBef>
                <a:spcPct val="0"/>
              </a:spcBef>
            </a:pPr>
            <a:r>
              <a:rPr lang="en-US" dirty="0">
                <a:solidFill>
                  <a:srgbClr val="333446"/>
                </a:solidFill>
                <a:latin typeface="Poppins"/>
                <a:ea typeface="Poppins"/>
                <a:cs typeface="Poppins"/>
                <a:sym typeface="Poppins"/>
              </a:rPr>
              <a:t>Visitors will understand how students use block code, AI vision, and remote control to program autonomous and manual robot </a:t>
            </a:r>
            <a:r>
              <a:rPr lang="en-US" dirty="0" err="1">
                <a:solidFill>
                  <a:srgbClr val="333446"/>
                </a:solidFill>
                <a:latin typeface="Poppins"/>
                <a:ea typeface="Poppins"/>
                <a:cs typeface="Poppins"/>
                <a:sym typeface="Poppins"/>
              </a:rPr>
              <a:t>behaviours</a:t>
            </a:r>
            <a:r>
              <a:rPr lang="en-US" dirty="0">
                <a:solidFill>
                  <a:srgbClr val="333446"/>
                </a:solidFill>
                <a:latin typeface="Poppins"/>
                <a:ea typeface="Poppins"/>
                <a:cs typeface="Poppins"/>
                <a:sym typeface="Poppins"/>
              </a:rPr>
              <a:t> in real-world challenges.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0" y="3575788"/>
            <a:ext cx="18288000" cy="1465039"/>
          </a:xfrm>
          <a:prstGeom prst="rect">
            <a:avLst/>
          </a:prstGeom>
        </p:spPr>
        <p:txBody>
          <a:bodyPr lIns="0" tIns="0" rIns="0" bIns="0" rtlCol="0" anchor="t">
            <a:spAutoFit/>
          </a:bodyPr>
          <a:lstStyle/>
          <a:p>
            <a:pPr marL="0" lvl="0" indent="0" algn="ctr">
              <a:lnSpc>
                <a:spcPts val="11318"/>
              </a:lnSpc>
              <a:spcBef>
                <a:spcPct val="0"/>
              </a:spcBef>
            </a:pPr>
            <a:r>
              <a:rPr lang="en-US" sz="8084">
                <a:solidFill>
                  <a:srgbClr val="333446"/>
                </a:solidFill>
                <a:latin typeface="Poppins Light"/>
                <a:ea typeface="Poppins Light"/>
                <a:cs typeface="Poppins Light"/>
                <a:sym typeface="Poppins Light"/>
              </a:rPr>
              <a:t>SHOWCASE CODING OPTIONS</a:t>
            </a:r>
          </a:p>
        </p:txBody>
      </p:sp>
      <p:sp>
        <p:nvSpPr>
          <p:cNvPr id="3" name="TextBox 3"/>
          <p:cNvSpPr txBox="1"/>
          <p:nvPr/>
        </p:nvSpPr>
        <p:spPr>
          <a:xfrm>
            <a:off x="1028700" y="5487075"/>
            <a:ext cx="5087534"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REMOTES: MANUAL CONTROL</a:t>
            </a:r>
          </a:p>
        </p:txBody>
      </p:sp>
      <p:sp>
        <p:nvSpPr>
          <p:cNvPr id="4" name="TextBox 4"/>
          <p:cNvSpPr txBox="1"/>
          <p:nvPr/>
        </p:nvSpPr>
        <p:spPr>
          <a:xfrm>
            <a:off x="1164146"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Use a controller to drive the robot live during the demo. Great for showing visitors how to steer and interact with the robot in real time. Simple, engaging, and easy to explain to parents and guests.</a:t>
            </a:r>
          </a:p>
        </p:txBody>
      </p:sp>
      <p:sp>
        <p:nvSpPr>
          <p:cNvPr id="5" name="TextBox 5"/>
          <p:cNvSpPr txBox="1"/>
          <p:nvPr/>
        </p:nvSpPr>
        <p:spPr>
          <a:xfrm>
            <a:off x="7002720"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BUTTON CODING: INTERACTIVE TRIGGERS</a:t>
            </a:r>
          </a:p>
        </p:txBody>
      </p:sp>
      <p:sp>
        <p:nvSpPr>
          <p:cNvPr id="6" name="TextBox 6"/>
          <p:cNvSpPr txBox="1"/>
          <p:nvPr/>
        </p:nvSpPr>
        <p:spPr>
          <a:xfrm>
            <a:off x="12543263"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BLOCK CODE: AUTOMATED SCRIPTS</a:t>
            </a:r>
          </a:p>
        </p:txBody>
      </p:sp>
      <p:sp>
        <p:nvSpPr>
          <p:cNvPr id="7" name="TextBox 7"/>
          <p:cNvSpPr txBox="1"/>
          <p:nvPr/>
        </p:nvSpPr>
        <p:spPr>
          <a:xfrm>
            <a:off x="6871429"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Program specific buttons to trigger robot actions. Visitors can press a button and watch the robot respond. A great way to show how simple inputs create programmed outputs and introduce coding logic.</a:t>
            </a:r>
          </a:p>
        </p:txBody>
      </p:sp>
      <p:sp>
        <p:nvSpPr>
          <p:cNvPr id="8" name="TextBox 8"/>
          <p:cNvSpPr txBox="1"/>
          <p:nvPr/>
        </p:nvSpPr>
        <p:spPr>
          <a:xfrm>
            <a:off x="12411972"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Set up a fully automated sequence using block code. The robot runs a pre-programmed routine independently. Ideal for demonstrating autonomous navigation, obstacle avoidance, or cargo transport without manual input.</a:t>
            </a:r>
          </a:p>
        </p:txBody>
      </p:sp>
      <p:grpSp>
        <p:nvGrpSpPr>
          <p:cNvPr id="9" name="Group 9"/>
          <p:cNvGrpSpPr/>
          <p:nvPr/>
        </p:nvGrpSpPr>
        <p:grpSpPr>
          <a:xfrm>
            <a:off x="1028700" y="1028700"/>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579692" y="3737961"/>
            <a:ext cx="16697624" cy="2939415"/>
          </a:xfrm>
          <a:prstGeom prst="rect">
            <a:avLst/>
          </a:prstGeom>
        </p:spPr>
        <p:txBody>
          <a:bodyPr lIns="0" tIns="0" rIns="0" bIns="0" rtlCol="0" anchor="t">
            <a:spAutoFit/>
          </a:bodyPr>
          <a:lstStyle/>
          <a:p>
            <a:pPr marL="0" lvl="0" indent="0" algn="just">
              <a:lnSpc>
                <a:spcPts val="3359"/>
              </a:lnSpc>
            </a:pPr>
            <a:r>
              <a:rPr lang="en-US" sz="2400">
                <a:solidFill>
                  <a:srgbClr val="333446"/>
                </a:solidFill>
                <a:latin typeface="Poppins"/>
                <a:ea typeface="Poppins"/>
                <a:cs typeface="Poppins"/>
                <a:sym typeface="Poppins"/>
              </a:rPr>
              <a:t>🏆 My biggest achievement:</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Challenges I overcame:</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How my understanding improved:</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Skills I'll take forward:</a:t>
            </a:r>
          </a:p>
        </p:txBody>
      </p:sp>
      <p:sp>
        <p:nvSpPr>
          <p:cNvPr id="3" name="TextBox 3"/>
          <p:cNvSpPr txBox="1"/>
          <p:nvPr/>
        </p:nvSpPr>
        <p:spPr>
          <a:xfrm>
            <a:off x="0" y="-247650"/>
            <a:ext cx="13423108" cy="1566187"/>
          </a:xfrm>
          <a:prstGeom prst="rect">
            <a:avLst/>
          </a:prstGeom>
        </p:spPr>
        <p:txBody>
          <a:bodyPr lIns="0" tIns="0" rIns="0" bIns="0" rtlCol="0" anchor="t">
            <a:spAutoFit/>
          </a:bodyPr>
          <a:lstStyle/>
          <a:p>
            <a:pPr marL="0" lvl="0" indent="0" algn="r">
              <a:lnSpc>
                <a:spcPts val="12118"/>
              </a:lnSpc>
              <a:spcBef>
                <a:spcPct val="0"/>
              </a:spcBef>
            </a:pPr>
            <a:r>
              <a:rPr lang="en-US" sz="8656">
                <a:solidFill>
                  <a:srgbClr val="333446"/>
                </a:solidFill>
                <a:latin typeface="Poppins Light"/>
                <a:ea typeface="Poppins Light"/>
                <a:cs typeface="Poppins Light"/>
                <a:sym typeface="Poppins Light"/>
              </a:rPr>
              <a:t>OVERALL UNIT REFLECTION</a:t>
            </a:r>
          </a:p>
        </p:txBody>
      </p:sp>
      <p:sp>
        <p:nvSpPr>
          <p:cNvPr id="4" name="TextBox 4"/>
          <p:cNvSpPr txBox="1"/>
          <p:nvPr/>
        </p:nvSpPr>
        <p:spPr>
          <a:xfrm>
            <a:off x="710215" y="2611497"/>
            <a:ext cx="4358828" cy="516864"/>
          </a:xfrm>
          <a:prstGeom prst="rect">
            <a:avLst/>
          </a:prstGeom>
        </p:spPr>
        <p:txBody>
          <a:bodyPr lIns="0" tIns="0" rIns="0" bIns="0" rtlCol="0" anchor="t">
            <a:spAutoFit/>
          </a:bodyPr>
          <a:lstStyle/>
          <a:p>
            <a:pPr marL="0" lvl="0" indent="0" algn="l">
              <a:lnSpc>
                <a:spcPts val="4061"/>
              </a:lnSpc>
              <a:spcBef>
                <a:spcPct val="0"/>
              </a:spcBef>
            </a:pPr>
            <a:r>
              <a:rPr lang="en-US" sz="2901" b="1" spc="-58">
                <a:solidFill>
                  <a:srgbClr val="333446"/>
                </a:solidFill>
                <a:latin typeface="Poppins Bold"/>
                <a:ea typeface="Poppins Bold"/>
                <a:cs typeface="Poppins Bold"/>
                <a:sym typeface="Poppins Bold"/>
              </a:rPr>
              <a:t>MY LEARNING 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3717172" y="1028700"/>
            <a:ext cx="11946717" cy="8229600"/>
          </a:xfrm>
          <a:custGeom>
            <a:avLst/>
            <a:gdLst/>
            <a:ahLst/>
            <a:cxnLst/>
            <a:rect l="l" t="t" r="r" b="b"/>
            <a:pathLst>
              <a:path w="11946717" h="8229600">
                <a:moveTo>
                  <a:pt x="0" y="0"/>
                </a:moveTo>
                <a:lnTo>
                  <a:pt x="11946717" y="0"/>
                </a:lnTo>
                <a:lnTo>
                  <a:pt x="11946717" y="8229600"/>
                </a:lnTo>
                <a:lnTo>
                  <a:pt x="0" y="8229600"/>
                </a:lnTo>
                <a:lnTo>
                  <a:pt x="0" y="0"/>
                </a:lnTo>
                <a:close/>
              </a:path>
            </a:pathLst>
          </a:custGeom>
          <a:blipFill>
            <a:blip r:embed="rId2"/>
            <a:stretch>
              <a:fillRect/>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1734</Words>
  <Application>Microsoft Office PowerPoint</Application>
  <PresentationFormat>Custom</PresentationFormat>
  <Paragraphs>221</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Poppins Heavy</vt:lpstr>
      <vt:lpstr>Calibri</vt:lpstr>
      <vt:lpstr>Poppins</vt:lpstr>
      <vt:lpstr>Poppins Bold</vt:lpstr>
      <vt:lpstr>Arial</vt:lpstr>
      <vt:lpstr>Poppins Ultra-Bold</vt:lpstr>
      <vt:lpstr>Poppins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9 STEM Digital Portfolio: VEX Aimbots Unit</dc:title>
  <cp:lastModifiedBy>Grace Hall</cp:lastModifiedBy>
  <cp:revision>2</cp:revision>
  <dcterms:created xsi:type="dcterms:W3CDTF">2006-08-16T00:00:00Z</dcterms:created>
  <dcterms:modified xsi:type="dcterms:W3CDTF">2026-06-09T04:11:59Z</dcterms:modified>
  <dc:identifier>DAHMCSqlsy4</dc:identifier>
</cp:coreProperties>
</file>