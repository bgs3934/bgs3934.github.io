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8288000" cy="10287000"/>
  <p:notesSz cx="6858000" cy="9144000"/>
  <p:embeddedFontLst>
    <p:embeddedFont>
      <p:font typeface="Poppins" panose="00000500000000000000" pitchFamily="2" charset="0"/>
      <p:regular r:id="rId23"/>
    </p:embeddedFont>
    <p:embeddedFont>
      <p:font typeface="Poppins Bold" panose="00000800000000000000" charset="0"/>
      <p:regular r:id="rId24"/>
    </p:embeddedFont>
    <p:embeddedFont>
      <p:font typeface="Poppins Heavy" panose="020B0604020202020204" charset="0"/>
      <p:regular r:id="rId25"/>
    </p:embeddedFont>
    <p:embeddedFont>
      <p:font typeface="Poppins Light" panose="00000400000000000000" pitchFamily="2" charset="0"/>
      <p:regular r:id="rId26"/>
    </p:embeddedFont>
    <p:embeddedFont>
      <p:font typeface="Poppins Ultra-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9" d="100"/>
          <a:sy n="39" d="100"/>
        </p:scale>
        <p:origin x="940" y="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5.fnt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ce Ladiges" userId="9058d54e-69bd-471e-b104-1ead891c9741" providerId="ADAL" clId="{2B9251C4-42DF-4463-8314-2F676DC961D9}"/>
    <pc:docChg chg="custSel modSld">
      <pc:chgData name="Grace Ladiges" userId="9058d54e-69bd-471e-b104-1ead891c9741" providerId="ADAL" clId="{2B9251C4-42DF-4463-8314-2F676DC961D9}" dt="2026-08-20T02:35:55.103" v="1228" actId="11529"/>
      <pc:docMkLst>
        <pc:docMk/>
      </pc:docMkLst>
      <pc:sldChg chg="addSp modSp mod">
        <pc:chgData name="Grace Ladiges" userId="9058d54e-69bd-471e-b104-1ead891c9741" providerId="ADAL" clId="{2B9251C4-42DF-4463-8314-2F676DC961D9}" dt="2026-08-05T04:51:17.460" v="361" actId="13926"/>
        <pc:sldMkLst>
          <pc:docMk/>
          <pc:sldMk cId="0" sldId="264"/>
        </pc:sldMkLst>
        <pc:spChg chg="add mod">
          <ac:chgData name="Grace Ladiges" userId="9058d54e-69bd-471e-b104-1ead891c9741" providerId="ADAL" clId="{2B9251C4-42DF-4463-8314-2F676DC961D9}" dt="2026-08-05T04:51:17.460" v="361" actId="13926"/>
          <ac:spMkLst>
            <pc:docMk/>
            <pc:sldMk cId="0" sldId="264"/>
            <ac:spMk id="9" creationId="{FFA372EC-088B-A939-3ECD-E529BF4DFBD8}"/>
          </ac:spMkLst>
        </pc:spChg>
        <pc:spChg chg="add mod">
          <ac:chgData name="Grace Ladiges" userId="9058d54e-69bd-471e-b104-1ead891c9741" providerId="ADAL" clId="{2B9251C4-42DF-4463-8314-2F676DC961D9}" dt="2026-08-05T04:51:12.552" v="360" actId="13926"/>
          <ac:spMkLst>
            <pc:docMk/>
            <pc:sldMk cId="0" sldId="264"/>
            <ac:spMk id="10" creationId="{45BF4C57-8562-8973-1C91-3277033C926A}"/>
          </ac:spMkLst>
        </pc:spChg>
        <pc:picChg chg="add mod">
          <ac:chgData name="Grace Ladiges" userId="9058d54e-69bd-471e-b104-1ead891c9741" providerId="ADAL" clId="{2B9251C4-42DF-4463-8314-2F676DC961D9}" dt="2026-08-05T04:49:50.149" v="162" actId="1076"/>
          <ac:picMkLst>
            <pc:docMk/>
            <pc:sldMk cId="0" sldId="264"/>
            <ac:picMk id="8" creationId="{6C2ECF0F-8151-7F12-F24C-719090ABAA5E}"/>
          </ac:picMkLst>
        </pc:picChg>
      </pc:sldChg>
      <pc:sldChg chg="addSp modSp mod">
        <pc:chgData name="Grace Ladiges" userId="9058d54e-69bd-471e-b104-1ead891c9741" providerId="ADAL" clId="{2B9251C4-42DF-4463-8314-2F676DC961D9}" dt="2026-08-06T02:13:49.984" v="481" actId="11529"/>
        <pc:sldMkLst>
          <pc:docMk/>
          <pc:sldMk cId="0" sldId="265"/>
        </pc:sldMkLst>
        <pc:spChg chg="mod">
          <ac:chgData name="Grace Ladiges" userId="9058d54e-69bd-471e-b104-1ead891c9741" providerId="ADAL" clId="{2B9251C4-42DF-4463-8314-2F676DC961D9}" dt="2026-08-05T04:47:25.965" v="160" actId="13926"/>
          <ac:spMkLst>
            <pc:docMk/>
            <pc:sldMk cId="0" sldId="265"/>
            <ac:spMk id="6" creationId="{00000000-0000-0000-0000-000000000000}"/>
          </ac:spMkLst>
        </pc:spChg>
        <pc:spChg chg="add mod">
          <ac:chgData name="Grace Ladiges" userId="9058d54e-69bd-471e-b104-1ead891c9741" providerId="ADAL" clId="{2B9251C4-42DF-4463-8314-2F676DC961D9}" dt="2026-08-06T02:13:40.379" v="480" actId="13926"/>
          <ac:spMkLst>
            <pc:docMk/>
            <pc:sldMk cId="0" sldId="265"/>
            <ac:spMk id="7" creationId="{8CBB3210-156E-F554-7A63-5BAE596CD07B}"/>
          </ac:spMkLst>
        </pc:spChg>
        <pc:picChg chg="add mod">
          <ac:chgData name="Grace Ladiges" userId="9058d54e-69bd-471e-b104-1ead891c9741" providerId="ADAL" clId="{2B9251C4-42DF-4463-8314-2F676DC961D9}" dt="2026-08-05T04:44:51.021" v="2" actId="1076"/>
          <ac:picMkLst>
            <pc:docMk/>
            <pc:sldMk cId="0" sldId="265"/>
            <ac:picMk id="8" creationId="{C1AD90F3-68CB-16F5-DC1B-27F71D3CDBEE}"/>
          </ac:picMkLst>
        </pc:picChg>
        <pc:cxnChg chg="add">
          <ac:chgData name="Grace Ladiges" userId="9058d54e-69bd-471e-b104-1ead891c9741" providerId="ADAL" clId="{2B9251C4-42DF-4463-8314-2F676DC961D9}" dt="2026-08-06T02:13:49.984" v="481" actId="11529"/>
          <ac:cxnSpMkLst>
            <pc:docMk/>
            <pc:sldMk cId="0" sldId="265"/>
            <ac:cxnSpMk id="10" creationId="{4311BB74-CB5A-30C1-3ECC-B71F4742A7B7}"/>
          </ac:cxnSpMkLst>
        </pc:cxnChg>
      </pc:sldChg>
      <pc:sldChg chg="addSp delSp modSp mod">
        <pc:chgData name="Grace Ladiges" userId="9058d54e-69bd-471e-b104-1ead891c9741" providerId="ADAL" clId="{2B9251C4-42DF-4463-8314-2F676DC961D9}" dt="2026-08-06T02:19:27.385" v="686" actId="20577"/>
        <pc:sldMkLst>
          <pc:docMk/>
          <pc:sldMk cId="0" sldId="266"/>
        </pc:sldMkLst>
        <pc:spChg chg="mod">
          <ac:chgData name="Grace Ladiges" userId="9058d54e-69bd-471e-b104-1ead891c9741" providerId="ADAL" clId="{2B9251C4-42DF-4463-8314-2F676DC961D9}" dt="2026-08-06T02:12:44.683" v="462" actId="13926"/>
          <ac:spMkLst>
            <pc:docMk/>
            <pc:sldMk cId="0" sldId="266"/>
            <ac:spMk id="4" creationId="{00000000-0000-0000-0000-000000000000}"/>
          </ac:spMkLst>
        </pc:spChg>
        <pc:spChg chg="mod">
          <ac:chgData name="Grace Ladiges" userId="9058d54e-69bd-471e-b104-1ead891c9741" providerId="ADAL" clId="{2B9251C4-42DF-4463-8314-2F676DC961D9}" dt="2026-08-06T02:19:27.385" v="686" actId="20577"/>
          <ac:spMkLst>
            <pc:docMk/>
            <pc:sldMk cId="0" sldId="266"/>
            <ac:spMk id="6" creationId="{00000000-0000-0000-0000-000000000000}"/>
          </ac:spMkLst>
        </pc:spChg>
        <pc:spChg chg="add mod">
          <ac:chgData name="Grace Ladiges" userId="9058d54e-69bd-471e-b104-1ead891c9741" providerId="ADAL" clId="{2B9251C4-42DF-4463-8314-2F676DC961D9}" dt="2026-08-06T02:10:24.351" v="392" actId="20577"/>
          <ac:spMkLst>
            <pc:docMk/>
            <pc:sldMk cId="0" sldId="266"/>
            <ac:spMk id="9" creationId="{94818C28-16B3-32AD-B037-016BE29D1B30}"/>
          </ac:spMkLst>
        </pc:spChg>
        <pc:picChg chg="add mod">
          <ac:chgData name="Grace Ladiges" userId="9058d54e-69bd-471e-b104-1ead891c9741" providerId="ADAL" clId="{2B9251C4-42DF-4463-8314-2F676DC961D9}" dt="2026-08-06T02:09:12.114" v="366" actId="1076"/>
          <ac:picMkLst>
            <pc:docMk/>
            <pc:sldMk cId="0" sldId="266"/>
            <ac:picMk id="8" creationId="{E8E5C88B-9A2E-B9BF-A79B-C647D8470878}"/>
          </ac:picMkLst>
        </pc:picChg>
        <pc:cxnChg chg="add">
          <ac:chgData name="Grace Ladiges" userId="9058d54e-69bd-471e-b104-1ead891c9741" providerId="ADAL" clId="{2B9251C4-42DF-4463-8314-2F676DC961D9}" dt="2026-08-06T02:10:18.868" v="387" actId="11529"/>
          <ac:cxnSpMkLst>
            <pc:docMk/>
            <pc:sldMk cId="0" sldId="266"/>
            <ac:cxnSpMk id="13" creationId="{0661B123-AFB7-10ED-828E-735715758EDF}"/>
          </ac:cxnSpMkLst>
        </pc:cxnChg>
      </pc:sldChg>
      <pc:sldChg chg="addSp modSp mod">
        <pc:chgData name="Grace Ladiges" userId="9058d54e-69bd-471e-b104-1ead891c9741" providerId="ADAL" clId="{2B9251C4-42DF-4463-8314-2F676DC961D9}" dt="2026-08-12T03:34:40.536" v="875" actId="13926"/>
        <pc:sldMkLst>
          <pc:docMk/>
          <pc:sldMk cId="0" sldId="267"/>
        </pc:sldMkLst>
        <pc:spChg chg="mod">
          <ac:chgData name="Grace Ladiges" userId="9058d54e-69bd-471e-b104-1ead891c9741" providerId="ADAL" clId="{2B9251C4-42DF-4463-8314-2F676DC961D9}" dt="2026-08-12T03:34:16.413" v="853" actId="20577"/>
          <ac:spMkLst>
            <pc:docMk/>
            <pc:sldMk cId="0" sldId="267"/>
            <ac:spMk id="6" creationId="{00000000-0000-0000-0000-000000000000}"/>
          </ac:spMkLst>
        </pc:spChg>
        <pc:spChg chg="add mod">
          <ac:chgData name="Grace Ladiges" userId="9058d54e-69bd-471e-b104-1ead891c9741" providerId="ADAL" clId="{2B9251C4-42DF-4463-8314-2F676DC961D9}" dt="2026-08-12T03:34:40.536" v="875" actId="13926"/>
          <ac:spMkLst>
            <pc:docMk/>
            <pc:sldMk cId="0" sldId="267"/>
            <ac:spMk id="9" creationId="{C01288D5-D670-39B7-CA1E-A0314501839A}"/>
          </ac:spMkLst>
        </pc:spChg>
        <pc:picChg chg="add mod">
          <ac:chgData name="Grace Ladiges" userId="9058d54e-69bd-471e-b104-1ead891c9741" providerId="ADAL" clId="{2B9251C4-42DF-4463-8314-2F676DC961D9}" dt="2026-08-12T03:32:59.104" v="688" actId="1076"/>
          <ac:picMkLst>
            <pc:docMk/>
            <pc:sldMk cId="0" sldId="267"/>
            <ac:picMk id="8" creationId="{81DEE746-9FF2-BAC5-E42F-19A36072610D}"/>
          </ac:picMkLst>
        </pc:picChg>
      </pc:sldChg>
      <pc:sldChg chg="addSp modSp mod">
        <pc:chgData name="Grace Ladiges" userId="9058d54e-69bd-471e-b104-1ead891c9741" providerId="ADAL" clId="{2B9251C4-42DF-4463-8314-2F676DC961D9}" dt="2026-08-20T02:35:55.103" v="1228" actId="11529"/>
        <pc:sldMkLst>
          <pc:docMk/>
          <pc:sldMk cId="0" sldId="268"/>
        </pc:sldMkLst>
        <pc:spChg chg="mod">
          <ac:chgData name="Grace Ladiges" userId="9058d54e-69bd-471e-b104-1ead891c9741" providerId="ADAL" clId="{2B9251C4-42DF-4463-8314-2F676DC961D9}" dt="2026-08-20T02:34:57.646" v="1172" actId="13926"/>
          <ac:spMkLst>
            <pc:docMk/>
            <pc:sldMk cId="0" sldId="268"/>
            <ac:spMk id="4" creationId="{00000000-0000-0000-0000-000000000000}"/>
          </ac:spMkLst>
        </pc:spChg>
        <pc:spChg chg="mod">
          <ac:chgData name="Grace Ladiges" userId="9058d54e-69bd-471e-b104-1ead891c9741" providerId="ADAL" clId="{2B9251C4-42DF-4463-8314-2F676DC961D9}" dt="2026-08-20T02:35:42.444" v="1227" actId="13926"/>
          <ac:spMkLst>
            <pc:docMk/>
            <pc:sldMk cId="0" sldId="268"/>
            <ac:spMk id="6" creationId="{00000000-0000-0000-0000-000000000000}"/>
          </ac:spMkLst>
        </pc:spChg>
        <pc:picChg chg="add mod">
          <ac:chgData name="Grace Ladiges" userId="9058d54e-69bd-471e-b104-1ead891c9741" providerId="ADAL" clId="{2B9251C4-42DF-4463-8314-2F676DC961D9}" dt="2026-08-20T02:35:16.759" v="1175" actId="1076"/>
          <ac:picMkLst>
            <pc:docMk/>
            <pc:sldMk cId="0" sldId="268"/>
            <ac:picMk id="8" creationId="{6669C9F5-B6DC-CD01-5E87-A0144B72E116}"/>
          </ac:picMkLst>
        </pc:picChg>
        <pc:cxnChg chg="add">
          <ac:chgData name="Grace Ladiges" userId="9058d54e-69bd-471e-b104-1ead891c9741" providerId="ADAL" clId="{2B9251C4-42DF-4463-8314-2F676DC961D9}" dt="2026-08-20T02:35:55.103" v="1228" actId="11529"/>
          <ac:cxnSpMkLst>
            <pc:docMk/>
            <pc:sldMk cId="0" sldId="268"/>
            <ac:cxnSpMk id="10" creationId="{2875580D-0187-A006-2982-6673A42C1F0D}"/>
          </ac:cxnSpMkLst>
        </pc:cxnChg>
      </pc:sldChg>
      <pc:sldChg chg="modSp mod">
        <pc:chgData name="Grace Ladiges" userId="9058d54e-69bd-471e-b104-1ead891c9741" providerId="ADAL" clId="{2B9251C4-42DF-4463-8314-2F676DC961D9}" dt="2026-08-20T02:23:46.954" v="1138" actId="1076"/>
        <pc:sldMkLst>
          <pc:docMk/>
          <pc:sldMk cId="0" sldId="269"/>
        </pc:sldMkLst>
        <pc:spChg chg="mod">
          <ac:chgData name="Grace Ladiges" userId="9058d54e-69bd-471e-b104-1ead891c9741" providerId="ADAL" clId="{2B9251C4-42DF-4463-8314-2F676DC961D9}" dt="2026-08-20T02:23:46.954" v="1138" actId="1076"/>
          <ac:spMkLst>
            <pc:docMk/>
            <pc:sldMk cId="0" sldId="269"/>
            <ac:spMk id="4" creationId="{00000000-0000-0000-0000-000000000000}"/>
          </ac:spMkLst>
        </pc:spChg>
      </pc:sldChg>
      <pc:sldChg chg="addSp modSp mod">
        <pc:chgData name="Grace Ladiges" userId="9058d54e-69bd-471e-b104-1ead891c9741" providerId="ADAL" clId="{2B9251C4-42DF-4463-8314-2F676DC961D9}" dt="2026-08-20T02:21:56.822" v="1137" actId="13926"/>
        <pc:sldMkLst>
          <pc:docMk/>
          <pc:sldMk cId="0" sldId="270"/>
        </pc:sldMkLst>
        <pc:spChg chg="mod">
          <ac:chgData name="Grace Ladiges" userId="9058d54e-69bd-471e-b104-1ead891c9741" providerId="ADAL" clId="{2B9251C4-42DF-4463-8314-2F676DC961D9}" dt="2026-08-20T02:21:56.822" v="1137" actId="13926"/>
          <ac:spMkLst>
            <pc:docMk/>
            <pc:sldMk cId="0" sldId="270"/>
            <ac:spMk id="3" creationId="{00000000-0000-0000-0000-000000000000}"/>
          </ac:spMkLst>
        </pc:spChg>
        <pc:picChg chg="add mod">
          <ac:chgData name="Grace Ladiges" userId="9058d54e-69bd-471e-b104-1ead891c9741" providerId="ADAL" clId="{2B9251C4-42DF-4463-8314-2F676DC961D9}" dt="2026-08-20T02:20:55.474" v="1040" actId="1076"/>
          <ac:picMkLst>
            <pc:docMk/>
            <pc:sldMk cId="0" sldId="270"/>
            <ac:picMk id="8" creationId="{EDFE8E9E-CD28-DFAF-409C-C26B39C9CCDE}"/>
          </ac:picMkLst>
        </pc:picChg>
        <pc:cxnChg chg="add">
          <ac:chgData name="Grace Ladiges" userId="9058d54e-69bd-471e-b104-1ead891c9741" providerId="ADAL" clId="{2B9251C4-42DF-4463-8314-2F676DC961D9}" dt="2026-08-20T02:21:15.215" v="1041" actId="11529"/>
          <ac:cxnSpMkLst>
            <pc:docMk/>
            <pc:sldMk cId="0" sldId="270"/>
            <ac:cxnSpMk id="10" creationId="{2AD20DF2-A7E0-B374-A9D2-0CA6CBCFB10C}"/>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grpSp>
        <p:nvGrpSpPr>
          <p:cNvPr id="2" name="Group 2"/>
          <p:cNvGrpSpPr/>
          <p:nvPr/>
        </p:nvGrpSpPr>
        <p:grpSpPr>
          <a:xfrm>
            <a:off x="-304800" y="1750074"/>
            <a:ext cx="11702278" cy="3896572"/>
            <a:chOff x="0" y="0"/>
            <a:chExt cx="1835157" cy="611062"/>
          </a:xfrm>
        </p:grpSpPr>
        <p:sp>
          <p:nvSpPr>
            <p:cNvPr id="3" name="Freeform 3"/>
            <p:cNvSpPr/>
            <p:nvPr/>
          </p:nvSpPr>
          <p:spPr>
            <a:xfrm>
              <a:off x="0" y="0"/>
              <a:ext cx="1835157" cy="611062"/>
            </a:xfrm>
            <a:custGeom>
              <a:avLst/>
              <a:gdLst/>
              <a:ahLst/>
              <a:cxnLst/>
              <a:rect l="l" t="t" r="r" b="b"/>
              <a:pathLst>
                <a:path w="1835157" h="611062">
                  <a:moveTo>
                    <a:pt x="15216" y="0"/>
                  </a:moveTo>
                  <a:lnTo>
                    <a:pt x="1819941" y="0"/>
                  </a:lnTo>
                  <a:cubicBezTo>
                    <a:pt x="1823977" y="0"/>
                    <a:pt x="1827847" y="1603"/>
                    <a:pt x="1830700" y="4457"/>
                  </a:cubicBezTo>
                  <a:cubicBezTo>
                    <a:pt x="1833554" y="7310"/>
                    <a:pt x="1835157" y="11181"/>
                    <a:pt x="1835157" y="15216"/>
                  </a:cubicBezTo>
                  <a:lnTo>
                    <a:pt x="1835157" y="595846"/>
                  </a:lnTo>
                  <a:cubicBezTo>
                    <a:pt x="1835157" y="604250"/>
                    <a:pt x="1828345" y="611062"/>
                    <a:pt x="1819941" y="611062"/>
                  </a:cubicBezTo>
                  <a:lnTo>
                    <a:pt x="15216" y="611062"/>
                  </a:lnTo>
                  <a:cubicBezTo>
                    <a:pt x="6813" y="611062"/>
                    <a:pt x="0" y="604250"/>
                    <a:pt x="0" y="595846"/>
                  </a:cubicBezTo>
                  <a:lnTo>
                    <a:pt x="0" y="15216"/>
                  </a:lnTo>
                  <a:cubicBezTo>
                    <a:pt x="0" y="6813"/>
                    <a:pt x="6813" y="0"/>
                    <a:pt x="15216" y="0"/>
                  </a:cubicBezTo>
                  <a:close/>
                </a:path>
              </a:pathLst>
            </a:custGeom>
            <a:blipFill>
              <a:blip r:embed="rId2"/>
              <a:stretch>
                <a:fillRect t="-16821" b="-16821"/>
              </a:stretch>
            </a:blipFill>
          </p:spPr>
          <p:txBody>
            <a:bodyPr/>
            <a:lstStyle/>
            <a:p>
              <a:endParaRPr lang="en-AU"/>
            </a:p>
          </p:txBody>
        </p:sp>
      </p:grpSp>
      <p:sp>
        <p:nvSpPr>
          <p:cNvPr id="4" name="TextBox 4"/>
          <p:cNvSpPr txBox="1"/>
          <p:nvPr/>
        </p:nvSpPr>
        <p:spPr>
          <a:xfrm>
            <a:off x="7200089" y="8163750"/>
            <a:ext cx="10842221" cy="1619479"/>
          </a:xfrm>
          <a:prstGeom prst="rect">
            <a:avLst/>
          </a:prstGeom>
        </p:spPr>
        <p:txBody>
          <a:bodyPr lIns="0" tIns="0" rIns="0" bIns="0" rtlCol="0" anchor="t">
            <a:spAutoFit/>
          </a:bodyPr>
          <a:lstStyle/>
          <a:p>
            <a:pPr marL="0" lvl="0" indent="0" algn="ctr">
              <a:lnSpc>
                <a:spcPts val="10048"/>
              </a:lnSpc>
            </a:pPr>
            <a:r>
              <a:rPr lang="en-US" sz="13956" b="1">
                <a:solidFill>
                  <a:srgbClr val="333446"/>
                </a:solidFill>
                <a:latin typeface="Poppins Ultra-Bold"/>
                <a:ea typeface="Poppins Ultra-Bold"/>
                <a:cs typeface="Poppins Ultra-Bold"/>
                <a:sym typeface="Poppins Ultra-Bold"/>
              </a:rPr>
              <a:t>PORTFOLIO</a:t>
            </a:r>
          </a:p>
        </p:txBody>
      </p:sp>
      <p:sp>
        <p:nvSpPr>
          <p:cNvPr id="5" name="TextBox 5"/>
          <p:cNvSpPr txBox="1"/>
          <p:nvPr/>
        </p:nvSpPr>
        <p:spPr>
          <a:xfrm>
            <a:off x="10574586" y="5758440"/>
            <a:ext cx="6684714" cy="1256787"/>
          </a:xfrm>
          <a:prstGeom prst="rect">
            <a:avLst/>
          </a:prstGeom>
        </p:spPr>
        <p:txBody>
          <a:bodyPr lIns="0" tIns="0" rIns="0" bIns="0" rtlCol="0" anchor="t">
            <a:spAutoFit/>
          </a:bodyPr>
          <a:lstStyle/>
          <a:p>
            <a:pPr marL="0" lvl="0" indent="0" algn="r">
              <a:lnSpc>
                <a:spcPts val="4381"/>
              </a:lnSpc>
            </a:pPr>
            <a:r>
              <a:rPr lang="en-US" sz="6085">
                <a:solidFill>
                  <a:srgbClr val="333446"/>
                </a:solidFill>
                <a:latin typeface="Poppins Light"/>
                <a:ea typeface="Poppins Light"/>
                <a:cs typeface="Poppins Light"/>
                <a:sym typeface="Poppins Light"/>
              </a:rPr>
              <a:t>YEAR 9 STEM DIGITAL</a:t>
            </a:r>
          </a:p>
        </p:txBody>
      </p:sp>
      <p:sp>
        <p:nvSpPr>
          <p:cNvPr id="6" name="TextBox 6"/>
          <p:cNvSpPr txBox="1"/>
          <p:nvPr/>
        </p:nvSpPr>
        <p:spPr>
          <a:xfrm>
            <a:off x="10370897" y="1143037"/>
            <a:ext cx="6888403" cy="333794"/>
          </a:xfrm>
          <a:prstGeom prst="rect">
            <a:avLst/>
          </a:prstGeom>
        </p:spPr>
        <p:txBody>
          <a:bodyPr lIns="0" tIns="0" rIns="0" bIns="0" rtlCol="0" anchor="t">
            <a:spAutoFit/>
          </a:bodyPr>
          <a:lstStyle/>
          <a:p>
            <a:pPr marL="0" lvl="0" indent="0" algn="r">
              <a:lnSpc>
                <a:spcPts val="2142"/>
              </a:lnSpc>
            </a:pPr>
            <a:r>
              <a:rPr lang="en-US" sz="2975" spc="-59">
                <a:solidFill>
                  <a:srgbClr val="333446"/>
                </a:solidFill>
                <a:latin typeface="Poppins"/>
                <a:ea typeface="Poppins"/>
                <a:cs typeface="Poppins"/>
                <a:sym typeface="Poppins"/>
              </a:rPr>
              <a:t>STUDENT NAME: _______________</a:t>
            </a:r>
          </a:p>
        </p:txBody>
      </p:sp>
      <p:sp>
        <p:nvSpPr>
          <p:cNvPr id="7" name="TextBox 7"/>
          <p:cNvSpPr txBox="1"/>
          <p:nvPr/>
        </p:nvSpPr>
        <p:spPr>
          <a:xfrm>
            <a:off x="1028700" y="1143000"/>
            <a:ext cx="6888403" cy="333794"/>
          </a:xfrm>
          <a:prstGeom prst="rect">
            <a:avLst/>
          </a:prstGeom>
        </p:spPr>
        <p:txBody>
          <a:bodyPr lIns="0" tIns="0" rIns="0" bIns="0" rtlCol="0" anchor="t">
            <a:spAutoFit/>
          </a:bodyPr>
          <a:lstStyle/>
          <a:p>
            <a:pPr marL="0" lvl="0" indent="0" algn="l">
              <a:lnSpc>
                <a:spcPts val="2142"/>
              </a:lnSpc>
            </a:pPr>
            <a:r>
              <a:rPr lang="en-US" sz="2975" spc="-59">
                <a:solidFill>
                  <a:srgbClr val="333446"/>
                </a:solidFill>
                <a:latin typeface="Poppins"/>
                <a:ea typeface="Poppins"/>
                <a:cs typeface="Poppins"/>
                <a:sym typeface="Poppins"/>
              </a:rPr>
              <a:t>RECORDING MY LEARNING JOURNEY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8997686" y="4550231"/>
            <a:ext cx="9290314" cy="5736769"/>
          </a:xfrm>
          <a:custGeom>
            <a:avLst/>
            <a:gdLst/>
            <a:ahLst/>
            <a:cxnLst/>
            <a:rect l="l" t="t" r="r" b="b"/>
            <a:pathLst>
              <a:path w="9290314" h="5736769">
                <a:moveTo>
                  <a:pt x="0" y="0"/>
                </a:moveTo>
                <a:lnTo>
                  <a:pt x="9290314" y="0"/>
                </a:lnTo>
                <a:lnTo>
                  <a:pt x="9290314" y="5736769"/>
                </a:lnTo>
                <a:lnTo>
                  <a:pt x="0" y="5736769"/>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1028700" y="2103893"/>
            <a:ext cx="8115300" cy="1416463"/>
          </a:xfrm>
          <a:prstGeom prst="rect">
            <a:avLst/>
          </a:prstGeom>
        </p:spPr>
        <p:txBody>
          <a:bodyPr lIns="0" tIns="0" rIns="0" bIns="0" rtlCol="0" anchor="t">
            <a:spAutoFit/>
          </a:bodyPr>
          <a:lstStyle/>
          <a:p>
            <a:pPr marL="0" lvl="0" indent="0" algn="just">
              <a:lnSpc>
                <a:spcPts val="2777"/>
              </a:lnSpc>
              <a:spcBef>
                <a:spcPct val="0"/>
              </a:spcBef>
            </a:pPr>
            <a:r>
              <a:rPr lang="en-US" sz="1983">
                <a:solidFill>
                  <a:srgbClr val="333446"/>
                </a:solidFill>
                <a:latin typeface="Poppins"/>
                <a:ea typeface="Poppins"/>
                <a:cs typeface="Poppins"/>
                <a:sym typeface="Poppins"/>
              </a:rPr>
              <a:t>Have you used robots, coding platforms, or block-based programming before? Describe any experience — even playing games or using apps counts!</a:t>
            </a:r>
          </a:p>
          <a:p>
            <a:pPr marL="0" lvl="0" indent="0" algn="just">
              <a:lnSpc>
                <a:spcPts val="2777"/>
              </a:lnSpc>
              <a:spcBef>
                <a:spcPct val="0"/>
              </a:spcBef>
            </a:pPr>
            <a:r>
              <a:rPr lang="en-US" sz="1983">
                <a:solidFill>
                  <a:srgbClr val="333446"/>
                </a:solidFill>
                <a:latin typeface="Poppins"/>
                <a:ea typeface="Poppins"/>
                <a:cs typeface="Poppins"/>
                <a:sym typeface="Poppins"/>
              </a:rPr>
              <a:t>✏️ [Your response here]</a:t>
            </a:r>
          </a:p>
        </p:txBody>
      </p:sp>
      <p:sp>
        <p:nvSpPr>
          <p:cNvPr id="4" name="TextBox 4"/>
          <p:cNvSpPr txBox="1"/>
          <p:nvPr/>
        </p:nvSpPr>
        <p:spPr>
          <a:xfrm>
            <a:off x="425286" y="-34202"/>
            <a:ext cx="16834014" cy="3513752"/>
          </a:xfrm>
          <a:prstGeom prst="rect">
            <a:avLst/>
          </a:prstGeom>
        </p:spPr>
        <p:txBody>
          <a:bodyPr lIns="0" tIns="0" rIns="0" bIns="0" rtlCol="0" anchor="t">
            <a:spAutoFit/>
          </a:bodyPr>
          <a:lstStyle/>
          <a:p>
            <a:pPr marL="0" lvl="0" indent="0" algn="ctr">
              <a:lnSpc>
                <a:spcPts val="14473"/>
              </a:lnSpc>
              <a:spcBef>
                <a:spcPct val="0"/>
              </a:spcBef>
            </a:pPr>
            <a:r>
              <a:rPr lang="en-US" sz="10338" spc="-206" dirty="0">
                <a:solidFill>
                  <a:srgbClr val="333446"/>
                </a:solidFill>
                <a:latin typeface="Poppins Light"/>
                <a:ea typeface="Poppins Light"/>
                <a:cs typeface="Poppins Light"/>
                <a:sym typeface="Poppins Light"/>
              </a:rPr>
              <a:t>MY ROBOTICS EXPERIENCE</a:t>
            </a:r>
          </a:p>
          <a:p>
            <a:pPr marL="0" lvl="0" indent="0" algn="ctr">
              <a:lnSpc>
                <a:spcPts val="12933"/>
              </a:lnSpc>
              <a:spcBef>
                <a:spcPct val="0"/>
              </a:spcBef>
            </a:pPr>
            <a:endParaRPr lang="en-US" sz="10338" spc="-206" dirty="0">
              <a:solidFill>
                <a:srgbClr val="333446"/>
              </a:solidFill>
              <a:latin typeface="Poppins Light"/>
              <a:ea typeface="Poppins Light"/>
              <a:cs typeface="Poppins Light"/>
              <a:sym typeface="Poppins Light"/>
            </a:endParaRPr>
          </a:p>
        </p:txBody>
      </p:sp>
      <p:sp>
        <p:nvSpPr>
          <p:cNvPr id="5" name="TextBox 4">
            <a:extLst>
              <a:ext uri="{FF2B5EF4-FFF2-40B4-BE49-F238E27FC236}">
                <a16:creationId xmlns:a16="http://schemas.microsoft.com/office/drawing/2014/main" id="{3EDBA342-1842-B27E-5364-5CA00654A749}"/>
              </a:ext>
            </a:extLst>
          </p:cNvPr>
          <p:cNvSpPr txBox="1"/>
          <p:nvPr/>
        </p:nvSpPr>
        <p:spPr>
          <a:xfrm>
            <a:off x="914400" y="4457700"/>
            <a:ext cx="7391400" cy="3046988"/>
          </a:xfrm>
          <a:prstGeom prst="rect">
            <a:avLst/>
          </a:prstGeom>
          <a:noFill/>
        </p:spPr>
        <p:txBody>
          <a:bodyPr wrap="square" rtlCol="0">
            <a:spAutoFit/>
          </a:bodyPr>
          <a:lstStyle/>
          <a:p>
            <a:r>
              <a:rPr lang="en-AU" sz="3200" dirty="0"/>
              <a:t>I have not used any robots or any types of coding other than what we have already done in stem. I have played some games before on my laptop, nothing more than that. I also have done digital makers in past years.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1028700" y="2106462"/>
            <a:ext cx="8115300" cy="1416463"/>
          </a:xfrm>
          <a:prstGeom prst="rect">
            <a:avLst/>
          </a:prstGeom>
        </p:spPr>
        <p:txBody>
          <a:bodyPr lIns="0" tIns="0" rIns="0" bIns="0" rtlCol="0" anchor="t">
            <a:spAutoFit/>
          </a:bodyPr>
          <a:lstStyle/>
          <a:p>
            <a:pPr marL="0" lvl="0" indent="0" algn="just">
              <a:lnSpc>
                <a:spcPts val="2777"/>
              </a:lnSpc>
              <a:spcBef>
                <a:spcPct val="0"/>
              </a:spcBef>
            </a:pPr>
            <a:r>
              <a:rPr lang="en-US" sz="1983">
                <a:solidFill>
                  <a:srgbClr val="333446"/>
                </a:solidFill>
                <a:latin typeface="Poppins"/>
                <a:ea typeface="Poppins"/>
                <a:cs typeface="Poppins"/>
                <a:sym typeface="Poppins"/>
              </a:rPr>
              <a:t>Write 2–3 goals you have for this robotics unit. What skills, concepts, or experiences are you most excited about? What do you want to be able to do by the end?</a:t>
            </a:r>
          </a:p>
          <a:p>
            <a:pPr marL="0" lvl="0" indent="0" algn="just">
              <a:lnSpc>
                <a:spcPts val="2777"/>
              </a:lnSpc>
              <a:spcBef>
                <a:spcPct val="0"/>
              </a:spcBef>
            </a:pPr>
            <a:r>
              <a:rPr lang="en-US" sz="1983">
                <a:solidFill>
                  <a:srgbClr val="333446"/>
                </a:solidFill>
                <a:latin typeface="Poppins"/>
                <a:ea typeface="Poppins"/>
                <a:cs typeface="Poppins"/>
                <a:sym typeface="Poppins"/>
              </a:rPr>
              <a:t>✏️ [Your response here]</a:t>
            </a:r>
          </a:p>
        </p:txBody>
      </p:sp>
      <p:sp>
        <p:nvSpPr>
          <p:cNvPr id="3" name="TextBox 3"/>
          <p:cNvSpPr txBox="1"/>
          <p:nvPr/>
        </p:nvSpPr>
        <p:spPr>
          <a:xfrm>
            <a:off x="3132407" y="41998"/>
            <a:ext cx="10665202" cy="2801270"/>
          </a:xfrm>
          <a:prstGeom prst="rect">
            <a:avLst/>
          </a:prstGeom>
        </p:spPr>
        <p:txBody>
          <a:bodyPr lIns="0" tIns="0" rIns="0" bIns="0" rtlCol="0" anchor="t">
            <a:spAutoFit/>
          </a:bodyPr>
          <a:lstStyle/>
          <a:p>
            <a:pPr marL="0" lvl="0" indent="0" algn="ctr">
              <a:lnSpc>
                <a:spcPts val="10974"/>
              </a:lnSpc>
              <a:spcBef>
                <a:spcPct val="0"/>
              </a:spcBef>
            </a:pPr>
            <a:r>
              <a:rPr lang="en-US" sz="7838" spc="-156">
                <a:solidFill>
                  <a:srgbClr val="333446"/>
                </a:solidFill>
                <a:latin typeface="Poppins Light"/>
                <a:ea typeface="Poppins Light"/>
                <a:cs typeface="Poppins Light"/>
                <a:sym typeface="Poppins Light"/>
              </a:rPr>
              <a:t>WHAT I HOPE TO LEARN</a:t>
            </a:r>
          </a:p>
          <a:p>
            <a:pPr marL="0" lvl="0" indent="0" algn="ctr">
              <a:lnSpc>
                <a:spcPts val="10974"/>
              </a:lnSpc>
              <a:spcBef>
                <a:spcPct val="0"/>
              </a:spcBef>
            </a:pPr>
            <a:endParaRPr lang="en-US" sz="7838" spc="-156">
              <a:solidFill>
                <a:srgbClr val="333446"/>
              </a:solidFill>
              <a:latin typeface="Poppins Light"/>
              <a:ea typeface="Poppins Light"/>
              <a:cs typeface="Poppins Light"/>
              <a:sym typeface="Poppins Light"/>
            </a:endParaRPr>
          </a:p>
        </p:txBody>
      </p:sp>
      <p:grpSp>
        <p:nvGrpSpPr>
          <p:cNvPr id="4" name="Group 4"/>
          <p:cNvGrpSpPr/>
          <p:nvPr/>
        </p:nvGrpSpPr>
        <p:grpSpPr>
          <a:xfrm>
            <a:off x="9501984" y="3520356"/>
            <a:ext cx="7757316" cy="5732894"/>
            <a:chOff x="0" y="0"/>
            <a:chExt cx="584408" cy="431895"/>
          </a:xfrm>
        </p:grpSpPr>
        <p:sp>
          <p:nvSpPr>
            <p:cNvPr id="5" name="Freeform 5"/>
            <p:cNvSpPr/>
            <p:nvPr/>
          </p:nvSpPr>
          <p:spPr>
            <a:xfrm>
              <a:off x="0" y="0"/>
              <a:ext cx="584408" cy="431895"/>
            </a:xfrm>
            <a:custGeom>
              <a:avLst/>
              <a:gdLst/>
              <a:ahLst/>
              <a:cxnLst/>
              <a:rect l="l" t="t" r="r" b="b"/>
              <a:pathLst>
                <a:path w="584408" h="431895">
                  <a:moveTo>
                    <a:pt x="22954" y="0"/>
                  </a:moveTo>
                  <a:lnTo>
                    <a:pt x="561454" y="0"/>
                  </a:lnTo>
                  <a:cubicBezTo>
                    <a:pt x="567542" y="0"/>
                    <a:pt x="573380" y="2418"/>
                    <a:pt x="577685" y="6723"/>
                  </a:cubicBezTo>
                  <a:cubicBezTo>
                    <a:pt x="581990" y="11028"/>
                    <a:pt x="584408" y="16866"/>
                    <a:pt x="584408" y="22954"/>
                  </a:cubicBezTo>
                  <a:lnTo>
                    <a:pt x="584408" y="408941"/>
                  </a:lnTo>
                  <a:cubicBezTo>
                    <a:pt x="584408" y="415029"/>
                    <a:pt x="581990" y="420868"/>
                    <a:pt x="577685" y="425172"/>
                  </a:cubicBezTo>
                  <a:cubicBezTo>
                    <a:pt x="573380" y="429477"/>
                    <a:pt x="567542" y="431895"/>
                    <a:pt x="561454" y="431895"/>
                  </a:cubicBezTo>
                  <a:lnTo>
                    <a:pt x="22954" y="431895"/>
                  </a:lnTo>
                  <a:cubicBezTo>
                    <a:pt x="16866" y="431895"/>
                    <a:pt x="11028" y="429477"/>
                    <a:pt x="6723" y="425172"/>
                  </a:cubicBezTo>
                  <a:cubicBezTo>
                    <a:pt x="2418" y="420868"/>
                    <a:pt x="0" y="415029"/>
                    <a:pt x="0" y="408941"/>
                  </a:cubicBezTo>
                  <a:lnTo>
                    <a:pt x="0" y="22954"/>
                  </a:lnTo>
                  <a:cubicBezTo>
                    <a:pt x="0" y="16866"/>
                    <a:pt x="2418" y="11028"/>
                    <a:pt x="6723" y="6723"/>
                  </a:cubicBezTo>
                  <a:cubicBezTo>
                    <a:pt x="11028" y="2418"/>
                    <a:pt x="16866" y="0"/>
                    <a:pt x="22954" y="0"/>
                  </a:cubicBezTo>
                  <a:close/>
                </a:path>
              </a:pathLst>
            </a:custGeom>
            <a:blipFill>
              <a:blip r:embed="rId2"/>
              <a:stretch>
                <a:fillRect l="-14827" r="-14827"/>
              </a:stretch>
            </a:blipFill>
          </p:spPr>
          <p:txBody>
            <a:bodyPr/>
            <a:lstStyle/>
            <a:p>
              <a:endParaRPr lang="en-AU"/>
            </a:p>
          </p:txBody>
        </p:sp>
      </p:grpSp>
      <p:sp>
        <p:nvSpPr>
          <p:cNvPr id="6" name="TextBox 5">
            <a:extLst>
              <a:ext uri="{FF2B5EF4-FFF2-40B4-BE49-F238E27FC236}">
                <a16:creationId xmlns:a16="http://schemas.microsoft.com/office/drawing/2014/main" id="{A9FBBB6D-E433-21CE-127A-972403088D7C}"/>
              </a:ext>
            </a:extLst>
          </p:cNvPr>
          <p:cNvSpPr txBox="1"/>
          <p:nvPr/>
        </p:nvSpPr>
        <p:spPr>
          <a:xfrm>
            <a:off x="1028700" y="4946463"/>
            <a:ext cx="7200900" cy="2554545"/>
          </a:xfrm>
          <a:prstGeom prst="rect">
            <a:avLst/>
          </a:prstGeom>
          <a:noFill/>
        </p:spPr>
        <p:txBody>
          <a:bodyPr wrap="square" rtlCol="0">
            <a:spAutoFit/>
          </a:bodyPr>
          <a:lstStyle/>
          <a:p>
            <a:r>
              <a:rPr lang="en-AU" sz="3200" dirty="0"/>
              <a:t>I hope to learn how to drive a robot by coding it through my laptop and not having to use the controller. I also hope we can use the big robots to pick up things and do stuff.</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436283" y="3495858"/>
            <a:ext cx="17415433" cy="1803401"/>
          </a:xfrm>
          <a:prstGeom prst="rect">
            <a:avLst/>
          </a:prstGeom>
        </p:spPr>
        <p:txBody>
          <a:bodyPr lIns="0" tIns="0" rIns="0" bIns="0" rtlCol="0" anchor="t">
            <a:spAutoFit/>
          </a:bodyPr>
          <a:lstStyle/>
          <a:p>
            <a:pPr marL="0" lvl="0" indent="0" algn="ctr">
              <a:lnSpc>
                <a:spcPts val="13999"/>
              </a:lnSpc>
              <a:spcBef>
                <a:spcPct val="0"/>
              </a:spcBef>
            </a:pPr>
            <a:r>
              <a:rPr lang="en-US" sz="9999">
                <a:solidFill>
                  <a:srgbClr val="333446"/>
                </a:solidFill>
                <a:latin typeface="Poppins Light"/>
                <a:ea typeface="Poppins Light"/>
                <a:cs typeface="Poppins Light"/>
                <a:sym typeface="Poppins Light"/>
              </a:rPr>
              <a:t>UNIT GUIDE</a:t>
            </a:r>
          </a:p>
        </p:txBody>
      </p:sp>
      <p:sp>
        <p:nvSpPr>
          <p:cNvPr id="3" name="TextBox 3"/>
          <p:cNvSpPr txBox="1"/>
          <p:nvPr/>
        </p:nvSpPr>
        <p:spPr>
          <a:xfrm>
            <a:off x="1028700" y="6625559"/>
            <a:ext cx="5087534" cy="458394"/>
          </a:xfrm>
          <a:prstGeom prst="rect">
            <a:avLst/>
          </a:prstGeom>
        </p:spPr>
        <p:txBody>
          <a:bodyPr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HOW TO USE EACH UNIT</a:t>
            </a:r>
          </a:p>
        </p:txBody>
      </p:sp>
      <p:sp>
        <p:nvSpPr>
          <p:cNvPr id="4" name="TextBox 4"/>
          <p:cNvSpPr txBox="1"/>
          <p:nvPr/>
        </p:nvSpPr>
        <p:spPr>
          <a:xfrm>
            <a:off x="1164145" y="7460174"/>
            <a:ext cx="4816643" cy="2645468"/>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Each unit slide includes the same prompts to help you document your learning consistently. Fill in each section as you work through the unit activities.</a:t>
            </a:r>
          </a:p>
          <a:p>
            <a:pPr marL="0" lvl="0" indent="0" algn="just">
              <a:lnSpc>
                <a:spcPts val="2277"/>
              </a:lnSpc>
              <a:spcBef>
                <a:spcPct val="0"/>
              </a:spcBef>
            </a:pPr>
            <a:endParaRPr lang="en-US" dirty="0">
              <a:solidFill>
                <a:srgbClr val="333446"/>
              </a:solidFill>
              <a:latin typeface="Poppins"/>
              <a:ea typeface="Poppins"/>
              <a:cs typeface="Poppins"/>
              <a:sym typeface="Poppins"/>
            </a:endParaRPr>
          </a:p>
          <a:p>
            <a:pPr marL="0" lvl="0" indent="0" algn="just">
              <a:lnSpc>
                <a:spcPts val="2277"/>
              </a:lnSpc>
              <a:spcBef>
                <a:spcPct val="0"/>
              </a:spcBef>
            </a:pPr>
            <a:r>
              <a:rPr lang="en-US" dirty="0">
                <a:solidFill>
                  <a:srgbClr val="333446"/>
                </a:solidFill>
                <a:latin typeface="Poppins"/>
                <a:ea typeface="Poppins"/>
                <a:cs typeface="Poppins"/>
                <a:sym typeface="Poppins"/>
              </a:rPr>
              <a:t>Delete the prompts once each section is completed.</a:t>
            </a:r>
          </a:p>
          <a:p>
            <a:pPr marL="0" lvl="0" indent="0" algn="just">
              <a:lnSpc>
                <a:spcPts val="2277"/>
              </a:lnSpc>
              <a:spcBef>
                <a:spcPct val="0"/>
              </a:spcBef>
            </a:pPr>
            <a:endParaRPr lang="en-US" dirty="0">
              <a:solidFill>
                <a:srgbClr val="333446"/>
              </a:solidFill>
              <a:latin typeface="Poppins"/>
              <a:ea typeface="Poppins"/>
              <a:cs typeface="Poppins"/>
              <a:sym typeface="Poppins"/>
            </a:endParaRPr>
          </a:p>
          <a:p>
            <a:pPr marL="0" lvl="0" indent="0" algn="just">
              <a:lnSpc>
                <a:spcPts val="2277"/>
              </a:lnSpc>
              <a:spcBef>
                <a:spcPct val="0"/>
              </a:spcBef>
            </a:pPr>
            <a:r>
              <a:rPr lang="en-US" dirty="0">
                <a:solidFill>
                  <a:srgbClr val="333446"/>
                </a:solidFill>
                <a:latin typeface="Poppins"/>
                <a:ea typeface="Poppins"/>
                <a:cs typeface="Poppins"/>
                <a:sym typeface="Poppins"/>
              </a:rPr>
              <a:t>Add more slides as required.</a:t>
            </a:r>
          </a:p>
        </p:txBody>
      </p:sp>
      <p:sp>
        <p:nvSpPr>
          <p:cNvPr id="5" name="TextBox 5"/>
          <p:cNvSpPr txBox="1"/>
          <p:nvPr/>
        </p:nvSpPr>
        <p:spPr>
          <a:xfrm>
            <a:off x="6753456" y="6637164"/>
            <a:ext cx="4960681" cy="446789"/>
          </a:xfrm>
          <a:prstGeom prst="rect">
            <a:avLst/>
          </a:prstGeom>
        </p:spPr>
        <p:txBody>
          <a:bodyPr wrap="square"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WHAT YOU WILL DOCUMENT</a:t>
            </a:r>
          </a:p>
        </p:txBody>
      </p:sp>
      <p:sp>
        <p:nvSpPr>
          <p:cNvPr id="6" name="TextBox 6"/>
          <p:cNvSpPr txBox="1"/>
          <p:nvPr/>
        </p:nvSpPr>
        <p:spPr>
          <a:xfrm>
            <a:off x="12543262" y="6625559"/>
            <a:ext cx="4554061" cy="458394"/>
          </a:xfrm>
          <a:prstGeom prst="rect">
            <a:avLst/>
          </a:prstGeom>
        </p:spPr>
        <p:txBody>
          <a:bodyPr lIns="0" tIns="0" rIns="0" bIns="0" rtlCol="0" anchor="t">
            <a:spAutoFit/>
          </a:bodyPr>
          <a:lstStyle/>
          <a:p>
            <a:pPr marL="0" lvl="0" indent="0" algn="ctr">
              <a:lnSpc>
                <a:spcPts val="3609"/>
              </a:lnSpc>
              <a:spcBef>
                <a:spcPct val="0"/>
              </a:spcBef>
            </a:pPr>
            <a:r>
              <a:rPr lang="en-US" sz="2800" b="1" spc="-51" dirty="0">
                <a:solidFill>
                  <a:srgbClr val="333446"/>
                </a:solidFill>
                <a:latin typeface="Poppins Heavy"/>
                <a:ea typeface="Poppins Heavy"/>
                <a:cs typeface="Poppins Heavy"/>
                <a:sym typeface="Poppins Heavy"/>
              </a:rPr>
              <a:t>TIPS FOR SUCCESS</a:t>
            </a:r>
          </a:p>
        </p:txBody>
      </p:sp>
      <p:sp>
        <p:nvSpPr>
          <p:cNvPr id="7" name="TextBox 7"/>
          <p:cNvSpPr txBox="1"/>
          <p:nvPr/>
        </p:nvSpPr>
        <p:spPr>
          <a:xfrm>
            <a:off x="6825476" y="7460174"/>
            <a:ext cx="4816643" cy="1760610"/>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Each unit includes: What I Learned, Key Vocabulary (3-5 terms), Code &amp; Programming Notes, Challenges &amp; Solutions, Pros &amp; Cons, and Reflection Questions. Complete each section after finishing the unit activities.</a:t>
            </a:r>
          </a:p>
        </p:txBody>
      </p:sp>
      <p:sp>
        <p:nvSpPr>
          <p:cNvPr id="8" name="TextBox 8"/>
          <p:cNvSpPr txBox="1"/>
          <p:nvPr/>
        </p:nvSpPr>
        <p:spPr>
          <a:xfrm>
            <a:off x="12443265" y="7460174"/>
            <a:ext cx="4816643" cy="1170705"/>
          </a:xfrm>
          <a:prstGeom prst="rect">
            <a:avLst/>
          </a:prstGeom>
        </p:spPr>
        <p:txBody>
          <a:bodyPr lIns="0" tIns="0" rIns="0" bIns="0" rtlCol="0" anchor="t">
            <a:spAutoFit/>
          </a:bodyPr>
          <a:lstStyle/>
          <a:p>
            <a:pPr marL="0" lvl="0" indent="0" algn="just">
              <a:lnSpc>
                <a:spcPts val="2277"/>
              </a:lnSpc>
              <a:spcBef>
                <a:spcPct val="0"/>
              </a:spcBef>
            </a:pPr>
            <a:r>
              <a:rPr lang="en-US" dirty="0">
                <a:solidFill>
                  <a:srgbClr val="333446"/>
                </a:solidFill>
                <a:latin typeface="Poppins"/>
                <a:ea typeface="Poppins"/>
                <a:cs typeface="Poppins"/>
                <a:sym typeface="Poppins"/>
              </a:rPr>
              <a:t>Use your own words. Include screenshots or sketches where possible. Be honest in your reflections. Ask your teacher if you are unsure what to write in any section.</a:t>
            </a:r>
          </a:p>
        </p:txBody>
      </p:sp>
      <p:grpSp>
        <p:nvGrpSpPr>
          <p:cNvPr id="9" name="Group 9"/>
          <p:cNvGrpSpPr/>
          <p:nvPr/>
        </p:nvGrpSpPr>
        <p:grpSpPr>
          <a:xfrm>
            <a:off x="1028700" y="233663"/>
            <a:ext cx="16199915" cy="2891208"/>
            <a:chOff x="0" y="0"/>
            <a:chExt cx="1220443" cy="217813"/>
          </a:xfrm>
        </p:grpSpPr>
        <p:sp>
          <p:nvSpPr>
            <p:cNvPr id="10" name="Freeform 10"/>
            <p:cNvSpPr/>
            <p:nvPr/>
          </p:nvSpPr>
          <p:spPr>
            <a:xfrm>
              <a:off x="0" y="0"/>
              <a:ext cx="1220443" cy="217813"/>
            </a:xfrm>
            <a:custGeom>
              <a:avLst/>
              <a:gdLst/>
              <a:ahLst/>
              <a:cxnLst/>
              <a:rect l="l" t="t" r="r" b="b"/>
              <a:pathLst>
                <a:path w="1220443" h="217813">
                  <a:moveTo>
                    <a:pt x="10992" y="0"/>
                  </a:moveTo>
                  <a:lnTo>
                    <a:pt x="1209451" y="0"/>
                  </a:lnTo>
                  <a:cubicBezTo>
                    <a:pt x="1215522" y="0"/>
                    <a:pt x="1220443" y="4921"/>
                    <a:pt x="1220443" y="10992"/>
                  </a:cubicBezTo>
                  <a:lnTo>
                    <a:pt x="1220443" y="206821"/>
                  </a:lnTo>
                  <a:cubicBezTo>
                    <a:pt x="1220443" y="209737"/>
                    <a:pt x="1219285" y="212532"/>
                    <a:pt x="1217223" y="214594"/>
                  </a:cubicBezTo>
                  <a:cubicBezTo>
                    <a:pt x="1215162" y="216655"/>
                    <a:pt x="1212366" y="217813"/>
                    <a:pt x="1209451" y="217813"/>
                  </a:cubicBezTo>
                  <a:lnTo>
                    <a:pt x="10992" y="217813"/>
                  </a:lnTo>
                  <a:cubicBezTo>
                    <a:pt x="8076" y="217813"/>
                    <a:pt x="5281" y="216655"/>
                    <a:pt x="3219" y="214594"/>
                  </a:cubicBezTo>
                  <a:cubicBezTo>
                    <a:pt x="1158" y="212532"/>
                    <a:pt x="0" y="209737"/>
                    <a:pt x="0" y="206821"/>
                  </a:cubicBezTo>
                  <a:lnTo>
                    <a:pt x="0" y="10992"/>
                  </a:lnTo>
                  <a:cubicBezTo>
                    <a:pt x="0" y="8076"/>
                    <a:pt x="1158" y="5281"/>
                    <a:pt x="3219" y="3219"/>
                  </a:cubicBezTo>
                  <a:cubicBezTo>
                    <a:pt x="5281" y="1158"/>
                    <a:pt x="8076" y="0"/>
                    <a:pt x="10992" y="0"/>
                  </a:cubicBezTo>
                  <a:close/>
                </a:path>
              </a:pathLst>
            </a:custGeom>
            <a:blipFill>
              <a:blip r:embed="rId2"/>
              <a:stretch>
                <a:fillRect t="-109690" b="-109690"/>
              </a:stretch>
            </a:blipFill>
          </p:spPr>
          <p:txBody>
            <a:bodyPr/>
            <a:lstStyle/>
            <a:p>
              <a:endParaRPr lang="en-AU"/>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602653" y="0"/>
            <a:ext cx="4685347" cy="4685347"/>
          </a:xfrm>
          <a:custGeom>
            <a:avLst/>
            <a:gdLst/>
            <a:ahLst/>
            <a:cxnLst/>
            <a:rect l="l" t="t" r="r" b="b"/>
            <a:pathLst>
              <a:path w="4685347" h="4685347">
                <a:moveTo>
                  <a:pt x="0" y="0"/>
                </a:moveTo>
                <a:lnTo>
                  <a:pt x="4685347" y="0"/>
                </a:lnTo>
                <a:lnTo>
                  <a:pt x="4685347" y="4685347"/>
                </a:lnTo>
                <a:lnTo>
                  <a:pt x="0" y="4685347"/>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43415"/>
            <a:ext cx="13334999" cy="1350370"/>
          </a:xfrm>
          <a:prstGeom prst="rect">
            <a:avLst/>
          </a:prstGeom>
        </p:spPr>
        <p:txBody>
          <a:bodyPr wrap="square" lIns="0" tIns="0" rIns="0" bIns="0" rtlCol="0" anchor="t">
            <a:spAutoFit/>
          </a:bodyPr>
          <a:lstStyle/>
          <a:p>
            <a:pPr marL="0" lvl="0" indent="0" algn="ctr">
              <a:lnSpc>
                <a:spcPts val="11751"/>
              </a:lnSpc>
              <a:spcBef>
                <a:spcPct val="0"/>
              </a:spcBef>
            </a:pPr>
            <a:r>
              <a:rPr lang="en-US" sz="6000" dirty="0">
                <a:solidFill>
                  <a:srgbClr val="333446"/>
                </a:solidFill>
                <a:latin typeface="Poppins Light"/>
                <a:ea typeface="Poppins Light"/>
                <a:cs typeface="Poppins Light"/>
                <a:sym typeface="Poppins Light"/>
              </a:rPr>
              <a:t>UNIT 1 – DRIVE WITH A CONTROLLER</a:t>
            </a:r>
          </a:p>
        </p:txBody>
      </p:sp>
      <p:sp>
        <p:nvSpPr>
          <p:cNvPr id="4" name="TextBox 4"/>
          <p:cNvSpPr txBox="1"/>
          <p:nvPr/>
        </p:nvSpPr>
        <p:spPr>
          <a:xfrm>
            <a:off x="466032" y="8051440"/>
            <a:ext cx="7868063" cy="1525226"/>
          </a:xfrm>
          <a:prstGeom prst="rect">
            <a:avLst/>
          </a:prstGeom>
        </p:spPr>
        <p:txBody>
          <a:bodyPr lIns="0" tIns="0" rIns="0" bIns="0" rtlCol="0" anchor="t">
            <a:spAutoFit/>
          </a:bodyPr>
          <a:lstStyle/>
          <a:p>
            <a:pPr marL="0" lvl="0" indent="0" algn="just">
              <a:lnSpc>
                <a:spcPts val="1968"/>
              </a:lnSpc>
            </a:pPr>
            <a:r>
              <a:rPr lang="en-US" sz="1405" dirty="0">
                <a:solidFill>
                  <a:srgbClr val="333446"/>
                </a:solidFill>
                <a:latin typeface="Poppins"/>
                <a:ea typeface="Poppins"/>
                <a:cs typeface="Poppins"/>
                <a:sym typeface="Poppins"/>
              </a:rPr>
              <a:t>WHAT I LEARNED</a:t>
            </a:r>
          </a:p>
          <a:p>
            <a:pPr marL="0" lvl="0" indent="0" algn="just">
              <a:lnSpc>
                <a:spcPts val="1968"/>
              </a:lnSpc>
            </a:pPr>
            <a:r>
              <a:rPr lang="en-US" sz="1405" dirty="0">
                <a:solidFill>
                  <a:srgbClr val="333446"/>
                </a:solidFill>
                <a:latin typeface="Poppins"/>
                <a:ea typeface="Poppins"/>
                <a:cs typeface="Poppins"/>
                <a:sym typeface="Poppins"/>
              </a:rPr>
              <a:t>Describe the key concepts you explored in this unit. How does the VEX AIM robot respond to controller inputs? What did you discover about driving and directional control?</a:t>
            </a:r>
          </a:p>
          <a:p>
            <a:pPr marL="0" lvl="0" indent="0" algn="just">
              <a:lnSpc>
                <a:spcPts val="1968"/>
              </a:lnSpc>
            </a:pPr>
            <a:r>
              <a:rPr lang="en-US" sz="1405" dirty="0">
                <a:solidFill>
                  <a:srgbClr val="333446"/>
                </a:solidFill>
                <a:latin typeface="Poppins"/>
                <a:ea typeface="Poppins"/>
                <a:cs typeface="Poppins"/>
                <a:sym typeface="Poppins"/>
              </a:rPr>
              <a:t>KEY VOCABULARY</a:t>
            </a:r>
          </a:p>
          <a:p>
            <a:pPr marL="303528" lvl="1" indent="-151764" algn="just">
              <a:lnSpc>
                <a:spcPts val="1968"/>
              </a:lnSpc>
              <a:buAutoNum type="arabicPeriod"/>
            </a:pPr>
            <a:r>
              <a:rPr lang="en-US" sz="1405" dirty="0">
                <a:solidFill>
                  <a:srgbClr val="333446"/>
                </a:solidFill>
                <a:highlight>
                  <a:srgbClr val="FFFF00"/>
                </a:highlight>
                <a:latin typeface="Poppins"/>
                <a:ea typeface="Poppins"/>
                <a:cs typeface="Poppins"/>
                <a:sym typeface="Poppins"/>
              </a:rPr>
              <a:t>Move left  </a:t>
            </a:r>
            <a:r>
              <a:rPr lang="en-US" sz="1405" dirty="0">
                <a:solidFill>
                  <a:srgbClr val="333446"/>
                </a:solidFill>
                <a:latin typeface="Poppins"/>
                <a:ea typeface="Poppins"/>
                <a:cs typeface="Poppins"/>
                <a:sym typeface="Poppins"/>
              </a:rPr>
              <a:t>2. </a:t>
            </a:r>
            <a:r>
              <a:rPr lang="en-US" sz="1405" dirty="0">
                <a:solidFill>
                  <a:srgbClr val="333446"/>
                </a:solidFill>
                <a:highlight>
                  <a:srgbClr val="FFFF00"/>
                </a:highlight>
                <a:latin typeface="Poppins"/>
                <a:ea typeface="Poppins"/>
                <a:cs typeface="Poppins"/>
                <a:sym typeface="Poppins"/>
              </a:rPr>
              <a:t>move right</a:t>
            </a:r>
          </a:p>
          <a:p>
            <a:pPr marL="303528" lvl="1" indent="-151764" algn="just">
              <a:lnSpc>
                <a:spcPts val="1968"/>
              </a:lnSpc>
              <a:buAutoNum type="arabicPeriod"/>
            </a:pPr>
            <a:r>
              <a:rPr lang="en-US" sz="1405" dirty="0">
                <a:solidFill>
                  <a:srgbClr val="333446"/>
                </a:solidFill>
                <a:highlight>
                  <a:srgbClr val="FFFF00"/>
                </a:highlight>
                <a:latin typeface="Poppins"/>
                <a:ea typeface="Poppins"/>
                <a:cs typeface="Poppins"/>
                <a:sym typeface="Poppins"/>
              </a:rPr>
              <a:t>Kick ball  </a:t>
            </a:r>
            <a:r>
              <a:rPr lang="en-US" sz="1405" dirty="0">
                <a:solidFill>
                  <a:srgbClr val="333446"/>
                </a:solidFill>
                <a:latin typeface="Poppins"/>
                <a:ea typeface="Poppins"/>
                <a:cs typeface="Poppins"/>
                <a:sym typeface="Poppins"/>
              </a:rPr>
              <a:t>4. </a:t>
            </a:r>
            <a:r>
              <a:rPr lang="en-US" sz="1405" dirty="0">
                <a:solidFill>
                  <a:srgbClr val="333446"/>
                </a:solidFill>
                <a:highlight>
                  <a:srgbClr val="FFFF00"/>
                </a:highlight>
                <a:latin typeface="Poppins"/>
                <a:ea typeface="Poppins"/>
                <a:cs typeface="Poppins"/>
                <a:sym typeface="Poppins"/>
              </a:rPr>
              <a:t>go and find ball</a:t>
            </a:r>
          </a:p>
        </p:txBody>
      </p:sp>
      <p:sp>
        <p:nvSpPr>
          <p:cNvPr id="5" name="TextBox 5"/>
          <p:cNvSpPr txBox="1"/>
          <p:nvPr/>
        </p:nvSpPr>
        <p:spPr>
          <a:xfrm>
            <a:off x="444261" y="1707301"/>
            <a:ext cx="7868063" cy="4473084"/>
          </a:xfrm>
          <a:prstGeom prst="rect">
            <a:avLst/>
          </a:prstGeom>
        </p:spPr>
        <p:txBody>
          <a:bodyPr lIns="0" tIns="0" rIns="0" bIns="0" rtlCol="0" anchor="t">
            <a:spAutoFit/>
          </a:bodyPr>
          <a:lstStyle/>
          <a:p>
            <a:pPr algn="just">
              <a:lnSpc>
                <a:spcPts val="2528"/>
              </a:lnSpc>
            </a:pPr>
            <a:r>
              <a:rPr lang="en-US" sz="1805" dirty="0">
                <a:solidFill>
                  <a:srgbClr val="333446"/>
                </a:solidFill>
                <a:latin typeface="Poppins"/>
                <a:ea typeface="Poppins"/>
                <a:cs typeface="Poppins"/>
                <a:sym typeface="Poppins"/>
              </a:rPr>
              <a:t>Add an annotated image of the remote that explains how to use it.</a:t>
            </a: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algn="just">
              <a:lnSpc>
                <a:spcPts val="2528"/>
              </a:lnSpc>
            </a:pPr>
            <a:endParaRPr lang="en-US" sz="1805" dirty="0">
              <a:solidFill>
                <a:srgbClr val="333446"/>
              </a:solidFill>
              <a:latin typeface="Poppins"/>
              <a:ea typeface="Poppins"/>
              <a:cs typeface="Poppins"/>
              <a:sym typeface="Poppins"/>
            </a:endParaRPr>
          </a:p>
          <a:p>
            <a:pPr marL="0" lvl="0" indent="0" algn="just">
              <a:lnSpc>
                <a:spcPts val="2528"/>
              </a:lnSpc>
            </a:pPr>
            <a:r>
              <a:rPr lang="en-US" sz="1805" dirty="0">
                <a:solidFill>
                  <a:srgbClr val="333446"/>
                </a:solidFill>
                <a:latin typeface="Poppins"/>
                <a:ea typeface="Poppins"/>
                <a:cs typeface="Poppins"/>
                <a:sym typeface="Poppins"/>
              </a:rPr>
              <a:t>CHALLENGES &amp; SOLUTIONS</a:t>
            </a:r>
          </a:p>
          <a:p>
            <a:pPr marL="0" lvl="0" indent="0" algn="just">
              <a:lnSpc>
                <a:spcPts val="2528"/>
              </a:lnSpc>
            </a:pPr>
            <a:r>
              <a:rPr lang="en-US" sz="1805" dirty="0">
                <a:solidFill>
                  <a:srgbClr val="333446"/>
                </a:solidFill>
                <a:latin typeface="Poppins"/>
                <a:ea typeface="Poppins"/>
                <a:cs typeface="Poppins"/>
                <a:sym typeface="Poppins"/>
              </a:rPr>
              <a:t>What difficulties did you face? How did you overcome them?</a:t>
            </a:r>
          </a:p>
        </p:txBody>
      </p:sp>
      <p:sp>
        <p:nvSpPr>
          <p:cNvPr id="6" name="TextBox 6"/>
          <p:cNvSpPr txBox="1"/>
          <p:nvPr/>
        </p:nvSpPr>
        <p:spPr>
          <a:xfrm>
            <a:off x="9462140" y="7772093"/>
            <a:ext cx="7868063" cy="2037994"/>
          </a:xfrm>
          <a:prstGeom prst="rect">
            <a:avLst/>
          </a:prstGeom>
        </p:spPr>
        <p:txBody>
          <a:bodyPr lIns="0" tIns="0" rIns="0" bIns="0" rtlCol="0" anchor="t">
            <a:spAutoFit/>
          </a:bodyPr>
          <a:lstStyle/>
          <a:p>
            <a:pPr marL="0" lvl="0" indent="0" algn="just">
              <a:lnSpc>
                <a:spcPts val="1968"/>
              </a:lnSpc>
            </a:pPr>
            <a:r>
              <a:rPr lang="en-US" sz="1400" dirty="0">
                <a:solidFill>
                  <a:srgbClr val="333446"/>
                </a:solidFill>
                <a:latin typeface="Poppins"/>
                <a:ea typeface="Poppins"/>
                <a:cs typeface="Poppins"/>
                <a:sym typeface="Poppins"/>
              </a:rPr>
              <a:t>PROS &amp; CONS OF USING A REMOTE</a:t>
            </a:r>
          </a:p>
          <a:p>
            <a:pPr marL="0" lvl="0" indent="0" algn="just">
              <a:lnSpc>
                <a:spcPts val="1968"/>
              </a:lnSpc>
            </a:pPr>
            <a:r>
              <a:rPr lang="en-US" sz="1400" dirty="0">
                <a:solidFill>
                  <a:srgbClr val="333446"/>
                </a:solidFill>
                <a:latin typeface="Poppins"/>
                <a:ea typeface="Poppins"/>
                <a:cs typeface="Poppins"/>
                <a:sym typeface="Poppins"/>
              </a:rPr>
              <a:t>Pros: </a:t>
            </a:r>
            <a:r>
              <a:rPr lang="en-US" sz="1400" dirty="0">
                <a:solidFill>
                  <a:srgbClr val="333446"/>
                </a:solidFill>
                <a:highlight>
                  <a:srgbClr val="FFFF00"/>
                </a:highlight>
                <a:latin typeface="Poppins"/>
                <a:ea typeface="Poppins"/>
                <a:cs typeface="Poppins"/>
                <a:sym typeface="Poppins"/>
              </a:rPr>
              <a:t>you have lots of control over the robot</a:t>
            </a:r>
          </a:p>
          <a:p>
            <a:pPr marL="0" lvl="0" indent="0" algn="just">
              <a:lnSpc>
                <a:spcPts val="1968"/>
              </a:lnSpc>
            </a:pPr>
            <a:r>
              <a:rPr lang="en-US" sz="1400" dirty="0">
                <a:solidFill>
                  <a:srgbClr val="333446"/>
                </a:solidFill>
                <a:latin typeface="Poppins"/>
                <a:ea typeface="Poppins"/>
                <a:cs typeface="Poppins"/>
                <a:sym typeface="Poppins"/>
              </a:rPr>
              <a:t>Cons: </a:t>
            </a:r>
            <a:r>
              <a:rPr lang="en-US" sz="1400" dirty="0">
                <a:solidFill>
                  <a:srgbClr val="333446"/>
                </a:solidFill>
                <a:highlight>
                  <a:srgbClr val="FFFF00"/>
                </a:highlight>
                <a:latin typeface="Poppins"/>
                <a:ea typeface="Poppins"/>
                <a:cs typeface="Poppins"/>
                <a:sym typeface="Poppins"/>
              </a:rPr>
              <a:t>you can’t just watch it, you have to move it manually</a:t>
            </a:r>
            <a:endParaRPr lang="en-US" sz="1400" dirty="0">
              <a:solidFill>
                <a:srgbClr val="333446"/>
              </a:solidFill>
              <a:latin typeface="Poppins"/>
              <a:ea typeface="Poppins"/>
              <a:cs typeface="Poppins"/>
              <a:sym typeface="Poppins"/>
            </a:endParaRPr>
          </a:p>
          <a:p>
            <a:pPr marL="0" lvl="0" indent="0" algn="just">
              <a:lnSpc>
                <a:spcPts val="1968"/>
              </a:lnSpc>
            </a:pPr>
            <a:r>
              <a:rPr lang="en-US" sz="1400" dirty="0">
                <a:solidFill>
                  <a:srgbClr val="333446"/>
                </a:solidFill>
                <a:latin typeface="Poppins"/>
                <a:ea typeface="Poppins"/>
                <a:cs typeface="Poppins"/>
                <a:sym typeface="Poppins"/>
              </a:rPr>
              <a:t>REFLECTION</a:t>
            </a:r>
          </a:p>
          <a:p>
            <a:pPr marL="0" lvl="0" indent="0" algn="just">
              <a:lnSpc>
                <a:spcPts val="1968"/>
              </a:lnSpc>
            </a:pPr>
            <a:r>
              <a:rPr lang="en-US" sz="1400" dirty="0">
                <a:solidFill>
                  <a:srgbClr val="333446"/>
                </a:solidFill>
                <a:latin typeface="Poppins"/>
                <a:ea typeface="Poppins"/>
                <a:cs typeface="Poppins"/>
                <a:sym typeface="Poppins"/>
              </a:rPr>
              <a:t>What surprised you most about driving the robot? What would you do differently next time?</a:t>
            </a:r>
          </a:p>
          <a:p>
            <a:pPr marL="0" lvl="0" indent="0" algn="just">
              <a:lnSpc>
                <a:spcPts val="1968"/>
              </a:lnSpc>
            </a:pPr>
            <a:r>
              <a:rPr lang="en-US" sz="1400" dirty="0">
                <a:solidFill>
                  <a:srgbClr val="333446"/>
                </a:solidFill>
                <a:highlight>
                  <a:srgbClr val="FFFF00"/>
                </a:highlight>
                <a:latin typeface="Poppins"/>
                <a:ea typeface="Poppins"/>
                <a:cs typeface="Poppins"/>
                <a:sym typeface="Poppins"/>
              </a:rPr>
              <a:t>I liked how you can press a button for it to go find the soccer ball. I think next time I will use the codes.</a:t>
            </a:r>
          </a:p>
        </p:txBody>
      </p:sp>
      <p:pic>
        <p:nvPicPr>
          <p:cNvPr id="8" name="Picture 7">
            <a:extLst>
              <a:ext uri="{FF2B5EF4-FFF2-40B4-BE49-F238E27FC236}">
                <a16:creationId xmlns:a16="http://schemas.microsoft.com/office/drawing/2014/main" id="{D467C78F-67BE-E75B-5575-614F3975E0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032" y="2095500"/>
            <a:ext cx="4715568" cy="3200870"/>
          </a:xfrm>
          <a:prstGeom prst="rect">
            <a:avLst/>
          </a:prstGeom>
        </p:spPr>
      </p:pic>
      <p:sp>
        <p:nvSpPr>
          <p:cNvPr id="9" name="TextBox 8">
            <a:extLst>
              <a:ext uri="{FF2B5EF4-FFF2-40B4-BE49-F238E27FC236}">
                <a16:creationId xmlns:a16="http://schemas.microsoft.com/office/drawing/2014/main" id="{A6254B90-1678-E0BB-0390-ADA748DE9924}"/>
              </a:ext>
            </a:extLst>
          </p:cNvPr>
          <p:cNvSpPr txBox="1"/>
          <p:nvPr/>
        </p:nvSpPr>
        <p:spPr>
          <a:xfrm>
            <a:off x="433375" y="6331730"/>
            <a:ext cx="6468168" cy="1384995"/>
          </a:xfrm>
          <a:prstGeom prst="rect">
            <a:avLst/>
          </a:prstGeom>
          <a:noFill/>
        </p:spPr>
        <p:txBody>
          <a:bodyPr wrap="square" rtlCol="0">
            <a:spAutoFit/>
          </a:bodyPr>
          <a:lstStyle/>
          <a:p>
            <a:r>
              <a:rPr lang="en-AU" sz="2800" dirty="0"/>
              <a:t>I didn’t face to many difficulties, other than trying to connect the robot to my laptop to code it on my laptop.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8658885" y="0"/>
            <a:ext cx="9629115" cy="4284956"/>
          </a:xfrm>
          <a:custGeom>
            <a:avLst/>
            <a:gdLst/>
            <a:ahLst/>
            <a:cxnLst/>
            <a:rect l="l" t="t" r="r" b="b"/>
            <a:pathLst>
              <a:path w="9629115" h="4284956">
                <a:moveTo>
                  <a:pt x="0" y="0"/>
                </a:moveTo>
                <a:lnTo>
                  <a:pt x="9629115" y="0"/>
                </a:lnTo>
                <a:lnTo>
                  <a:pt x="9629115" y="4284956"/>
                </a:lnTo>
                <a:lnTo>
                  <a:pt x="0" y="4284956"/>
                </a:lnTo>
                <a:lnTo>
                  <a:pt x="0" y="0"/>
                </a:lnTo>
                <a:close/>
              </a:path>
            </a:pathLst>
          </a:custGeom>
          <a:blipFill>
            <a:blip r:embed="rId2"/>
            <a:stretch>
              <a:fillRect/>
            </a:stretch>
          </a:blipFill>
        </p:spPr>
        <p:txBody>
          <a:bodyPr/>
          <a:lstStyle/>
          <a:p>
            <a:endParaRPr lang="en-AU"/>
          </a:p>
        </p:txBody>
      </p:sp>
      <p:sp>
        <p:nvSpPr>
          <p:cNvPr id="3" name="Freeform 3"/>
          <p:cNvSpPr/>
          <p:nvPr/>
        </p:nvSpPr>
        <p:spPr>
          <a:xfrm>
            <a:off x="1449365" y="7288062"/>
            <a:ext cx="4309579" cy="2725808"/>
          </a:xfrm>
          <a:custGeom>
            <a:avLst/>
            <a:gdLst/>
            <a:ahLst/>
            <a:cxnLst/>
            <a:rect l="l" t="t" r="r" b="b"/>
            <a:pathLst>
              <a:path w="4309579" h="2725808">
                <a:moveTo>
                  <a:pt x="0" y="0"/>
                </a:moveTo>
                <a:lnTo>
                  <a:pt x="4309579" y="0"/>
                </a:lnTo>
                <a:lnTo>
                  <a:pt x="4309579" y="2725809"/>
                </a:lnTo>
                <a:lnTo>
                  <a:pt x="0" y="2725809"/>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152400"/>
            <a:ext cx="8192853" cy="944876"/>
          </a:xfrm>
          <a:prstGeom prst="rect">
            <a:avLst/>
          </a:prstGeom>
        </p:spPr>
        <p:txBody>
          <a:bodyPr lIns="0" tIns="0" rIns="0" bIns="0" rtlCol="0" anchor="t">
            <a:spAutoFit/>
          </a:bodyPr>
          <a:lstStyle/>
          <a:p>
            <a:pPr marL="0" lvl="0" indent="0" algn="ctr">
              <a:lnSpc>
                <a:spcPts val="7314"/>
              </a:lnSpc>
              <a:spcBef>
                <a:spcPct val="0"/>
              </a:spcBef>
            </a:pPr>
            <a:r>
              <a:rPr lang="en-US" sz="5224">
                <a:solidFill>
                  <a:srgbClr val="333446"/>
                </a:solidFill>
                <a:latin typeface="Poppins Light"/>
                <a:ea typeface="Poppins Light"/>
                <a:cs typeface="Poppins Light"/>
                <a:sym typeface="Poppins Light"/>
              </a:rPr>
              <a:t>UNIT 2 – TOUCH TO CODE</a:t>
            </a:r>
          </a:p>
        </p:txBody>
      </p:sp>
      <p:sp>
        <p:nvSpPr>
          <p:cNvPr id="5" name="TextBox 5"/>
          <p:cNvSpPr txBox="1"/>
          <p:nvPr/>
        </p:nvSpPr>
        <p:spPr>
          <a:xfrm>
            <a:off x="1028700" y="971550"/>
            <a:ext cx="7868063" cy="2754024"/>
          </a:xfrm>
          <a:prstGeom prst="rect">
            <a:avLst/>
          </a:prstGeom>
        </p:spPr>
        <p:txBody>
          <a:bodyPr lIns="0" tIns="0" rIns="0" bIns="0" rtlCol="0" anchor="t">
            <a:spAutoFit/>
          </a:bodyPr>
          <a:lstStyle/>
          <a:p>
            <a:pPr marL="0" lvl="0" indent="0" algn="just">
              <a:lnSpc>
                <a:spcPts val="2379"/>
              </a:lnSpc>
            </a:pPr>
            <a:r>
              <a:rPr lang="en-US" sz="1699" dirty="0">
                <a:solidFill>
                  <a:srgbClr val="333446"/>
                </a:solidFill>
                <a:latin typeface="Poppins"/>
                <a:ea typeface="Poppins"/>
                <a:cs typeface="Poppins"/>
                <a:sym typeface="Poppins"/>
              </a:rPr>
              <a:t>WHAT I LEARNED</a:t>
            </a:r>
          </a:p>
          <a:p>
            <a:pPr marL="0" lvl="0" indent="0" algn="just">
              <a:lnSpc>
                <a:spcPts val="2379"/>
              </a:lnSpc>
            </a:pPr>
            <a:r>
              <a:rPr lang="en-US" sz="1699" dirty="0">
                <a:solidFill>
                  <a:srgbClr val="333446"/>
                </a:solidFill>
                <a:latin typeface="Poppins"/>
                <a:ea typeface="Poppins"/>
                <a:cs typeface="Poppins"/>
                <a:sym typeface="Poppins"/>
              </a:rPr>
              <a:t>Describe the key concepts from this unit:</a:t>
            </a:r>
          </a:p>
          <a:p>
            <a:pPr marL="0" lvl="0" indent="0" algn="just">
              <a:lnSpc>
                <a:spcPts val="2379"/>
              </a:lnSpc>
            </a:pPr>
            <a:r>
              <a:rPr lang="en-US" sz="1699" dirty="0">
                <a:solidFill>
                  <a:srgbClr val="333446"/>
                </a:solidFill>
                <a:latin typeface="Poppins"/>
                <a:ea typeface="Poppins"/>
                <a:cs typeface="Poppins"/>
                <a:sym typeface="Poppins"/>
              </a:rPr>
              <a:t>• How button inputs trigger robot movement commands</a:t>
            </a:r>
          </a:p>
          <a:p>
            <a:pPr marL="0" lvl="0" indent="0" algn="just">
              <a:lnSpc>
                <a:spcPts val="2379"/>
              </a:lnSpc>
            </a:pPr>
            <a:r>
              <a:rPr lang="en-US" sz="1699" dirty="0">
                <a:solidFill>
                  <a:srgbClr val="333446"/>
                </a:solidFill>
                <a:latin typeface="Poppins"/>
                <a:ea typeface="Poppins"/>
                <a:cs typeface="Poppins"/>
                <a:sym typeface="Poppins"/>
              </a:rPr>
              <a:t>• How to sequence commands using button coding logic</a:t>
            </a:r>
          </a:p>
          <a:p>
            <a:pPr marL="0" lvl="0" indent="0" algn="just">
              <a:lnSpc>
                <a:spcPts val="2379"/>
              </a:lnSpc>
            </a:pPr>
            <a:r>
              <a:rPr lang="en-US" sz="1699" dirty="0">
                <a:solidFill>
                  <a:srgbClr val="333446"/>
                </a:solidFill>
                <a:latin typeface="Poppins"/>
                <a:ea typeface="Poppins"/>
                <a:cs typeface="Poppins"/>
                <a:sym typeface="Poppins"/>
              </a:rPr>
              <a:t>• How the robot responds to different button signals</a:t>
            </a:r>
          </a:p>
          <a:p>
            <a:pPr marL="0" lvl="0" indent="0" algn="just">
              <a:lnSpc>
                <a:spcPts val="2379"/>
              </a:lnSpc>
            </a:pPr>
            <a:r>
              <a:rPr lang="en-US" sz="1699" dirty="0">
                <a:solidFill>
                  <a:srgbClr val="333446"/>
                </a:solidFill>
                <a:latin typeface="Poppins"/>
                <a:ea typeface="Poppins"/>
                <a:cs typeface="Poppins"/>
                <a:sym typeface="Poppins"/>
              </a:rPr>
              <a:t>KEY VOCABULARY</a:t>
            </a:r>
          </a:p>
          <a:p>
            <a:pPr marL="0" lvl="0" indent="0" algn="just">
              <a:lnSpc>
                <a:spcPts val="2379"/>
              </a:lnSpc>
            </a:pPr>
            <a:r>
              <a:rPr lang="en-US" sz="1699" dirty="0">
                <a:solidFill>
                  <a:srgbClr val="333446"/>
                </a:solidFill>
                <a:latin typeface="Poppins"/>
                <a:ea typeface="Poppins"/>
                <a:cs typeface="Poppins"/>
                <a:sym typeface="Poppins"/>
              </a:rPr>
              <a:t>• Button Event / Trigger: </a:t>
            </a:r>
            <a:r>
              <a:rPr lang="en-US" sz="1699" dirty="0">
                <a:solidFill>
                  <a:srgbClr val="333446"/>
                </a:solidFill>
                <a:highlight>
                  <a:srgbClr val="FFFF00"/>
                </a:highlight>
                <a:latin typeface="Poppins"/>
                <a:ea typeface="Poppins"/>
                <a:cs typeface="Poppins"/>
                <a:sym typeface="Poppins"/>
              </a:rPr>
              <a:t>different options you can choose to code</a:t>
            </a:r>
            <a:r>
              <a:rPr lang="en-US" sz="1699" dirty="0">
                <a:solidFill>
                  <a:srgbClr val="333446"/>
                </a:solidFill>
                <a:latin typeface="Poppins"/>
                <a:ea typeface="Poppins"/>
                <a:cs typeface="Poppins"/>
                <a:sym typeface="Poppins"/>
              </a:rPr>
              <a:t>.</a:t>
            </a:r>
          </a:p>
          <a:p>
            <a:pPr marL="0" lvl="0" indent="0" algn="just">
              <a:lnSpc>
                <a:spcPts val="2379"/>
              </a:lnSpc>
            </a:pPr>
            <a:r>
              <a:rPr lang="en-US" sz="1699" dirty="0">
                <a:solidFill>
                  <a:srgbClr val="333446"/>
                </a:solidFill>
                <a:latin typeface="Poppins"/>
                <a:ea typeface="Poppins"/>
                <a:cs typeface="Poppins"/>
                <a:sym typeface="Poppins"/>
              </a:rPr>
              <a:t>• Command Sequence: </a:t>
            </a:r>
            <a:r>
              <a:rPr lang="en-US" sz="1699" dirty="0">
                <a:solidFill>
                  <a:srgbClr val="333446"/>
                </a:solidFill>
                <a:highlight>
                  <a:srgbClr val="FFFF00"/>
                </a:highlight>
                <a:latin typeface="Poppins"/>
                <a:ea typeface="Poppins"/>
                <a:cs typeface="Poppins"/>
                <a:sym typeface="Poppins"/>
              </a:rPr>
              <a:t>the buttons you chose then performs the sequence</a:t>
            </a:r>
          </a:p>
        </p:txBody>
      </p:sp>
      <p:sp>
        <p:nvSpPr>
          <p:cNvPr id="6" name="TextBox 6"/>
          <p:cNvSpPr txBox="1"/>
          <p:nvPr/>
        </p:nvSpPr>
        <p:spPr>
          <a:xfrm>
            <a:off x="1028700" y="4656896"/>
            <a:ext cx="7868063" cy="2446247"/>
          </a:xfrm>
          <a:prstGeom prst="rect">
            <a:avLst/>
          </a:prstGeom>
        </p:spPr>
        <p:txBody>
          <a:bodyPr lIns="0" tIns="0" rIns="0" bIns="0" rtlCol="0" anchor="t">
            <a:spAutoFit/>
          </a:bodyPr>
          <a:lstStyle/>
          <a:p>
            <a:pPr marL="0" lvl="0" indent="0" algn="just">
              <a:lnSpc>
                <a:spcPts val="2379"/>
              </a:lnSpc>
            </a:pPr>
            <a:r>
              <a:rPr lang="en-US" sz="1699" dirty="0">
                <a:solidFill>
                  <a:srgbClr val="333446"/>
                </a:solidFill>
                <a:latin typeface="Poppins"/>
                <a:ea typeface="Poppins"/>
                <a:cs typeface="Poppins"/>
                <a:sym typeface="Poppins"/>
              </a:rPr>
              <a:t>CODE / PROGRAMMING NOTES</a:t>
            </a:r>
          </a:p>
          <a:p>
            <a:pPr marL="0" lvl="0" indent="0" algn="just">
              <a:lnSpc>
                <a:spcPts val="2379"/>
              </a:lnSpc>
            </a:pPr>
            <a:r>
              <a:rPr lang="en-US" sz="1699" dirty="0">
                <a:solidFill>
                  <a:srgbClr val="333446"/>
                </a:solidFill>
                <a:latin typeface="Poppins"/>
                <a:ea typeface="Poppins"/>
                <a:cs typeface="Poppins"/>
                <a:sym typeface="Poppins"/>
              </a:rPr>
              <a:t>Sketch or describe your button coding program below:</a:t>
            </a:r>
          </a:p>
          <a:p>
            <a:pPr marL="0" lvl="0" indent="0" algn="just">
              <a:lnSpc>
                <a:spcPts val="2379"/>
              </a:lnSpc>
            </a:pPr>
            <a:r>
              <a:rPr lang="en-US" sz="1699" dirty="0">
                <a:solidFill>
                  <a:srgbClr val="333446"/>
                </a:solidFill>
                <a:latin typeface="Poppins"/>
                <a:ea typeface="Poppins"/>
                <a:cs typeface="Poppins"/>
                <a:sym typeface="Poppins"/>
              </a:rPr>
              <a:t>• Button used: </a:t>
            </a:r>
            <a:r>
              <a:rPr lang="en-US" sz="1699" dirty="0">
                <a:solidFill>
                  <a:srgbClr val="333446"/>
                </a:solidFill>
                <a:highlight>
                  <a:srgbClr val="FFFF00"/>
                </a:highlight>
                <a:latin typeface="Poppins"/>
                <a:ea typeface="Poppins"/>
                <a:cs typeface="Poppins"/>
                <a:sym typeface="Poppins"/>
              </a:rPr>
              <a:t>forward, right, left, kick</a:t>
            </a:r>
          </a:p>
          <a:p>
            <a:pPr marL="0" lvl="0" indent="0" algn="just">
              <a:lnSpc>
                <a:spcPts val="2379"/>
              </a:lnSpc>
            </a:pPr>
            <a:r>
              <a:rPr lang="en-US" sz="1699" dirty="0">
                <a:solidFill>
                  <a:srgbClr val="333446"/>
                </a:solidFill>
                <a:latin typeface="Poppins"/>
                <a:ea typeface="Poppins"/>
                <a:cs typeface="Poppins"/>
                <a:sym typeface="Poppins"/>
              </a:rPr>
              <a:t>• Robot action triggered: </a:t>
            </a:r>
            <a:r>
              <a:rPr lang="en-US" sz="1699" dirty="0">
                <a:solidFill>
                  <a:srgbClr val="333446"/>
                </a:solidFill>
                <a:highlight>
                  <a:srgbClr val="FFFF00"/>
                </a:highlight>
                <a:latin typeface="Poppins"/>
                <a:ea typeface="Poppins"/>
                <a:cs typeface="Poppins"/>
                <a:sym typeface="Poppins"/>
              </a:rPr>
              <a:t>forward, right, left, kick</a:t>
            </a:r>
          </a:p>
          <a:p>
            <a:pPr marL="0" lvl="0" indent="0" algn="just">
              <a:lnSpc>
                <a:spcPts val="2379"/>
              </a:lnSpc>
            </a:pPr>
            <a:r>
              <a:rPr lang="en-US" sz="1699" dirty="0">
                <a:solidFill>
                  <a:srgbClr val="333446"/>
                </a:solidFill>
                <a:latin typeface="Poppins"/>
                <a:ea typeface="Poppins"/>
                <a:cs typeface="Poppins"/>
                <a:sym typeface="Poppins"/>
              </a:rPr>
              <a:t>• Planning notes / sequence diagram:</a:t>
            </a:r>
          </a:p>
          <a:p>
            <a:pPr marL="0" lvl="0" indent="0" algn="just">
              <a:lnSpc>
                <a:spcPts val="2379"/>
              </a:lnSpc>
            </a:pPr>
            <a:r>
              <a:rPr lang="en-US" sz="1699" dirty="0">
                <a:solidFill>
                  <a:srgbClr val="333446"/>
                </a:solidFill>
                <a:latin typeface="Poppins"/>
                <a:ea typeface="Poppins"/>
                <a:cs typeface="Poppins"/>
                <a:sym typeface="Poppins"/>
              </a:rPr>
              <a:t>CHALLENGES &amp; SOLUTIONS</a:t>
            </a:r>
          </a:p>
          <a:p>
            <a:pPr marL="0" lvl="0" indent="0" algn="just">
              <a:lnSpc>
                <a:spcPts val="2379"/>
              </a:lnSpc>
            </a:pPr>
            <a:r>
              <a:rPr lang="en-US" sz="1699" dirty="0">
                <a:solidFill>
                  <a:srgbClr val="333446"/>
                </a:solidFill>
                <a:latin typeface="Poppins"/>
                <a:ea typeface="Poppins"/>
                <a:cs typeface="Poppins"/>
                <a:sym typeface="Poppins"/>
              </a:rPr>
              <a:t>• Challenge I faced: </a:t>
            </a:r>
            <a:r>
              <a:rPr lang="en-US" sz="1699" dirty="0">
                <a:solidFill>
                  <a:srgbClr val="333446"/>
                </a:solidFill>
                <a:highlight>
                  <a:srgbClr val="FFFF00"/>
                </a:highlight>
                <a:latin typeface="Poppins"/>
                <a:ea typeface="Poppins"/>
                <a:cs typeface="Poppins"/>
                <a:sym typeface="Poppins"/>
              </a:rPr>
              <a:t>the wheels made it turn weirdly </a:t>
            </a:r>
          </a:p>
          <a:p>
            <a:pPr marL="0" lvl="0" indent="0" algn="just">
              <a:lnSpc>
                <a:spcPts val="2379"/>
              </a:lnSpc>
            </a:pPr>
            <a:r>
              <a:rPr lang="en-US" sz="1699" dirty="0">
                <a:solidFill>
                  <a:srgbClr val="333446"/>
                </a:solidFill>
                <a:latin typeface="Poppins"/>
                <a:ea typeface="Poppins"/>
                <a:cs typeface="Poppins"/>
                <a:sym typeface="Poppins"/>
              </a:rPr>
              <a:t>• How I solved it: </a:t>
            </a:r>
            <a:r>
              <a:rPr lang="en-US" sz="1699" dirty="0">
                <a:solidFill>
                  <a:srgbClr val="333446"/>
                </a:solidFill>
                <a:highlight>
                  <a:srgbClr val="FFFF00"/>
                </a:highlight>
                <a:latin typeface="Poppins"/>
                <a:ea typeface="Poppins"/>
                <a:cs typeface="Poppins"/>
                <a:sym typeface="Poppins"/>
              </a:rPr>
              <a:t>got a new robot</a:t>
            </a:r>
          </a:p>
        </p:txBody>
      </p:sp>
      <p:sp>
        <p:nvSpPr>
          <p:cNvPr id="7" name="TextBox 7"/>
          <p:cNvSpPr txBox="1"/>
          <p:nvPr/>
        </p:nvSpPr>
        <p:spPr>
          <a:xfrm>
            <a:off x="9391237" y="6502844"/>
            <a:ext cx="7868063" cy="3511026"/>
          </a:xfrm>
          <a:prstGeom prst="rect">
            <a:avLst/>
          </a:prstGeom>
        </p:spPr>
        <p:txBody>
          <a:bodyPr lIns="0" tIns="0" rIns="0" bIns="0" rtlCol="0" anchor="t">
            <a:spAutoFit/>
          </a:bodyPr>
          <a:lstStyle/>
          <a:p>
            <a:pPr marL="0" lvl="0" indent="0" algn="just">
              <a:lnSpc>
                <a:spcPts val="2519"/>
              </a:lnSpc>
            </a:pPr>
            <a:r>
              <a:rPr lang="en-US" sz="1799" dirty="0">
                <a:solidFill>
                  <a:srgbClr val="333446"/>
                </a:solidFill>
                <a:latin typeface="Poppins"/>
                <a:ea typeface="Poppins"/>
                <a:cs typeface="Poppins"/>
                <a:sym typeface="Poppins"/>
              </a:rPr>
              <a:t>REFLECTION</a:t>
            </a:r>
          </a:p>
          <a:p>
            <a:pPr marL="0" lvl="0" indent="0" algn="just">
              <a:lnSpc>
                <a:spcPts val="2519"/>
              </a:lnSpc>
            </a:pPr>
            <a:r>
              <a:rPr lang="en-US" sz="1799" dirty="0">
                <a:solidFill>
                  <a:srgbClr val="333446"/>
                </a:solidFill>
                <a:latin typeface="Poppins"/>
                <a:ea typeface="Poppins"/>
                <a:cs typeface="Poppins"/>
                <a:sym typeface="Poppins"/>
              </a:rPr>
              <a:t>• What surprised me about button coding?</a:t>
            </a:r>
          </a:p>
          <a:p>
            <a:pPr marL="0" lvl="0" indent="0" algn="just">
              <a:lnSpc>
                <a:spcPts val="2519"/>
              </a:lnSpc>
            </a:pPr>
            <a:r>
              <a:rPr lang="en-US" sz="1799" dirty="0">
                <a:solidFill>
                  <a:srgbClr val="333446"/>
                </a:solidFill>
                <a:highlight>
                  <a:srgbClr val="FFFF00"/>
                </a:highlight>
                <a:latin typeface="Poppins"/>
                <a:ea typeface="Poppins"/>
                <a:cs typeface="Poppins"/>
                <a:sym typeface="Poppins"/>
              </a:rPr>
              <a:t>How you don’t have to use the controller.</a:t>
            </a:r>
          </a:p>
          <a:p>
            <a:pPr marL="0" lvl="0" indent="0" algn="just">
              <a:lnSpc>
                <a:spcPts val="2519"/>
              </a:lnSpc>
            </a:pPr>
            <a:r>
              <a:rPr lang="en-US" sz="1799" dirty="0">
                <a:solidFill>
                  <a:srgbClr val="333446"/>
                </a:solidFill>
                <a:latin typeface="Poppins"/>
                <a:ea typeface="Poppins"/>
                <a:cs typeface="Poppins"/>
                <a:sym typeface="Poppins"/>
              </a:rPr>
              <a:t>• How did planning my sequence help?</a:t>
            </a:r>
          </a:p>
          <a:p>
            <a:pPr marL="0" lvl="0" indent="0" algn="just">
              <a:lnSpc>
                <a:spcPts val="2519"/>
              </a:lnSpc>
            </a:pPr>
            <a:r>
              <a:rPr lang="en-US" sz="1799" dirty="0">
                <a:solidFill>
                  <a:srgbClr val="333446"/>
                </a:solidFill>
                <a:highlight>
                  <a:srgbClr val="FFFF00"/>
                </a:highlight>
                <a:latin typeface="Poppins"/>
                <a:ea typeface="Poppins"/>
                <a:cs typeface="Poppins"/>
                <a:sym typeface="Poppins"/>
              </a:rPr>
              <a:t>To make sure I don’t stuff it up.</a:t>
            </a:r>
          </a:p>
          <a:p>
            <a:pPr marL="0" lvl="0" indent="0" algn="just">
              <a:lnSpc>
                <a:spcPts val="2519"/>
              </a:lnSpc>
            </a:pPr>
            <a:r>
              <a:rPr lang="en-US" sz="1799" dirty="0">
                <a:solidFill>
                  <a:srgbClr val="333446"/>
                </a:solidFill>
                <a:latin typeface="Poppins"/>
                <a:ea typeface="Poppins"/>
                <a:cs typeface="Poppins"/>
                <a:sym typeface="Poppins"/>
              </a:rPr>
              <a:t>• What would I improve next time?</a:t>
            </a:r>
          </a:p>
          <a:p>
            <a:pPr marL="0" lvl="0" indent="0" algn="just">
              <a:lnSpc>
                <a:spcPts val="2519"/>
              </a:lnSpc>
            </a:pPr>
            <a:r>
              <a:rPr lang="en-US" sz="1799" dirty="0">
                <a:solidFill>
                  <a:srgbClr val="333446"/>
                </a:solidFill>
                <a:highlight>
                  <a:srgbClr val="FFFF00"/>
                </a:highlight>
                <a:latin typeface="Poppins"/>
                <a:ea typeface="Poppins"/>
                <a:cs typeface="Poppins"/>
                <a:sym typeface="Poppins"/>
              </a:rPr>
              <a:t>Make sure I plan extra well.</a:t>
            </a:r>
          </a:p>
          <a:p>
            <a:pPr marL="0" lvl="0" indent="0" algn="just">
              <a:lnSpc>
                <a:spcPts val="2519"/>
              </a:lnSpc>
            </a:pPr>
            <a:r>
              <a:rPr lang="en-US" sz="1799" dirty="0">
                <a:solidFill>
                  <a:srgbClr val="333446"/>
                </a:solidFill>
                <a:latin typeface="Poppins"/>
                <a:ea typeface="Poppins"/>
                <a:cs typeface="Poppins"/>
                <a:sym typeface="Poppins"/>
              </a:rPr>
              <a:t>PROS &amp; CONS OF BUTTON CODING</a:t>
            </a:r>
          </a:p>
          <a:p>
            <a:pPr marL="0" lvl="0" indent="0" algn="just">
              <a:lnSpc>
                <a:spcPts val="2519"/>
              </a:lnSpc>
            </a:pPr>
            <a:r>
              <a:rPr lang="en-US" sz="1799" dirty="0">
                <a:solidFill>
                  <a:srgbClr val="333446"/>
                </a:solidFill>
                <a:latin typeface="Poppins"/>
                <a:ea typeface="Poppins"/>
                <a:cs typeface="Poppins"/>
                <a:sym typeface="Poppins"/>
              </a:rPr>
              <a:t>Pros: </a:t>
            </a:r>
            <a:r>
              <a:rPr lang="en-US" sz="1799" dirty="0">
                <a:solidFill>
                  <a:srgbClr val="333446"/>
                </a:solidFill>
                <a:highlight>
                  <a:srgbClr val="FFFF00"/>
                </a:highlight>
                <a:latin typeface="Poppins"/>
                <a:ea typeface="Poppins"/>
                <a:cs typeface="Poppins"/>
                <a:sym typeface="Poppins"/>
              </a:rPr>
              <a:t>you don’t have to use the controller</a:t>
            </a:r>
          </a:p>
          <a:p>
            <a:pPr marL="0" lvl="0" indent="0" algn="just">
              <a:lnSpc>
                <a:spcPts val="2519"/>
              </a:lnSpc>
            </a:pPr>
            <a:r>
              <a:rPr lang="en-US" sz="1799" dirty="0">
                <a:solidFill>
                  <a:srgbClr val="333446"/>
                </a:solidFill>
                <a:latin typeface="Poppins"/>
                <a:ea typeface="Poppins"/>
                <a:cs typeface="Poppins"/>
                <a:sym typeface="Poppins"/>
              </a:rPr>
              <a:t>Cons: </a:t>
            </a:r>
            <a:r>
              <a:rPr lang="en-US" sz="1799" dirty="0">
                <a:solidFill>
                  <a:srgbClr val="333446"/>
                </a:solidFill>
                <a:highlight>
                  <a:srgbClr val="FFFF00"/>
                </a:highlight>
                <a:latin typeface="Poppins"/>
                <a:ea typeface="Poppins"/>
                <a:cs typeface="Poppins"/>
                <a:sym typeface="Poppins"/>
              </a:rPr>
              <a:t>sometimes you can accidentally code the robot to do something wrong, then you have to start over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567229" y="0"/>
            <a:ext cx="7720771" cy="3435743"/>
          </a:xfrm>
          <a:custGeom>
            <a:avLst/>
            <a:gdLst/>
            <a:ahLst/>
            <a:cxnLst/>
            <a:rect l="l" t="t" r="r" b="b"/>
            <a:pathLst>
              <a:path w="7720771" h="3435743">
                <a:moveTo>
                  <a:pt x="0" y="0"/>
                </a:moveTo>
                <a:lnTo>
                  <a:pt x="7720771" y="0"/>
                </a:lnTo>
                <a:lnTo>
                  <a:pt x="7720771" y="3435743"/>
                </a:lnTo>
                <a:lnTo>
                  <a:pt x="0" y="3435743"/>
                </a:lnTo>
                <a:lnTo>
                  <a:pt x="0" y="0"/>
                </a:lnTo>
                <a:close/>
              </a:path>
            </a:pathLst>
          </a:custGeom>
          <a:blipFill>
            <a:blip r:embed="rId2"/>
            <a:stretch>
              <a:fillRect/>
            </a:stretch>
          </a:blipFill>
        </p:spPr>
        <p:txBody>
          <a:bodyPr/>
          <a:lstStyle/>
          <a:p>
            <a:endParaRPr lang="en-AU"/>
          </a:p>
        </p:txBody>
      </p:sp>
      <p:sp>
        <p:nvSpPr>
          <p:cNvPr id="3" name="Freeform 3"/>
          <p:cNvSpPr/>
          <p:nvPr/>
        </p:nvSpPr>
        <p:spPr>
          <a:xfrm>
            <a:off x="16329" y="7581900"/>
            <a:ext cx="5593597" cy="2681575"/>
          </a:xfrm>
          <a:custGeom>
            <a:avLst/>
            <a:gdLst/>
            <a:ahLst/>
            <a:cxnLst/>
            <a:rect l="l" t="t" r="r" b="b"/>
            <a:pathLst>
              <a:path w="5593597" h="2681575">
                <a:moveTo>
                  <a:pt x="0" y="0"/>
                </a:moveTo>
                <a:lnTo>
                  <a:pt x="5593597" y="0"/>
                </a:lnTo>
                <a:lnTo>
                  <a:pt x="5593597" y="2681575"/>
                </a:lnTo>
                <a:lnTo>
                  <a:pt x="0" y="2681575"/>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133350"/>
            <a:ext cx="8996108" cy="1708118"/>
          </a:xfrm>
          <a:prstGeom prst="rect">
            <a:avLst/>
          </a:prstGeom>
        </p:spPr>
        <p:txBody>
          <a:bodyPr lIns="0" tIns="0" rIns="0" bIns="0" rtlCol="0" anchor="t">
            <a:spAutoFit/>
          </a:bodyPr>
          <a:lstStyle/>
          <a:p>
            <a:pPr marL="0" lvl="0" indent="0" algn="ctr">
              <a:lnSpc>
                <a:spcPts val="6679"/>
              </a:lnSpc>
              <a:spcBef>
                <a:spcPct val="0"/>
              </a:spcBef>
            </a:pPr>
            <a:r>
              <a:rPr lang="en-US" sz="4771">
                <a:solidFill>
                  <a:srgbClr val="333446"/>
                </a:solidFill>
                <a:latin typeface="Poppins Light"/>
                <a:ea typeface="Poppins Light"/>
                <a:cs typeface="Poppins Light"/>
                <a:sym typeface="Poppins Light"/>
              </a:rPr>
              <a:t>UNIT 3 – MOVE AROUND OBSTACLES</a:t>
            </a:r>
          </a:p>
        </p:txBody>
      </p:sp>
      <p:sp>
        <p:nvSpPr>
          <p:cNvPr id="5" name="TextBox 5"/>
          <p:cNvSpPr txBox="1"/>
          <p:nvPr/>
        </p:nvSpPr>
        <p:spPr>
          <a:xfrm>
            <a:off x="564023" y="1880111"/>
            <a:ext cx="8432086" cy="1900142"/>
          </a:xfrm>
          <a:prstGeom prst="rect">
            <a:avLst/>
          </a:prstGeom>
        </p:spPr>
        <p:txBody>
          <a:bodyPr lIns="0" tIns="0" rIns="0" bIns="0" rtlCol="0" anchor="t">
            <a:spAutoFit/>
          </a:bodyPr>
          <a:lstStyle/>
          <a:p>
            <a:pPr marL="0" lvl="0" indent="0" algn="just">
              <a:lnSpc>
                <a:spcPts val="2542"/>
              </a:lnSpc>
            </a:pPr>
            <a:r>
              <a:rPr lang="en-US" sz="1816">
                <a:solidFill>
                  <a:srgbClr val="333446"/>
                </a:solidFill>
                <a:latin typeface="Poppins"/>
                <a:ea typeface="Poppins"/>
                <a:cs typeface="Poppins"/>
                <a:sym typeface="Poppins"/>
              </a:rPr>
              <a:t>WHAT I LEARNED</a:t>
            </a:r>
          </a:p>
          <a:p>
            <a:pPr marL="0" lvl="0" indent="0" algn="just">
              <a:lnSpc>
                <a:spcPts val="2542"/>
              </a:lnSpc>
            </a:pPr>
            <a:r>
              <a:rPr lang="en-US" sz="1816">
                <a:solidFill>
                  <a:srgbClr val="333446"/>
                </a:solidFill>
                <a:latin typeface="Poppins"/>
                <a:ea typeface="Poppins"/>
                <a:cs typeface="Poppins"/>
                <a:sym typeface="Poppins"/>
              </a:rPr>
              <a:t>Describe how block coding was used to program the robot to detect and navigate around obstacles. What movement commands did you use? How did the robot "decide" when to turn or stop?</a:t>
            </a:r>
          </a:p>
          <a:p>
            <a:pPr marL="0" lvl="0" indent="0" algn="just">
              <a:lnSpc>
                <a:spcPts val="2542"/>
              </a:lnSpc>
            </a:pPr>
            <a:r>
              <a:rPr lang="en-US" sz="1816">
                <a:solidFill>
                  <a:srgbClr val="333446"/>
                </a:solidFill>
                <a:latin typeface="Poppins"/>
                <a:ea typeface="Poppins"/>
                <a:cs typeface="Poppins"/>
                <a:sym typeface="Poppins"/>
              </a:rPr>
              <a:t>KEY VOCABULARY</a:t>
            </a:r>
          </a:p>
          <a:p>
            <a:pPr marL="0" lvl="0" indent="0" algn="just">
              <a:lnSpc>
                <a:spcPts val="2542"/>
              </a:lnSpc>
            </a:pPr>
            <a:r>
              <a:rPr lang="en-US" sz="1816">
                <a:solidFill>
                  <a:srgbClr val="333446"/>
                </a:solidFill>
                <a:latin typeface="Poppins"/>
                <a:ea typeface="Poppins"/>
                <a:cs typeface="Poppins"/>
                <a:sym typeface="Poppins"/>
              </a:rPr>
              <a:t>• Block code  • Obstacle detection  • Loop  • Conditional  • Sensor input</a:t>
            </a:r>
          </a:p>
        </p:txBody>
      </p:sp>
      <p:sp>
        <p:nvSpPr>
          <p:cNvPr id="6" name="TextBox 6"/>
          <p:cNvSpPr txBox="1"/>
          <p:nvPr/>
        </p:nvSpPr>
        <p:spPr>
          <a:xfrm>
            <a:off x="564023" y="5318086"/>
            <a:ext cx="8432086" cy="1908664"/>
          </a:xfrm>
          <a:prstGeom prst="rect">
            <a:avLst/>
          </a:prstGeom>
        </p:spPr>
        <p:txBody>
          <a:bodyPr lIns="0" tIns="0" rIns="0" bIns="0" rtlCol="0" anchor="t">
            <a:spAutoFit/>
          </a:bodyPr>
          <a:lstStyle/>
          <a:p>
            <a:pPr marL="0" lvl="0" indent="0" algn="just">
              <a:lnSpc>
                <a:spcPts val="2542"/>
              </a:lnSpc>
            </a:pPr>
            <a:r>
              <a:rPr lang="en-US" sz="1816" dirty="0">
                <a:solidFill>
                  <a:srgbClr val="333446"/>
                </a:solidFill>
                <a:latin typeface="Poppins"/>
                <a:ea typeface="Poppins"/>
                <a:cs typeface="Poppins"/>
                <a:sym typeface="Poppins"/>
              </a:rPr>
              <a:t>CODE / PROGRAMMING NOTES</a:t>
            </a:r>
          </a:p>
          <a:p>
            <a:pPr marL="0" lvl="0" indent="0" algn="just">
              <a:lnSpc>
                <a:spcPts val="2542"/>
              </a:lnSpc>
            </a:pPr>
            <a:r>
              <a:rPr lang="en-US" sz="1816" dirty="0">
                <a:solidFill>
                  <a:srgbClr val="333446"/>
                </a:solidFill>
                <a:latin typeface="Poppins"/>
                <a:ea typeface="Poppins"/>
                <a:cs typeface="Poppins"/>
                <a:sym typeface="Poppins"/>
              </a:rPr>
              <a:t>Sketch or describe your block code sequence below. Which blocks did you use to move, detect, and avoid obstacles? Note any key logic or order of steps.</a:t>
            </a:r>
          </a:p>
          <a:p>
            <a:pPr marL="0" lvl="0" indent="0" algn="just">
              <a:lnSpc>
                <a:spcPts val="2542"/>
              </a:lnSpc>
            </a:pPr>
            <a:endParaRPr lang="en-US" sz="1816" dirty="0">
              <a:solidFill>
                <a:srgbClr val="333446"/>
              </a:solidFill>
              <a:highlight>
                <a:srgbClr val="FFFF00"/>
              </a:highlight>
              <a:latin typeface="Poppins"/>
              <a:ea typeface="Poppins"/>
              <a:cs typeface="Poppins"/>
              <a:sym typeface="Poppins"/>
            </a:endParaRPr>
          </a:p>
          <a:p>
            <a:pPr marL="0" lvl="0" indent="0" algn="just">
              <a:lnSpc>
                <a:spcPts val="2542"/>
              </a:lnSpc>
            </a:pPr>
            <a:r>
              <a:rPr lang="en-US" sz="1816" dirty="0">
                <a:solidFill>
                  <a:srgbClr val="333446"/>
                </a:solidFill>
                <a:highlight>
                  <a:srgbClr val="FFFF00"/>
                </a:highlight>
                <a:latin typeface="Poppins"/>
                <a:ea typeface="Poppins"/>
                <a:cs typeface="Poppins"/>
                <a:sym typeface="Poppins"/>
              </a:rPr>
              <a:t>When started, move forward 200 mm, then wait 1 second.</a:t>
            </a:r>
          </a:p>
        </p:txBody>
      </p:sp>
      <p:sp>
        <p:nvSpPr>
          <p:cNvPr id="7" name="TextBox 7"/>
          <p:cNvSpPr txBox="1"/>
          <p:nvPr/>
        </p:nvSpPr>
        <p:spPr>
          <a:xfrm>
            <a:off x="10226504" y="7455736"/>
            <a:ext cx="7032796" cy="2228944"/>
          </a:xfrm>
          <a:prstGeom prst="rect">
            <a:avLst/>
          </a:prstGeom>
        </p:spPr>
        <p:txBody>
          <a:bodyPr lIns="0" tIns="0" rIns="0" bIns="0" rtlCol="0" anchor="t">
            <a:spAutoFit/>
          </a:bodyPr>
          <a:lstStyle/>
          <a:p>
            <a:pPr marL="0" lvl="0" indent="0" algn="just">
              <a:lnSpc>
                <a:spcPts val="2530"/>
              </a:lnSpc>
            </a:pPr>
            <a:r>
              <a:rPr lang="en-US" sz="1807" dirty="0">
                <a:solidFill>
                  <a:srgbClr val="333446"/>
                </a:solidFill>
                <a:latin typeface="Poppins"/>
                <a:ea typeface="Poppins"/>
                <a:cs typeface="Poppins"/>
                <a:sym typeface="Poppins"/>
              </a:rPr>
              <a:t>PROS &amp; CONS OF BLOCK CODING</a:t>
            </a:r>
          </a:p>
          <a:p>
            <a:pPr marL="0" lvl="0" indent="0" algn="just">
              <a:lnSpc>
                <a:spcPts val="2530"/>
              </a:lnSpc>
            </a:pPr>
            <a:r>
              <a:rPr lang="en-US" sz="1807" dirty="0">
                <a:solidFill>
                  <a:srgbClr val="333446"/>
                </a:solidFill>
                <a:latin typeface="Poppins"/>
                <a:ea typeface="Poppins"/>
                <a:cs typeface="Poppins"/>
                <a:sym typeface="Poppins"/>
              </a:rPr>
              <a:t>Pros:</a:t>
            </a:r>
            <a:r>
              <a:rPr lang="en-US" sz="1807" dirty="0">
                <a:solidFill>
                  <a:srgbClr val="333446"/>
                </a:solidFill>
                <a:highlight>
                  <a:srgbClr val="FFFF00"/>
                </a:highlight>
                <a:latin typeface="Poppins"/>
                <a:ea typeface="Poppins"/>
                <a:cs typeface="Poppins"/>
                <a:sym typeface="Poppins"/>
              </a:rPr>
              <a:t> you can save it to the robot to use for next time.</a:t>
            </a:r>
          </a:p>
          <a:p>
            <a:pPr marL="0" lvl="0" indent="0" algn="just">
              <a:lnSpc>
                <a:spcPts val="2530"/>
              </a:lnSpc>
            </a:pPr>
            <a:r>
              <a:rPr lang="en-US" sz="1807" dirty="0">
                <a:solidFill>
                  <a:srgbClr val="333446"/>
                </a:solidFill>
                <a:latin typeface="Poppins"/>
                <a:ea typeface="Poppins"/>
                <a:cs typeface="Poppins"/>
                <a:sym typeface="Poppins"/>
              </a:rPr>
              <a:t>Cons: </a:t>
            </a:r>
            <a:r>
              <a:rPr lang="en-US" sz="1807" dirty="0">
                <a:solidFill>
                  <a:srgbClr val="333446"/>
                </a:solidFill>
                <a:highlight>
                  <a:srgbClr val="FFFF00"/>
                </a:highlight>
                <a:latin typeface="Poppins"/>
                <a:ea typeface="Poppins"/>
                <a:cs typeface="Poppins"/>
                <a:sym typeface="Poppins"/>
              </a:rPr>
              <a:t>hard and more complicated to code.</a:t>
            </a:r>
          </a:p>
          <a:p>
            <a:pPr marL="0" lvl="0" indent="0" algn="just">
              <a:lnSpc>
                <a:spcPts val="2530"/>
              </a:lnSpc>
            </a:pPr>
            <a:r>
              <a:rPr lang="en-US" sz="1807" dirty="0">
                <a:solidFill>
                  <a:srgbClr val="333446"/>
                </a:solidFill>
                <a:latin typeface="Poppins"/>
                <a:ea typeface="Poppins"/>
                <a:cs typeface="Poppins"/>
                <a:sym typeface="Poppins"/>
              </a:rPr>
              <a:t>CHALLENGES &amp; SOLUTIONS</a:t>
            </a:r>
          </a:p>
          <a:p>
            <a:pPr marL="0" lvl="0" indent="0" algn="just">
              <a:lnSpc>
                <a:spcPts val="2530"/>
              </a:lnSpc>
            </a:pPr>
            <a:r>
              <a:rPr lang="en-US" sz="1807" dirty="0">
                <a:solidFill>
                  <a:srgbClr val="333446"/>
                </a:solidFill>
                <a:latin typeface="Poppins"/>
                <a:ea typeface="Poppins"/>
                <a:cs typeface="Poppins"/>
                <a:sym typeface="Poppins"/>
              </a:rPr>
              <a:t>Describe one difficulty you faced and how you solved it.</a:t>
            </a:r>
          </a:p>
          <a:p>
            <a:pPr marL="0" lvl="0" indent="0" algn="just">
              <a:lnSpc>
                <a:spcPts val="2530"/>
              </a:lnSpc>
            </a:pPr>
            <a:r>
              <a:rPr lang="en-US" sz="1807" dirty="0">
                <a:solidFill>
                  <a:srgbClr val="333446"/>
                </a:solidFill>
                <a:highlight>
                  <a:srgbClr val="FFFF00"/>
                </a:highlight>
                <a:latin typeface="Poppins"/>
                <a:ea typeface="Poppins"/>
                <a:cs typeface="Poppins"/>
                <a:sym typeface="Poppins"/>
              </a:rPr>
              <a:t>I struggled connecting the robot to my laptop, but then I plugged it in with the cord.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144000" y="0"/>
            <a:ext cx="9144000" cy="4069080"/>
          </a:xfrm>
          <a:custGeom>
            <a:avLst/>
            <a:gdLst/>
            <a:ahLst/>
            <a:cxnLst/>
            <a:rect l="l" t="t" r="r" b="b"/>
            <a:pathLst>
              <a:path w="9144000" h="4069080">
                <a:moveTo>
                  <a:pt x="0" y="0"/>
                </a:moveTo>
                <a:lnTo>
                  <a:pt x="9144000" y="0"/>
                </a:lnTo>
                <a:lnTo>
                  <a:pt x="9144000" y="4069080"/>
                </a:lnTo>
                <a:lnTo>
                  <a:pt x="0" y="406908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04112"/>
            <a:ext cx="8665101" cy="1779789"/>
          </a:xfrm>
          <a:prstGeom prst="rect">
            <a:avLst/>
          </a:prstGeom>
        </p:spPr>
        <p:txBody>
          <a:bodyPr lIns="0" tIns="0" rIns="0" bIns="0" rtlCol="0" anchor="t">
            <a:spAutoFit/>
          </a:bodyPr>
          <a:lstStyle/>
          <a:p>
            <a:pPr marL="0" lvl="0" indent="0" algn="ctr">
              <a:lnSpc>
                <a:spcPts val="6983"/>
              </a:lnSpc>
              <a:spcBef>
                <a:spcPct val="0"/>
              </a:spcBef>
            </a:pPr>
            <a:r>
              <a:rPr lang="en-US" sz="4988">
                <a:solidFill>
                  <a:srgbClr val="333446"/>
                </a:solidFill>
                <a:latin typeface="Poppins Light"/>
                <a:ea typeface="Poppins Light"/>
                <a:cs typeface="Poppins Light"/>
                <a:sym typeface="Poppins Light"/>
              </a:rPr>
              <a:t>UNIT 4 – NAVIGATE DIAGONAL PATHS</a:t>
            </a:r>
          </a:p>
        </p:txBody>
      </p:sp>
      <p:sp>
        <p:nvSpPr>
          <p:cNvPr id="4" name="TextBox 4"/>
          <p:cNvSpPr txBox="1"/>
          <p:nvPr/>
        </p:nvSpPr>
        <p:spPr>
          <a:xfrm>
            <a:off x="797039" y="2645640"/>
            <a:ext cx="7868063" cy="2300886"/>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WHAT I LEARNED</a:t>
            </a:r>
          </a:p>
          <a:p>
            <a:pPr marL="0" lvl="0" indent="0" algn="just">
              <a:lnSpc>
                <a:spcPts val="1827"/>
              </a:lnSpc>
            </a:pPr>
            <a:r>
              <a:rPr lang="en-US" sz="1600">
                <a:solidFill>
                  <a:srgbClr val="333446"/>
                </a:solidFill>
                <a:latin typeface="Poppins"/>
                <a:ea typeface="Poppins"/>
                <a:cs typeface="Poppins"/>
                <a:sym typeface="Poppins"/>
              </a:rPr>
              <a:t>Describe the key concepts from this unit. How does the VEX AIM robot navigate diagonal paths? What block coding commands did you use to control direction and movement angles?</a:t>
            </a:r>
          </a:p>
          <a:p>
            <a:pPr marL="0" lvl="0" indent="0" algn="just">
              <a:lnSpc>
                <a:spcPts val="1827"/>
              </a:lnSpc>
            </a:pPr>
            <a:r>
              <a:rPr lang="en-US" sz="1600">
                <a:solidFill>
                  <a:srgbClr val="333446"/>
                </a:solidFill>
                <a:latin typeface="Poppins"/>
                <a:ea typeface="Poppins"/>
                <a:cs typeface="Poppins"/>
                <a:sym typeface="Poppins"/>
              </a:rPr>
              <a:t>KEY VOCABULARY</a:t>
            </a:r>
          </a:p>
          <a:p>
            <a:pPr marL="0" lvl="0" indent="0" algn="just">
              <a:lnSpc>
                <a:spcPts val="1827"/>
              </a:lnSpc>
            </a:pPr>
            <a:r>
              <a:rPr lang="en-US" sz="1600">
                <a:solidFill>
                  <a:srgbClr val="333446"/>
                </a:solidFill>
                <a:latin typeface="Poppins"/>
                <a:ea typeface="Poppins"/>
                <a:cs typeface="Poppins"/>
                <a:sym typeface="Poppins"/>
              </a:rPr>
              <a:t>• Diagonal movement:</a:t>
            </a:r>
          </a:p>
          <a:p>
            <a:pPr marL="0" lvl="0" indent="0" algn="just">
              <a:lnSpc>
                <a:spcPts val="1827"/>
              </a:lnSpc>
            </a:pPr>
            <a:r>
              <a:rPr lang="en-US" sz="1600">
                <a:solidFill>
                  <a:srgbClr val="333446"/>
                </a:solidFill>
                <a:latin typeface="Poppins"/>
                <a:ea typeface="Poppins"/>
                <a:cs typeface="Poppins"/>
                <a:sym typeface="Poppins"/>
              </a:rPr>
              <a:t>• Heading/direction block:</a:t>
            </a:r>
          </a:p>
          <a:p>
            <a:pPr marL="0" lvl="0" indent="0" algn="just">
              <a:lnSpc>
                <a:spcPts val="1827"/>
              </a:lnSpc>
            </a:pPr>
            <a:r>
              <a:rPr lang="en-US" sz="1600">
                <a:solidFill>
                  <a:srgbClr val="333446"/>
                </a:solidFill>
                <a:latin typeface="Poppins"/>
                <a:ea typeface="Poppins"/>
                <a:cs typeface="Poppins"/>
                <a:sym typeface="Poppins"/>
              </a:rPr>
              <a:t>• Angle/degree:</a:t>
            </a:r>
          </a:p>
          <a:p>
            <a:pPr marL="0" lvl="0" indent="0" algn="just">
              <a:lnSpc>
                <a:spcPts val="1827"/>
              </a:lnSpc>
            </a:pPr>
            <a:r>
              <a:rPr lang="en-US" sz="1600">
                <a:solidFill>
                  <a:srgbClr val="333446"/>
                </a:solidFill>
                <a:latin typeface="Poppins"/>
                <a:ea typeface="Poppins"/>
                <a:cs typeface="Poppins"/>
                <a:sym typeface="Poppins"/>
              </a:rPr>
              <a:t>• Path planning:</a:t>
            </a:r>
          </a:p>
          <a:p>
            <a:pPr marL="0" lvl="0" indent="0" algn="just">
              <a:lnSpc>
                <a:spcPts val="1827"/>
              </a:lnSpc>
            </a:pPr>
            <a:r>
              <a:rPr lang="en-US" sz="1600">
                <a:solidFill>
                  <a:srgbClr val="333446"/>
                </a:solidFill>
                <a:latin typeface="Poppins"/>
                <a:ea typeface="Poppins"/>
                <a:cs typeface="Poppins"/>
                <a:sym typeface="Poppins"/>
              </a:rPr>
              <a:t>• Coordinate navigation:</a:t>
            </a:r>
          </a:p>
        </p:txBody>
      </p:sp>
      <p:sp>
        <p:nvSpPr>
          <p:cNvPr id="5" name="TextBox 5"/>
          <p:cNvSpPr txBox="1"/>
          <p:nvPr/>
        </p:nvSpPr>
        <p:spPr>
          <a:xfrm>
            <a:off x="797039" y="5677945"/>
            <a:ext cx="7868063" cy="1384995"/>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CODE / PROGRAMMING NOTES</a:t>
            </a:r>
          </a:p>
          <a:p>
            <a:pPr marL="0" lvl="0" indent="0" algn="just">
              <a:lnSpc>
                <a:spcPts val="1827"/>
              </a:lnSpc>
            </a:pPr>
            <a:r>
              <a:rPr lang="en-US" sz="1600">
                <a:solidFill>
                  <a:srgbClr val="333446"/>
                </a:solidFill>
                <a:latin typeface="Poppins"/>
                <a:ea typeface="Poppins"/>
                <a:cs typeface="Poppins"/>
                <a:sym typeface="Poppins"/>
              </a:rPr>
              <a:t>Sketch or describe your block code sequence for diagonal movement. What blocks did you combine? What values did you use for angles or headings?</a:t>
            </a:r>
          </a:p>
          <a:p>
            <a:pPr marL="0" lvl="0" indent="0" algn="just">
              <a:lnSpc>
                <a:spcPts val="1827"/>
              </a:lnSpc>
            </a:pPr>
            <a:r>
              <a:rPr lang="en-US" sz="1600">
                <a:solidFill>
                  <a:srgbClr val="333446"/>
                </a:solidFill>
                <a:latin typeface="Poppins"/>
                <a:ea typeface="Poppins"/>
                <a:cs typeface="Poppins"/>
                <a:sym typeface="Poppins"/>
              </a:rPr>
              <a:t>CHALLENGES &amp; SOLUTIONS</a:t>
            </a:r>
          </a:p>
          <a:p>
            <a:pPr marL="0" lvl="0" indent="0" algn="just">
              <a:lnSpc>
                <a:spcPts val="1827"/>
              </a:lnSpc>
            </a:pPr>
            <a:r>
              <a:rPr lang="en-US" sz="1600">
                <a:solidFill>
                  <a:srgbClr val="333446"/>
                </a:solidFill>
                <a:latin typeface="Poppins"/>
                <a:ea typeface="Poppins"/>
                <a:cs typeface="Poppins"/>
                <a:sym typeface="Poppins"/>
              </a:rPr>
              <a:t>What difficulties did you face when coding diagonal paths? How did you solve them?</a:t>
            </a:r>
          </a:p>
        </p:txBody>
      </p:sp>
      <p:sp>
        <p:nvSpPr>
          <p:cNvPr id="6" name="TextBox 6"/>
          <p:cNvSpPr txBox="1"/>
          <p:nvPr/>
        </p:nvSpPr>
        <p:spPr>
          <a:xfrm>
            <a:off x="10419937" y="5351623"/>
            <a:ext cx="7868063" cy="919343"/>
          </a:xfrm>
          <a:prstGeom prst="rect">
            <a:avLst/>
          </a:prstGeom>
        </p:spPr>
        <p:txBody>
          <a:bodyPr lIns="0" tIns="0" rIns="0" bIns="0" rtlCol="0" anchor="t">
            <a:spAutoFit/>
          </a:bodyPr>
          <a:lstStyle/>
          <a:p>
            <a:pPr marL="0" lvl="0" indent="0" algn="just">
              <a:lnSpc>
                <a:spcPts val="1827"/>
              </a:lnSpc>
            </a:pPr>
            <a:r>
              <a:rPr lang="en-US" sz="1600" dirty="0">
                <a:solidFill>
                  <a:srgbClr val="333446"/>
                </a:solidFill>
                <a:latin typeface="Poppins"/>
                <a:ea typeface="Poppins"/>
                <a:cs typeface="Poppins"/>
                <a:sym typeface="Poppins"/>
              </a:rPr>
              <a:t>REFLECTION</a:t>
            </a:r>
          </a:p>
          <a:p>
            <a:pPr marL="0" lvl="0" indent="0" algn="just">
              <a:lnSpc>
                <a:spcPts val="1827"/>
              </a:lnSpc>
            </a:pPr>
            <a:r>
              <a:rPr lang="en-US" sz="1600" dirty="0">
                <a:solidFill>
                  <a:srgbClr val="333446"/>
                </a:solidFill>
                <a:latin typeface="Poppins"/>
                <a:ea typeface="Poppins"/>
                <a:cs typeface="Poppins"/>
                <a:sym typeface="Poppins"/>
              </a:rPr>
              <a:t>• What surprised you about navigating diagonal paths?</a:t>
            </a:r>
          </a:p>
          <a:p>
            <a:pPr marL="0" lvl="0" indent="0" algn="just">
              <a:lnSpc>
                <a:spcPts val="1827"/>
              </a:lnSpc>
            </a:pPr>
            <a:r>
              <a:rPr lang="en-US" sz="1600" dirty="0">
                <a:solidFill>
                  <a:srgbClr val="333446"/>
                </a:solidFill>
                <a:latin typeface="Poppins"/>
                <a:ea typeface="Poppins"/>
                <a:cs typeface="Poppins"/>
                <a:sym typeface="Poppins"/>
              </a:rPr>
              <a:t>• How did block coding help you plan the </a:t>
            </a:r>
            <a:r>
              <a:rPr lang="en-US" dirty="0">
                <a:solidFill>
                  <a:srgbClr val="333446"/>
                </a:solidFill>
                <a:latin typeface="Poppins"/>
                <a:ea typeface="Poppins"/>
                <a:cs typeface="Poppins"/>
                <a:sym typeface="Poppins"/>
              </a:rPr>
              <a:t>robot's</a:t>
            </a:r>
            <a:r>
              <a:rPr lang="en-US" sz="1600" dirty="0">
                <a:solidFill>
                  <a:srgbClr val="333446"/>
                </a:solidFill>
                <a:latin typeface="Poppins"/>
                <a:ea typeface="Poppins"/>
                <a:cs typeface="Poppins"/>
                <a:sym typeface="Poppins"/>
              </a:rPr>
              <a:t> route?</a:t>
            </a:r>
          </a:p>
          <a:p>
            <a:pPr marL="0" lvl="0" indent="0" algn="just">
              <a:lnSpc>
                <a:spcPts val="1827"/>
              </a:lnSpc>
            </a:pPr>
            <a:r>
              <a:rPr lang="en-US" sz="1600" dirty="0">
                <a:solidFill>
                  <a:srgbClr val="333446"/>
                </a:solidFill>
                <a:latin typeface="Poppins"/>
                <a:ea typeface="Poppins"/>
                <a:cs typeface="Poppins"/>
                <a:sym typeface="Poppins"/>
              </a:rPr>
              <a:t>• What would you change or improve in your code next time?</a:t>
            </a:r>
          </a:p>
        </p:txBody>
      </p:sp>
      <p:pic>
        <p:nvPicPr>
          <p:cNvPr id="8" name="Picture 7">
            <a:extLst>
              <a:ext uri="{FF2B5EF4-FFF2-40B4-BE49-F238E27FC236}">
                <a16:creationId xmlns:a16="http://schemas.microsoft.com/office/drawing/2014/main" id="{6C2ECF0F-8151-7F12-F24C-719090ABAA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7277100"/>
            <a:ext cx="4982270" cy="2562583"/>
          </a:xfrm>
          <a:prstGeom prst="rect">
            <a:avLst/>
          </a:prstGeom>
        </p:spPr>
      </p:pic>
      <p:sp>
        <p:nvSpPr>
          <p:cNvPr id="9" name="TextBox 8">
            <a:extLst>
              <a:ext uri="{FF2B5EF4-FFF2-40B4-BE49-F238E27FC236}">
                <a16:creationId xmlns:a16="http://schemas.microsoft.com/office/drawing/2014/main" id="{FFA372EC-088B-A939-3ECD-E529BF4DFBD8}"/>
              </a:ext>
            </a:extLst>
          </p:cNvPr>
          <p:cNvSpPr txBox="1"/>
          <p:nvPr/>
        </p:nvSpPr>
        <p:spPr>
          <a:xfrm>
            <a:off x="3100735" y="7734300"/>
            <a:ext cx="2080865" cy="369332"/>
          </a:xfrm>
          <a:prstGeom prst="rect">
            <a:avLst/>
          </a:prstGeom>
          <a:noFill/>
        </p:spPr>
        <p:txBody>
          <a:bodyPr wrap="square" rtlCol="0">
            <a:spAutoFit/>
          </a:bodyPr>
          <a:lstStyle/>
          <a:p>
            <a:r>
              <a:rPr lang="en-US" dirty="0">
                <a:highlight>
                  <a:srgbClr val="FFFF00"/>
                </a:highlight>
              </a:rPr>
              <a:t>Moving on an angle</a:t>
            </a:r>
            <a:endParaRPr lang="en-AU" dirty="0">
              <a:highlight>
                <a:srgbClr val="FFFF00"/>
              </a:highlight>
            </a:endParaRPr>
          </a:p>
        </p:txBody>
      </p:sp>
      <p:sp>
        <p:nvSpPr>
          <p:cNvPr id="10" name="TextBox 9">
            <a:extLst>
              <a:ext uri="{FF2B5EF4-FFF2-40B4-BE49-F238E27FC236}">
                <a16:creationId xmlns:a16="http://schemas.microsoft.com/office/drawing/2014/main" id="{45BF4C57-8562-8973-1C91-3277033C926A}"/>
              </a:ext>
            </a:extLst>
          </p:cNvPr>
          <p:cNvSpPr txBox="1"/>
          <p:nvPr/>
        </p:nvSpPr>
        <p:spPr>
          <a:xfrm>
            <a:off x="10419937" y="7062940"/>
            <a:ext cx="5505863" cy="1754326"/>
          </a:xfrm>
          <a:prstGeom prst="rect">
            <a:avLst/>
          </a:prstGeom>
          <a:noFill/>
        </p:spPr>
        <p:txBody>
          <a:bodyPr wrap="square" rtlCol="0">
            <a:spAutoFit/>
          </a:bodyPr>
          <a:lstStyle/>
          <a:p>
            <a:r>
              <a:rPr lang="en-US" dirty="0">
                <a:highlight>
                  <a:srgbClr val="FFFF00"/>
                </a:highlight>
              </a:rPr>
              <a:t>I was surprised it wasn’t too hard to code.</a:t>
            </a:r>
          </a:p>
          <a:p>
            <a:endParaRPr lang="en-US" dirty="0">
              <a:highlight>
                <a:srgbClr val="FFFF00"/>
              </a:highlight>
            </a:endParaRPr>
          </a:p>
          <a:p>
            <a:r>
              <a:rPr lang="en-US" dirty="0">
                <a:highlight>
                  <a:srgbClr val="FFFF00"/>
                </a:highlight>
              </a:rPr>
              <a:t>It helped me since it was easy to understand, and explains it well.</a:t>
            </a:r>
          </a:p>
          <a:p>
            <a:endParaRPr lang="en-US" dirty="0">
              <a:highlight>
                <a:srgbClr val="FFFF00"/>
              </a:highlight>
            </a:endParaRPr>
          </a:p>
          <a:p>
            <a:r>
              <a:rPr lang="en-US" dirty="0">
                <a:highlight>
                  <a:srgbClr val="FFFF00"/>
                </a:highlight>
              </a:rPr>
              <a:t>I would make it move more times on an angle.</a:t>
            </a:r>
            <a:endParaRPr lang="en-AU" dirty="0">
              <a:highlight>
                <a:srgbClr val="FFFF00"/>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967623" y="0"/>
            <a:ext cx="8320377" cy="3702568"/>
          </a:xfrm>
          <a:custGeom>
            <a:avLst/>
            <a:gdLst/>
            <a:ahLst/>
            <a:cxnLst/>
            <a:rect l="l" t="t" r="r" b="b"/>
            <a:pathLst>
              <a:path w="8320377" h="3702568">
                <a:moveTo>
                  <a:pt x="0" y="0"/>
                </a:moveTo>
                <a:lnTo>
                  <a:pt x="8320377" y="0"/>
                </a:lnTo>
                <a:lnTo>
                  <a:pt x="8320377" y="3702568"/>
                </a:lnTo>
                <a:lnTo>
                  <a:pt x="0" y="3702568"/>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61925"/>
            <a:ext cx="9462140" cy="1000028"/>
          </a:xfrm>
          <a:prstGeom prst="rect">
            <a:avLst/>
          </a:prstGeom>
        </p:spPr>
        <p:txBody>
          <a:bodyPr lIns="0" tIns="0" rIns="0" bIns="0" rtlCol="0" anchor="t">
            <a:spAutoFit/>
          </a:bodyPr>
          <a:lstStyle/>
          <a:p>
            <a:pPr marL="0" lvl="0" indent="0" algn="ctr">
              <a:lnSpc>
                <a:spcPts val="7718"/>
              </a:lnSpc>
              <a:spcBef>
                <a:spcPct val="0"/>
              </a:spcBef>
            </a:pPr>
            <a:r>
              <a:rPr lang="en-US" sz="5513">
                <a:solidFill>
                  <a:srgbClr val="333446"/>
                </a:solidFill>
                <a:latin typeface="Poppins Light"/>
                <a:ea typeface="Poppins Light"/>
                <a:cs typeface="Poppins Light"/>
                <a:sym typeface="Poppins Light"/>
              </a:rPr>
              <a:t>UNIT 5 – TRANSPORT CARGO</a:t>
            </a:r>
          </a:p>
        </p:txBody>
      </p:sp>
      <p:sp>
        <p:nvSpPr>
          <p:cNvPr id="4" name="TextBox 4"/>
          <p:cNvSpPr txBox="1"/>
          <p:nvPr/>
        </p:nvSpPr>
        <p:spPr>
          <a:xfrm>
            <a:off x="1028700" y="1940580"/>
            <a:ext cx="7868063" cy="2062343"/>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WHAT I LEARNED</a:t>
            </a:r>
          </a:p>
          <a:p>
            <a:pPr marL="0" lvl="0" indent="0" algn="just">
              <a:lnSpc>
                <a:spcPts val="1827"/>
              </a:lnSpc>
            </a:pPr>
            <a:r>
              <a:rPr lang="en-US" sz="1600">
                <a:solidFill>
                  <a:srgbClr val="333446"/>
                </a:solidFill>
                <a:latin typeface="Poppins"/>
                <a:ea typeface="Poppins"/>
                <a:cs typeface="Poppins"/>
                <a:sym typeface="Poppins"/>
              </a:rPr>
              <a:t>Describe what you discovered about using 'turn to heading' blocks to navigate the robot. How does the heading system work?</a:t>
            </a:r>
          </a:p>
          <a:p>
            <a:pPr marL="0" lvl="0" indent="0" algn="just">
              <a:lnSpc>
                <a:spcPts val="1827"/>
              </a:lnSpc>
            </a:pPr>
            <a:r>
              <a:rPr lang="en-US" sz="1600">
                <a:solidFill>
                  <a:srgbClr val="333446"/>
                </a:solidFill>
                <a:latin typeface="Poppins"/>
                <a:ea typeface="Poppins"/>
                <a:cs typeface="Poppins"/>
                <a:sym typeface="Poppins"/>
              </a:rPr>
              <a:t>KEY VOCABULARY</a:t>
            </a:r>
          </a:p>
          <a:p>
            <a:pPr marL="0" lvl="0" indent="0" algn="just">
              <a:lnSpc>
                <a:spcPts val="1827"/>
              </a:lnSpc>
            </a:pPr>
            <a:r>
              <a:rPr lang="en-US" sz="1600">
                <a:solidFill>
                  <a:srgbClr val="333446"/>
                </a:solidFill>
                <a:latin typeface="Poppins"/>
                <a:ea typeface="Poppins"/>
                <a:cs typeface="Poppins"/>
                <a:sym typeface="Poppins"/>
              </a:rPr>
              <a:t>• Turn to Heading</a:t>
            </a:r>
          </a:p>
          <a:p>
            <a:pPr marL="0" lvl="0" indent="0" algn="just">
              <a:lnSpc>
                <a:spcPts val="1827"/>
              </a:lnSpc>
            </a:pPr>
            <a:r>
              <a:rPr lang="en-US" sz="1600">
                <a:solidFill>
                  <a:srgbClr val="333446"/>
                </a:solidFill>
                <a:latin typeface="Poppins"/>
                <a:ea typeface="Poppins"/>
                <a:cs typeface="Poppins"/>
                <a:sym typeface="Poppins"/>
              </a:rPr>
              <a:t>• Absolute Heading</a:t>
            </a:r>
          </a:p>
          <a:p>
            <a:pPr marL="0" lvl="0" indent="0" algn="just">
              <a:lnSpc>
                <a:spcPts val="1827"/>
              </a:lnSpc>
            </a:pPr>
            <a:r>
              <a:rPr lang="en-US" sz="1600">
                <a:solidFill>
                  <a:srgbClr val="333446"/>
                </a:solidFill>
                <a:latin typeface="Poppins"/>
                <a:ea typeface="Poppins"/>
                <a:cs typeface="Poppins"/>
                <a:sym typeface="Poppins"/>
              </a:rPr>
              <a:t>• Degrees / Direction</a:t>
            </a:r>
          </a:p>
          <a:p>
            <a:pPr marL="0" lvl="0" indent="0" algn="just">
              <a:lnSpc>
                <a:spcPts val="1827"/>
              </a:lnSpc>
            </a:pPr>
            <a:r>
              <a:rPr lang="en-US" sz="1600">
                <a:solidFill>
                  <a:srgbClr val="333446"/>
                </a:solidFill>
                <a:latin typeface="Poppins"/>
                <a:ea typeface="Poppins"/>
                <a:cs typeface="Poppins"/>
                <a:sym typeface="Poppins"/>
              </a:rPr>
              <a:t>• Cargo / Payload</a:t>
            </a:r>
          </a:p>
          <a:p>
            <a:pPr marL="0" lvl="0" indent="0" algn="just">
              <a:lnSpc>
                <a:spcPts val="1827"/>
              </a:lnSpc>
            </a:pPr>
            <a:r>
              <a:rPr lang="en-US" sz="1600">
                <a:solidFill>
                  <a:srgbClr val="333446"/>
                </a:solidFill>
                <a:latin typeface="Poppins"/>
                <a:ea typeface="Poppins"/>
                <a:cs typeface="Poppins"/>
                <a:sym typeface="Poppins"/>
              </a:rPr>
              <a:t>• Navigation Path</a:t>
            </a:r>
          </a:p>
        </p:txBody>
      </p:sp>
      <p:sp>
        <p:nvSpPr>
          <p:cNvPr id="5" name="TextBox 5"/>
          <p:cNvSpPr txBox="1"/>
          <p:nvPr/>
        </p:nvSpPr>
        <p:spPr>
          <a:xfrm>
            <a:off x="1028700" y="5105400"/>
            <a:ext cx="7868063" cy="1147943"/>
          </a:xfrm>
          <a:prstGeom prst="rect">
            <a:avLst/>
          </a:prstGeom>
        </p:spPr>
        <p:txBody>
          <a:bodyPr lIns="0" tIns="0" rIns="0" bIns="0" rtlCol="0" anchor="t">
            <a:spAutoFit/>
          </a:bodyPr>
          <a:lstStyle/>
          <a:p>
            <a:pPr marL="0" lvl="0" indent="0" algn="just">
              <a:lnSpc>
                <a:spcPts val="1827"/>
              </a:lnSpc>
            </a:pPr>
            <a:r>
              <a:rPr lang="en-US" sz="1600">
                <a:solidFill>
                  <a:srgbClr val="333446"/>
                </a:solidFill>
                <a:latin typeface="Poppins"/>
                <a:ea typeface="Poppins"/>
                <a:cs typeface="Poppins"/>
                <a:sym typeface="Poppins"/>
              </a:rPr>
              <a:t>CODE / PROGRAMMING NOTES</a:t>
            </a:r>
          </a:p>
          <a:p>
            <a:pPr marL="0" lvl="0" indent="0" algn="just">
              <a:lnSpc>
                <a:spcPts val="1827"/>
              </a:lnSpc>
            </a:pPr>
            <a:r>
              <a:rPr lang="en-US" sz="1600">
                <a:solidFill>
                  <a:srgbClr val="333446"/>
                </a:solidFill>
                <a:latin typeface="Poppins"/>
                <a:ea typeface="Poppins"/>
                <a:cs typeface="Poppins"/>
                <a:sym typeface="Poppins"/>
              </a:rPr>
              <a:t>Sketch or describe your heading-based program below. What heading values did you use to transport cargo successfully?</a:t>
            </a:r>
          </a:p>
          <a:p>
            <a:pPr marL="0" lvl="0" indent="0" algn="just">
              <a:lnSpc>
                <a:spcPts val="1827"/>
              </a:lnSpc>
            </a:pPr>
            <a:r>
              <a:rPr lang="en-US" sz="1600">
                <a:solidFill>
                  <a:srgbClr val="333446"/>
                </a:solidFill>
                <a:latin typeface="Poppins"/>
                <a:ea typeface="Poppins"/>
                <a:cs typeface="Poppins"/>
                <a:sym typeface="Poppins"/>
              </a:rPr>
              <a:t>CHALLENGES &amp; SOLUTIONS</a:t>
            </a:r>
          </a:p>
          <a:p>
            <a:pPr marL="0" lvl="0" indent="0" algn="just">
              <a:lnSpc>
                <a:spcPts val="1827"/>
              </a:lnSpc>
            </a:pPr>
            <a:r>
              <a:rPr lang="en-US" sz="1600">
                <a:solidFill>
                  <a:srgbClr val="333446"/>
                </a:solidFill>
                <a:latin typeface="Poppins"/>
                <a:ea typeface="Poppins"/>
                <a:cs typeface="Poppins"/>
                <a:sym typeface="Poppins"/>
              </a:rPr>
              <a:t>What went wrong? How did you fix it?</a:t>
            </a:r>
          </a:p>
        </p:txBody>
      </p:sp>
      <p:sp>
        <p:nvSpPr>
          <p:cNvPr id="6" name="TextBox 6"/>
          <p:cNvSpPr txBox="1"/>
          <p:nvPr/>
        </p:nvSpPr>
        <p:spPr>
          <a:xfrm>
            <a:off x="9462140" y="7781618"/>
            <a:ext cx="7868063" cy="1384995"/>
          </a:xfrm>
          <a:prstGeom prst="rect">
            <a:avLst/>
          </a:prstGeom>
        </p:spPr>
        <p:txBody>
          <a:bodyPr lIns="0" tIns="0" rIns="0" bIns="0" rtlCol="0" anchor="t">
            <a:spAutoFit/>
          </a:bodyPr>
          <a:lstStyle/>
          <a:p>
            <a:pPr marL="0" lvl="0" indent="0" algn="just">
              <a:lnSpc>
                <a:spcPts val="1827"/>
              </a:lnSpc>
            </a:pPr>
            <a:r>
              <a:rPr lang="en-US" sz="1600" dirty="0">
                <a:solidFill>
                  <a:srgbClr val="333446"/>
                </a:solidFill>
                <a:latin typeface="Poppins"/>
                <a:ea typeface="Poppins"/>
                <a:cs typeface="Poppins"/>
                <a:sym typeface="Poppins"/>
              </a:rPr>
              <a:t>PROS &amp; CONS OF TURN TO HEADING</a:t>
            </a:r>
          </a:p>
          <a:p>
            <a:pPr marL="0" lvl="0" indent="0" algn="just">
              <a:lnSpc>
                <a:spcPts val="1827"/>
              </a:lnSpc>
            </a:pPr>
            <a:r>
              <a:rPr lang="en-US" sz="1600" dirty="0">
                <a:solidFill>
                  <a:srgbClr val="333446"/>
                </a:solidFill>
                <a:latin typeface="Poppins"/>
                <a:ea typeface="Poppins"/>
                <a:cs typeface="Poppins"/>
                <a:sym typeface="Poppins"/>
              </a:rPr>
              <a:t>Pros: </a:t>
            </a:r>
            <a:r>
              <a:rPr lang="en-US" sz="1600" dirty="0">
                <a:solidFill>
                  <a:srgbClr val="333446"/>
                </a:solidFill>
                <a:highlight>
                  <a:srgbClr val="FFFF00"/>
                </a:highlight>
                <a:latin typeface="Poppins"/>
                <a:ea typeface="Poppins"/>
                <a:cs typeface="Poppins"/>
                <a:sym typeface="Poppins"/>
              </a:rPr>
              <a:t>the route isn’t to hard </a:t>
            </a:r>
            <a:r>
              <a:rPr lang="en-US" sz="1600" dirty="0">
                <a:solidFill>
                  <a:srgbClr val="333446"/>
                </a:solidFill>
                <a:latin typeface="Poppins"/>
                <a:ea typeface="Poppins"/>
                <a:cs typeface="Poppins"/>
                <a:sym typeface="Poppins"/>
              </a:rPr>
              <a:t>________________________________</a:t>
            </a:r>
          </a:p>
          <a:p>
            <a:pPr marL="0" lvl="0" indent="0" algn="just">
              <a:lnSpc>
                <a:spcPts val="1827"/>
              </a:lnSpc>
            </a:pPr>
            <a:r>
              <a:rPr lang="en-US" sz="1600" dirty="0">
                <a:solidFill>
                  <a:srgbClr val="333446"/>
                </a:solidFill>
                <a:latin typeface="Poppins"/>
                <a:ea typeface="Poppins"/>
                <a:cs typeface="Poppins"/>
                <a:sym typeface="Poppins"/>
              </a:rPr>
              <a:t>Cons: </a:t>
            </a:r>
            <a:r>
              <a:rPr lang="en-US" sz="1600" dirty="0">
                <a:solidFill>
                  <a:srgbClr val="333446"/>
                </a:solidFill>
                <a:highlight>
                  <a:srgbClr val="FFFF00"/>
                </a:highlight>
                <a:latin typeface="Poppins"/>
                <a:ea typeface="Poppins"/>
                <a:cs typeface="Poppins"/>
                <a:sym typeface="Poppins"/>
              </a:rPr>
              <a:t>hard to connect </a:t>
            </a:r>
            <a:r>
              <a:rPr lang="en-US" sz="1600" dirty="0" err="1">
                <a:solidFill>
                  <a:srgbClr val="333446"/>
                </a:solidFill>
                <a:highlight>
                  <a:srgbClr val="FFFF00"/>
                </a:highlight>
                <a:latin typeface="Poppins"/>
                <a:ea typeface="Poppins"/>
                <a:cs typeface="Poppins"/>
                <a:sym typeface="Poppins"/>
              </a:rPr>
              <a:t>aimbot</a:t>
            </a:r>
            <a:r>
              <a:rPr lang="en-US" sz="1600" dirty="0">
                <a:solidFill>
                  <a:srgbClr val="333446"/>
                </a:solidFill>
                <a:latin typeface="Poppins"/>
                <a:ea typeface="Poppins"/>
                <a:cs typeface="Poppins"/>
                <a:sym typeface="Poppins"/>
              </a:rPr>
              <a:t>________________________________</a:t>
            </a:r>
          </a:p>
          <a:p>
            <a:pPr marL="0" lvl="0" indent="0" algn="just">
              <a:lnSpc>
                <a:spcPts val="1827"/>
              </a:lnSpc>
            </a:pPr>
            <a:r>
              <a:rPr lang="en-US" sz="1600" dirty="0">
                <a:solidFill>
                  <a:srgbClr val="333446"/>
                </a:solidFill>
                <a:latin typeface="Poppins"/>
                <a:ea typeface="Poppins"/>
                <a:cs typeface="Poppins"/>
                <a:sym typeface="Poppins"/>
              </a:rPr>
              <a:t>REFLECTION</a:t>
            </a:r>
          </a:p>
          <a:p>
            <a:pPr marL="0" lvl="0" indent="0" algn="just">
              <a:lnSpc>
                <a:spcPts val="1827"/>
              </a:lnSpc>
            </a:pPr>
            <a:r>
              <a:rPr lang="en-US" sz="1600" dirty="0">
                <a:solidFill>
                  <a:srgbClr val="333446"/>
                </a:solidFill>
                <a:latin typeface="Poppins"/>
                <a:ea typeface="Poppins"/>
                <a:cs typeface="Poppins"/>
                <a:sym typeface="Poppins"/>
              </a:rPr>
              <a:t>How did using headings make your program more precise? What would you improve?</a:t>
            </a:r>
          </a:p>
        </p:txBody>
      </p:sp>
      <p:pic>
        <p:nvPicPr>
          <p:cNvPr id="8" name="Picture 7">
            <a:extLst>
              <a:ext uri="{FF2B5EF4-FFF2-40B4-BE49-F238E27FC236}">
                <a16:creationId xmlns:a16="http://schemas.microsoft.com/office/drawing/2014/main" id="{C1AD90F3-68CB-16F5-DC1B-27F71D3CDB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7797" y="6537268"/>
            <a:ext cx="3262630" cy="3618304"/>
          </a:xfrm>
          <a:prstGeom prst="rect">
            <a:avLst/>
          </a:prstGeom>
        </p:spPr>
      </p:pic>
      <p:sp>
        <p:nvSpPr>
          <p:cNvPr id="7" name="TextBox 6">
            <a:extLst>
              <a:ext uri="{FF2B5EF4-FFF2-40B4-BE49-F238E27FC236}">
                <a16:creationId xmlns:a16="http://schemas.microsoft.com/office/drawing/2014/main" id="{8CBB3210-156E-F554-7A63-5BAE596CD07B}"/>
              </a:ext>
            </a:extLst>
          </p:cNvPr>
          <p:cNvSpPr txBox="1"/>
          <p:nvPr/>
        </p:nvSpPr>
        <p:spPr>
          <a:xfrm>
            <a:off x="4648200" y="6972300"/>
            <a:ext cx="2133600" cy="369332"/>
          </a:xfrm>
          <a:prstGeom prst="rect">
            <a:avLst/>
          </a:prstGeom>
          <a:noFill/>
        </p:spPr>
        <p:txBody>
          <a:bodyPr wrap="square" rtlCol="0">
            <a:spAutoFit/>
          </a:bodyPr>
          <a:lstStyle/>
          <a:p>
            <a:r>
              <a:rPr lang="en-AU" dirty="0">
                <a:highlight>
                  <a:srgbClr val="FFFF00"/>
                </a:highlight>
              </a:rPr>
              <a:t>Do this code x4</a:t>
            </a:r>
          </a:p>
        </p:txBody>
      </p:sp>
      <p:cxnSp>
        <p:nvCxnSpPr>
          <p:cNvPr id="10" name="Straight Arrow Connector 9">
            <a:extLst>
              <a:ext uri="{FF2B5EF4-FFF2-40B4-BE49-F238E27FC236}">
                <a16:creationId xmlns:a16="http://schemas.microsoft.com/office/drawing/2014/main" id="{4311BB74-CB5A-30C1-3ECC-B71F4742A7B7}"/>
              </a:ext>
            </a:extLst>
          </p:cNvPr>
          <p:cNvCxnSpPr/>
          <p:nvPr/>
        </p:nvCxnSpPr>
        <p:spPr>
          <a:xfrm flipH="1">
            <a:off x="3886200" y="7341632"/>
            <a:ext cx="685800" cy="316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394022" y="0"/>
            <a:ext cx="7893978" cy="3512820"/>
          </a:xfrm>
          <a:custGeom>
            <a:avLst/>
            <a:gdLst/>
            <a:ahLst/>
            <a:cxnLst/>
            <a:rect l="l" t="t" r="r" b="b"/>
            <a:pathLst>
              <a:path w="7893978" h="3512820">
                <a:moveTo>
                  <a:pt x="0" y="0"/>
                </a:moveTo>
                <a:lnTo>
                  <a:pt x="7893978" y="0"/>
                </a:lnTo>
                <a:lnTo>
                  <a:pt x="7893978" y="3512820"/>
                </a:lnTo>
                <a:lnTo>
                  <a:pt x="0" y="351282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0" y="-154311"/>
            <a:ext cx="11014881" cy="1910721"/>
          </a:xfrm>
          <a:prstGeom prst="rect">
            <a:avLst/>
          </a:prstGeom>
        </p:spPr>
        <p:txBody>
          <a:bodyPr lIns="0" tIns="0" rIns="0" bIns="0" rtlCol="0" anchor="t">
            <a:spAutoFit/>
          </a:bodyPr>
          <a:lstStyle/>
          <a:p>
            <a:pPr marL="0" lvl="0" indent="0" algn="ctr">
              <a:lnSpc>
                <a:spcPts val="7458"/>
              </a:lnSpc>
              <a:spcBef>
                <a:spcPct val="0"/>
              </a:spcBef>
            </a:pPr>
            <a:r>
              <a:rPr lang="en-US" sz="5327">
                <a:solidFill>
                  <a:srgbClr val="333446"/>
                </a:solidFill>
                <a:latin typeface="Poppins Light"/>
                <a:ea typeface="Poppins Light"/>
                <a:cs typeface="Poppins Light"/>
                <a:sym typeface="Poppins Light"/>
              </a:rPr>
              <a:t>UNIT 6 – FINDING &amp; TRANSPORTING CARGO</a:t>
            </a:r>
          </a:p>
        </p:txBody>
      </p:sp>
      <p:sp>
        <p:nvSpPr>
          <p:cNvPr id="4" name="TextBox 4"/>
          <p:cNvSpPr txBox="1"/>
          <p:nvPr/>
        </p:nvSpPr>
        <p:spPr>
          <a:xfrm>
            <a:off x="1028700" y="2242185"/>
            <a:ext cx="7868063" cy="2837059"/>
          </a:xfrm>
          <a:prstGeom prst="rect">
            <a:avLst/>
          </a:prstGeom>
        </p:spPr>
        <p:txBody>
          <a:bodyPr lIns="0" tIns="0" rIns="0" bIns="0" rtlCol="0" anchor="t">
            <a:spAutoFit/>
          </a:bodyPr>
          <a:lstStyle/>
          <a:p>
            <a:pPr marL="0" lvl="0" indent="0" algn="just">
              <a:lnSpc>
                <a:spcPts val="1679"/>
              </a:lnSpc>
            </a:pPr>
            <a:r>
              <a:rPr lang="en-US" sz="1600" dirty="0">
                <a:solidFill>
                  <a:srgbClr val="333446"/>
                </a:solidFill>
                <a:latin typeface="Poppins"/>
                <a:ea typeface="Poppins"/>
                <a:cs typeface="Poppins"/>
                <a:sym typeface="Poppins"/>
              </a:rPr>
              <a:t>WHAT I LEARNED</a:t>
            </a:r>
          </a:p>
          <a:p>
            <a:pPr marL="0" lvl="0" indent="0" algn="just">
              <a:lnSpc>
                <a:spcPts val="1679"/>
              </a:lnSpc>
            </a:pPr>
            <a:r>
              <a:rPr lang="en-US" sz="1600" dirty="0">
                <a:solidFill>
                  <a:srgbClr val="333446"/>
                </a:solidFill>
                <a:latin typeface="Poppins"/>
                <a:ea typeface="Poppins"/>
                <a:cs typeface="Poppins"/>
                <a:sym typeface="Poppins"/>
              </a:rPr>
              <a:t>Describe how the VEX AIM robot uses AI Vision to locate and transport cargo autonomously. What commands or blocks did you use to detect objects and navigate toward them? How did the robot decide when to pick up or move cargo?</a:t>
            </a:r>
          </a:p>
          <a:p>
            <a:pPr marL="0" lvl="0" indent="0" algn="just">
              <a:lnSpc>
                <a:spcPts val="1679"/>
              </a:lnSpc>
            </a:pPr>
            <a:r>
              <a:rPr lang="en-US" sz="1600" dirty="0">
                <a:solidFill>
                  <a:srgbClr val="333446"/>
                </a:solidFill>
                <a:latin typeface="Poppins"/>
                <a:ea typeface="Poppins"/>
                <a:cs typeface="Poppins"/>
                <a:sym typeface="Poppins"/>
              </a:rPr>
              <a:t>KEY VOCABULARY</a:t>
            </a:r>
          </a:p>
          <a:p>
            <a:pPr marL="0" lvl="0" indent="0" algn="just">
              <a:lnSpc>
                <a:spcPts val="1679"/>
              </a:lnSpc>
            </a:pPr>
            <a:r>
              <a:rPr lang="en-US" sz="1600" dirty="0">
                <a:solidFill>
                  <a:srgbClr val="333446"/>
                </a:solidFill>
                <a:latin typeface="Poppins"/>
                <a:ea typeface="Poppins"/>
                <a:cs typeface="Poppins"/>
                <a:sym typeface="Poppins"/>
              </a:rPr>
              <a:t>List 3–5 important terms (e.g., AI Vision sensor, autonomous navigation, object detection, pathfinding, cargo transport):</a:t>
            </a:r>
          </a:p>
          <a:p>
            <a:pPr marL="342900" lvl="0" indent="-342900" algn="just">
              <a:lnSpc>
                <a:spcPts val="1679"/>
              </a:lnSpc>
              <a:buAutoNum type="arabicPeriod"/>
            </a:pPr>
            <a:r>
              <a:rPr lang="en-US" sz="1600" dirty="0">
                <a:solidFill>
                  <a:srgbClr val="333446"/>
                </a:solidFill>
                <a:highlight>
                  <a:srgbClr val="FFFF00"/>
                </a:highlight>
                <a:latin typeface="Poppins"/>
                <a:ea typeface="Poppins"/>
                <a:cs typeface="Poppins"/>
                <a:sym typeface="Poppins"/>
              </a:rPr>
              <a:t>Ai vison</a:t>
            </a:r>
          </a:p>
          <a:p>
            <a:pPr marL="0" lvl="0" indent="0" algn="just">
              <a:lnSpc>
                <a:spcPts val="1679"/>
              </a:lnSpc>
            </a:pPr>
            <a:r>
              <a:rPr lang="en-US" sz="1600" dirty="0">
                <a:solidFill>
                  <a:srgbClr val="333446"/>
                </a:solidFill>
                <a:latin typeface="Poppins"/>
                <a:ea typeface="Poppins"/>
                <a:cs typeface="Poppins"/>
                <a:sym typeface="Poppins"/>
              </a:rPr>
              <a:t>2.   </a:t>
            </a:r>
            <a:r>
              <a:rPr lang="en-US" sz="1600" dirty="0">
                <a:solidFill>
                  <a:srgbClr val="333446"/>
                </a:solidFill>
                <a:highlight>
                  <a:srgbClr val="FFFF00"/>
                </a:highlight>
                <a:latin typeface="Poppins"/>
                <a:ea typeface="Poppins"/>
                <a:cs typeface="Poppins"/>
                <a:sym typeface="Poppins"/>
              </a:rPr>
              <a:t>Orange barrel</a:t>
            </a:r>
          </a:p>
          <a:p>
            <a:pPr marL="0" lvl="0" indent="0" algn="just">
              <a:lnSpc>
                <a:spcPts val="1679"/>
              </a:lnSpc>
            </a:pPr>
            <a:r>
              <a:rPr lang="en-US" sz="1600" dirty="0">
                <a:solidFill>
                  <a:srgbClr val="333446"/>
                </a:solidFill>
                <a:latin typeface="Poppins"/>
                <a:ea typeface="Poppins"/>
                <a:cs typeface="Poppins"/>
                <a:sym typeface="Poppins"/>
              </a:rPr>
              <a:t>3.   </a:t>
            </a:r>
            <a:r>
              <a:rPr lang="en-US" sz="1600" dirty="0">
                <a:solidFill>
                  <a:srgbClr val="333446"/>
                </a:solidFill>
                <a:highlight>
                  <a:srgbClr val="FFFF00"/>
                </a:highlight>
                <a:latin typeface="Poppins"/>
                <a:ea typeface="Poppins"/>
                <a:cs typeface="Poppins"/>
                <a:sym typeface="Poppins"/>
              </a:rPr>
              <a:t>sensor</a:t>
            </a:r>
          </a:p>
          <a:p>
            <a:pPr marL="0" lvl="0" indent="0" algn="just">
              <a:lnSpc>
                <a:spcPts val="1679"/>
              </a:lnSpc>
            </a:pPr>
            <a:r>
              <a:rPr lang="en-US" sz="1600" dirty="0">
                <a:solidFill>
                  <a:srgbClr val="333446"/>
                </a:solidFill>
                <a:latin typeface="Poppins"/>
                <a:ea typeface="Poppins"/>
                <a:cs typeface="Poppins"/>
                <a:sym typeface="Poppins"/>
              </a:rPr>
              <a:t>4.   </a:t>
            </a:r>
            <a:r>
              <a:rPr lang="en-US" sz="1600" dirty="0">
                <a:solidFill>
                  <a:srgbClr val="333446"/>
                </a:solidFill>
                <a:highlight>
                  <a:srgbClr val="FFFF00"/>
                </a:highlight>
                <a:latin typeface="Poppins"/>
                <a:ea typeface="Poppins"/>
                <a:cs typeface="Poppins"/>
                <a:sym typeface="Poppins"/>
              </a:rPr>
              <a:t>tag</a:t>
            </a:r>
          </a:p>
          <a:p>
            <a:pPr marL="0" lvl="0" indent="0" algn="just">
              <a:lnSpc>
                <a:spcPts val="1679"/>
              </a:lnSpc>
            </a:pPr>
            <a:r>
              <a:rPr lang="en-US" sz="1600" dirty="0">
                <a:solidFill>
                  <a:srgbClr val="333446"/>
                </a:solidFill>
                <a:latin typeface="Poppins"/>
                <a:ea typeface="Poppins"/>
                <a:cs typeface="Poppins"/>
                <a:sym typeface="Poppins"/>
              </a:rPr>
              <a:t>5.   </a:t>
            </a:r>
            <a:r>
              <a:rPr lang="en-US" sz="1600" dirty="0">
                <a:solidFill>
                  <a:srgbClr val="333446"/>
                </a:solidFill>
                <a:highlight>
                  <a:srgbClr val="FFFF00"/>
                </a:highlight>
                <a:latin typeface="Poppins"/>
                <a:ea typeface="Poppins"/>
                <a:cs typeface="Poppins"/>
                <a:sym typeface="Poppins"/>
              </a:rPr>
              <a:t>detect</a:t>
            </a:r>
          </a:p>
        </p:txBody>
      </p:sp>
      <p:sp>
        <p:nvSpPr>
          <p:cNvPr id="5" name="TextBox 5"/>
          <p:cNvSpPr txBox="1"/>
          <p:nvPr/>
        </p:nvSpPr>
        <p:spPr>
          <a:xfrm>
            <a:off x="1028700" y="5560076"/>
            <a:ext cx="7868063" cy="1303818"/>
          </a:xfrm>
          <a:prstGeom prst="rect">
            <a:avLst/>
          </a:prstGeom>
        </p:spPr>
        <p:txBody>
          <a:bodyPr lIns="0" tIns="0" rIns="0" bIns="0" rtlCol="0" anchor="t">
            <a:spAutoFit/>
          </a:bodyPr>
          <a:lstStyle/>
          <a:p>
            <a:pPr marL="0" lvl="0" indent="0" algn="just">
              <a:lnSpc>
                <a:spcPts val="1679"/>
              </a:lnSpc>
            </a:pPr>
            <a:r>
              <a:rPr lang="en-US" sz="1600">
                <a:solidFill>
                  <a:srgbClr val="333446"/>
                </a:solidFill>
                <a:latin typeface="Poppins"/>
                <a:ea typeface="Poppins"/>
                <a:cs typeface="Poppins"/>
                <a:sym typeface="Poppins"/>
              </a:rPr>
              <a:t>CODING STRATEGIES &amp; PROGRAM NOTES</a:t>
            </a:r>
          </a:p>
          <a:p>
            <a:pPr marL="0" lvl="0" indent="0" algn="just">
              <a:lnSpc>
                <a:spcPts val="1679"/>
              </a:lnSpc>
            </a:pPr>
            <a:r>
              <a:rPr lang="en-US" sz="1600">
                <a:solidFill>
                  <a:srgbClr val="333446"/>
                </a:solidFill>
                <a:latin typeface="Poppins"/>
                <a:ea typeface="Poppins"/>
                <a:cs typeface="Poppins"/>
                <a:sym typeface="Poppins"/>
              </a:rPr>
              <a:t>Sketch or describe your program logic below. How did you structure your code to find and transport cargo? What sensor inputs triggered each action?</a:t>
            </a:r>
          </a:p>
          <a:p>
            <a:pPr marL="0" lvl="0" indent="0" algn="just">
              <a:lnSpc>
                <a:spcPts val="1679"/>
              </a:lnSpc>
            </a:pPr>
            <a:r>
              <a:rPr lang="en-US" sz="1600">
                <a:solidFill>
                  <a:srgbClr val="333446"/>
                </a:solidFill>
                <a:latin typeface="Poppins"/>
                <a:ea typeface="Poppins"/>
                <a:cs typeface="Poppins"/>
                <a:sym typeface="Poppins"/>
              </a:rPr>
              <a:t>CHALLENGES &amp; SOLUTIONS</a:t>
            </a:r>
          </a:p>
          <a:p>
            <a:pPr marL="0" lvl="0" indent="0" algn="just">
              <a:lnSpc>
                <a:spcPts val="1679"/>
              </a:lnSpc>
            </a:pPr>
            <a:r>
              <a:rPr lang="en-US" sz="1600">
                <a:solidFill>
                  <a:srgbClr val="333446"/>
                </a:solidFill>
                <a:latin typeface="Poppins"/>
                <a:ea typeface="Poppins"/>
                <a:cs typeface="Poppins"/>
                <a:sym typeface="Poppins"/>
              </a:rPr>
              <a:t>What difficulties did you encounter with the AI Vision sensor or cargo transport? How did you solve them?</a:t>
            </a:r>
          </a:p>
        </p:txBody>
      </p:sp>
      <p:sp>
        <p:nvSpPr>
          <p:cNvPr id="6" name="TextBox 6"/>
          <p:cNvSpPr txBox="1"/>
          <p:nvPr/>
        </p:nvSpPr>
        <p:spPr>
          <a:xfrm>
            <a:off x="10194655" y="7548901"/>
            <a:ext cx="7868063" cy="1965025"/>
          </a:xfrm>
          <a:prstGeom prst="rect">
            <a:avLst/>
          </a:prstGeom>
        </p:spPr>
        <p:txBody>
          <a:bodyPr lIns="0" tIns="0" rIns="0" bIns="0" rtlCol="0" anchor="t">
            <a:spAutoFit/>
          </a:bodyPr>
          <a:lstStyle/>
          <a:p>
            <a:pPr marL="0" lvl="0" indent="0" algn="just">
              <a:lnSpc>
                <a:spcPts val="1679"/>
              </a:lnSpc>
            </a:pPr>
            <a:r>
              <a:rPr lang="en-US" sz="1600" dirty="0">
                <a:solidFill>
                  <a:srgbClr val="333446"/>
                </a:solidFill>
                <a:latin typeface="Poppins"/>
                <a:ea typeface="Poppins"/>
                <a:cs typeface="Poppins"/>
                <a:sym typeface="Poppins"/>
              </a:rPr>
              <a:t>REFLECTION QUESTIONS</a:t>
            </a:r>
          </a:p>
          <a:p>
            <a:pPr marL="0" lvl="0" indent="0" algn="just">
              <a:lnSpc>
                <a:spcPts val="1679"/>
              </a:lnSpc>
            </a:pPr>
            <a:r>
              <a:rPr lang="en-US" sz="1600" dirty="0">
                <a:solidFill>
                  <a:srgbClr val="333446"/>
                </a:solidFill>
                <a:latin typeface="Poppins"/>
                <a:ea typeface="Poppins"/>
                <a:cs typeface="Poppins"/>
                <a:sym typeface="Poppins"/>
              </a:rPr>
              <a:t>• How does autonomous navigation differ from manual control?</a:t>
            </a:r>
          </a:p>
          <a:p>
            <a:pPr marL="0" lvl="0" indent="0" algn="just">
              <a:lnSpc>
                <a:spcPts val="1679"/>
              </a:lnSpc>
            </a:pPr>
            <a:r>
              <a:rPr lang="en-US" sz="1600" dirty="0">
                <a:solidFill>
                  <a:srgbClr val="333446"/>
                </a:solidFill>
                <a:highlight>
                  <a:srgbClr val="FFFF00"/>
                </a:highlight>
                <a:latin typeface="Poppins"/>
                <a:ea typeface="Poppins"/>
                <a:cs typeface="Poppins"/>
                <a:sym typeface="Poppins"/>
              </a:rPr>
              <a:t>You don’t have to control it yourself.</a:t>
            </a:r>
          </a:p>
          <a:p>
            <a:pPr marL="0" lvl="0" indent="0" algn="just">
              <a:lnSpc>
                <a:spcPts val="1679"/>
              </a:lnSpc>
            </a:pPr>
            <a:r>
              <a:rPr lang="en-US" sz="1600" dirty="0">
                <a:solidFill>
                  <a:srgbClr val="333446"/>
                </a:solidFill>
                <a:latin typeface="Poppins"/>
                <a:ea typeface="Poppins"/>
                <a:cs typeface="Poppins"/>
                <a:sym typeface="Poppins"/>
              </a:rPr>
              <a:t>• What factors affected the AI Vision sensor's accuracy?</a:t>
            </a:r>
          </a:p>
          <a:p>
            <a:pPr marL="0" lvl="0" indent="0" algn="just">
              <a:lnSpc>
                <a:spcPts val="1679"/>
              </a:lnSpc>
            </a:pPr>
            <a:r>
              <a:rPr lang="en-US" sz="1600" dirty="0">
                <a:solidFill>
                  <a:srgbClr val="333446"/>
                </a:solidFill>
                <a:highlight>
                  <a:srgbClr val="FFFF00"/>
                </a:highlight>
                <a:latin typeface="Poppins"/>
                <a:ea typeface="Poppins"/>
                <a:cs typeface="Poppins"/>
                <a:sym typeface="Poppins"/>
              </a:rPr>
              <a:t>Nothing affected the accuracy.</a:t>
            </a:r>
          </a:p>
          <a:p>
            <a:pPr marL="0" lvl="0" indent="0" algn="just">
              <a:lnSpc>
                <a:spcPts val="1679"/>
              </a:lnSpc>
            </a:pPr>
            <a:r>
              <a:rPr lang="en-US" sz="1600" dirty="0">
                <a:solidFill>
                  <a:srgbClr val="333446"/>
                </a:solidFill>
                <a:latin typeface="Poppins"/>
                <a:ea typeface="Poppins"/>
                <a:cs typeface="Poppins"/>
                <a:sym typeface="Poppins"/>
              </a:rPr>
              <a:t>• What improvements would you make to your program?</a:t>
            </a:r>
          </a:p>
          <a:p>
            <a:pPr marL="0" lvl="0" indent="0" algn="just">
              <a:lnSpc>
                <a:spcPts val="1679"/>
              </a:lnSpc>
            </a:pPr>
            <a:r>
              <a:rPr lang="en-US" sz="1600" dirty="0">
                <a:solidFill>
                  <a:srgbClr val="333446"/>
                </a:solidFill>
                <a:highlight>
                  <a:srgbClr val="FFFF00"/>
                </a:highlight>
                <a:latin typeface="Poppins"/>
                <a:ea typeface="Poppins"/>
                <a:cs typeface="Poppins"/>
                <a:sym typeface="Poppins"/>
              </a:rPr>
              <a:t>I would make the code more advanced.</a:t>
            </a:r>
          </a:p>
          <a:p>
            <a:pPr marL="0" lvl="0" indent="0" algn="just">
              <a:lnSpc>
                <a:spcPts val="1679"/>
              </a:lnSpc>
            </a:pPr>
            <a:r>
              <a:rPr lang="en-US" sz="1600" dirty="0">
                <a:solidFill>
                  <a:srgbClr val="333446"/>
                </a:solidFill>
                <a:latin typeface="Poppins"/>
                <a:ea typeface="Poppins"/>
                <a:cs typeface="Poppins"/>
                <a:sym typeface="Poppins"/>
              </a:rPr>
              <a:t>• What did this unit teach you about real-world robotics?</a:t>
            </a:r>
          </a:p>
          <a:p>
            <a:pPr marL="0" lvl="0" indent="0" algn="just">
              <a:lnSpc>
                <a:spcPts val="1679"/>
              </a:lnSpc>
            </a:pPr>
            <a:r>
              <a:rPr lang="en-US" sz="1600" dirty="0">
                <a:solidFill>
                  <a:srgbClr val="333446"/>
                </a:solidFill>
                <a:highlight>
                  <a:srgbClr val="FFFF00"/>
                </a:highlight>
                <a:latin typeface="Poppins"/>
                <a:ea typeface="Poppins"/>
                <a:cs typeface="Poppins"/>
                <a:sym typeface="Poppins"/>
              </a:rPr>
              <a:t>It taught me about AI vision and sensors.</a:t>
            </a:r>
          </a:p>
        </p:txBody>
      </p:sp>
      <p:pic>
        <p:nvPicPr>
          <p:cNvPr id="8" name="Picture 7">
            <a:extLst>
              <a:ext uri="{FF2B5EF4-FFF2-40B4-BE49-F238E27FC236}">
                <a16:creationId xmlns:a16="http://schemas.microsoft.com/office/drawing/2014/main" id="{E8E5C88B-9A2E-B9BF-A79B-C647D84708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929" y="7163574"/>
            <a:ext cx="2327071" cy="2942274"/>
          </a:xfrm>
          <a:prstGeom prst="rect">
            <a:avLst/>
          </a:prstGeom>
        </p:spPr>
      </p:pic>
      <p:sp>
        <p:nvSpPr>
          <p:cNvPr id="9" name="TextBox 8">
            <a:extLst>
              <a:ext uri="{FF2B5EF4-FFF2-40B4-BE49-F238E27FC236}">
                <a16:creationId xmlns:a16="http://schemas.microsoft.com/office/drawing/2014/main" id="{94818C28-16B3-32AD-B037-016BE29D1B30}"/>
              </a:ext>
            </a:extLst>
          </p:cNvPr>
          <p:cNvSpPr txBox="1"/>
          <p:nvPr/>
        </p:nvSpPr>
        <p:spPr>
          <a:xfrm>
            <a:off x="3630727" y="7722474"/>
            <a:ext cx="2743200" cy="369332"/>
          </a:xfrm>
          <a:prstGeom prst="rect">
            <a:avLst/>
          </a:prstGeom>
          <a:noFill/>
        </p:spPr>
        <p:txBody>
          <a:bodyPr wrap="square" rtlCol="0">
            <a:spAutoFit/>
          </a:bodyPr>
          <a:lstStyle/>
          <a:p>
            <a:r>
              <a:rPr lang="en-AU" dirty="0">
                <a:highlight>
                  <a:srgbClr val="FFFF00"/>
                </a:highlight>
              </a:rPr>
              <a:t>Code for unit 6</a:t>
            </a:r>
          </a:p>
        </p:txBody>
      </p:sp>
      <p:cxnSp>
        <p:nvCxnSpPr>
          <p:cNvPr id="13" name="Straight Arrow Connector 12">
            <a:extLst>
              <a:ext uri="{FF2B5EF4-FFF2-40B4-BE49-F238E27FC236}">
                <a16:creationId xmlns:a16="http://schemas.microsoft.com/office/drawing/2014/main" id="{0661B123-AFB7-10ED-828E-735715758EDF}"/>
              </a:ext>
            </a:extLst>
          </p:cNvPr>
          <p:cNvCxnSpPr/>
          <p:nvPr/>
        </p:nvCxnSpPr>
        <p:spPr>
          <a:xfrm flipH="1">
            <a:off x="2971800" y="7907140"/>
            <a:ext cx="53340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0203461" y="0"/>
            <a:ext cx="8084539" cy="3597620"/>
          </a:xfrm>
          <a:custGeom>
            <a:avLst/>
            <a:gdLst/>
            <a:ahLst/>
            <a:cxnLst/>
            <a:rect l="l" t="t" r="r" b="b"/>
            <a:pathLst>
              <a:path w="8084539" h="3597620">
                <a:moveTo>
                  <a:pt x="0" y="0"/>
                </a:moveTo>
                <a:lnTo>
                  <a:pt x="8084539" y="0"/>
                </a:lnTo>
                <a:lnTo>
                  <a:pt x="8084539" y="3597620"/>
                </a:lnTo>
                <a:lnTo>
                  <a:pt x="0" y="359762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94016" y="27560"/>
            <a:ext cx="9737430" cy="1001140"/>
          </a:xfrm>
          <a:prstGeom prst="rect">
            <a:avLst/>
          </a:prstGeom>
        </p:spPr>
        <p:txBody>
          <a:bodyPr lIns="0" tIns="0" rIns="0" bIns="0" rtlCol="0" anchor="t">
            <a:spAutoFit/>
          </a:bodyPr>
          <a:lstStyle/>
          <a:p>
            <a:pPr marL="0" lvl="0" indent="0" algn="ctr">
              <a:lnSpc>
                <a:spcPts val="7718"/>
              </a:lnSpc>
              <a:spcBef>
                <a:spcPct val="0"/>
              </a:spcBef>
            </a:pPr>
            <a:r>
              <a:rPr lang="en-US" sz="5513">
                <a:solidFill>
                  <a:srgbClr val="333446"/>
                </a:solidFill>
                <a:latin typeface="Poppins Light"/>
                <a:ea typeface="Poppins Light"/>
                <a:cs typeface="Poppins Light"/>
                <a:sym typeface="Poppins Light"/>
              </a:rPr>
              <a:t>UNIT 7 – EXPLORING AI VISION</a:t>
            </a:r>
          </a:p>
        </p:txBody>
      </p:sp>
      <p:sp>
        <p:nvSpPr>
          <p:cNvPr id="4" name="TextBox 4"/>
          <p:cNvSpPr txBox="1"/>
          <p:nvPr/>
        </p:nvSpPr>
        <p:spPr>
          <a:xfrm>
            <a:off x="1028700" y="1760710"/>
            <a:ext cx="7868063" cy="2413866"/>
          </a:xfrm>
          <a:prstGeom prst="rect">
            <a:avLst/>
          </a:prstGeom>
        </p:spPr>
        <p:txBody>
          <a:bodyPr lIns="0" tIns="0" rIns="0" bIns="0" rtlCol="0" anchor="t">
            <a:spAutoFit/>
          </a:bodyPr>
          <a:lstStyle/>
          <a:p>
            <a:pPr marL="0" lvl="0" indent="0" algn="just">
              <a:lnSpc>
                <a:spcPts val="2073"/>
              </a:lnSpc>
            </a:pPr>
            <a:r>
              <a:rPr lang="en-US" sz="1600" dirty="0">
                <a:solidFill>
                  <a:srgbClr val="333446"/>
                </a:solidFill>
                <a:latin typeface="Poppins"/>
                <a:ea typeface="Poppins"/>
                <a:cs typeface="Poppins"/>
                <a:sym typeface="Poppins"/>
              </a:rPr>
              <a:t>WHAT I LEARNED</a:t>
            </a:r>
          </a:p>
          <a:p>
            <a:pPr marL="0" lvl="0" indent="0" algn="just">
              <a:lnSpc>
                <a:spcPts val="2073"/>
              </a:lnSpc>
            </a:pPr>
            <a:r>
              <a:rPr lang="en-US" sz="1600" dirty="0">
                <a:solidFill>
                  <a:srgbClr val="333446"/>
                </a:solidFill>
                <a:latin typeface="Poppins"/>
                <a:ea typeface="Poppins"/>
                <a:cs typeface="Poppins"/>
                <a:sym typeface="Poppins"/>
              </a:rPr>
              <a:t>Describe how the VEX AIM robot's AI Vision sensor works and what it can detect.</a:t>
            </a:r>
          </a:p>
          <a:p>
            <a:pPr marL="0" lvl="0" indent="0" algn="just">
              <a:lnSpc>
                <a:spcPts val="2073"/>
              </a:lnSpc>
            </a:pPr>
            <a:r>
              <a:rPr lang="en-US" sz="1600" dirty="0">
                <a:solidFill>
                  <a:srgbClr val="333446"/>
                </a:solidFill>
                <a:latin typeface="Poppins"/>
                <a:ea typeface="Poppins"/>
                <a:cs typeface="Poppins"/>
                <a:sym typeface="Poppins"/>
              </a:rPr>
              <a:t>KEY VOCABULARY</a:t>
            </a:r>
          </a:p>
          <a:p>
            <a:pPr marL="0" lvl="0" indent="0" algn="just">
              <a:lnSpc>
                <a:spcPts val="2073"/>
              </a:lnSpc>
            </a:pPr>
            <a:r>
              <a:rPr lang="en-US" sz="1600" dirty="0">
                <a:solidFill>
                  <a:srgbClr val="333446"/>
                </a:solidFill>
                <a:latin typeface="Poppins"/>
                <a:ea typeface="Poppins"/>
                <a:cs typeface="Poppins"/>
                <a:sym typeface="Poppins"/>
              </a:rPr>
              <a:t>• AI Vision Sensor</a:t>
            </a:r>
          </a:p>
          <a:p>
            <a:pPr marL="0" lvl="0" indent="0" algn="just">
              <a:lnSpc>
                <a:spcPts val="2073"/>
              </a:lnSpc>
            </a:pPr>
            <a:r>
              <a:rPr lang="en-US" sz="1600" dirty="0">
                <a:solidFill>
                  <a:srgbClr val="333446"/>
                </a:solidFill>
                <a:latin typeface="Poppins"/>
                <a:ea typeface="Poppins"/>
                <a:cs typeface="Poppins"/>
                <a:sym typeface="Poppins"/>
              </a:rPr>
              <a:t>• Light sensitivity</a:t>
            </a:r>
          </a:p>
          <a:p>
            <a:pPr marL="0" lvl="0" indent="0" algn="just">
              <a:lnSpc>
                <a:spcPts val="2073"/>
              </a:lnSpc>
            </a:pPr>
            <a:r>
              <a:rPr lang="en-US" sz="1600" dirty="0">
                <a:solidFill>
                  <a:srgbClr val="333446"/>
                </a:solidFill>
                <a:latin typeface="Poppins"/>
                <a:ea typeface="Poppins"/>
                <a:cs typeface="Poppins"/>
                <a:sym typeface="Poppins"/>
              </a:rPr>
              <a:t>• Detection threshold</a:t>
            </a:r>
          </a:p>
          <a:p>
            <a:pPr marL="0" lvl="0" indent="0" algn="just">
              <a:lnSpc>
                <a:spcPts val="2073"/>
              </a:lnSpc>
            </a:pPr>
            <a:r>
              <a:rPr lang="en-US" sz="1600" dirty="0">
                <a:solidFill>
                  <a:srgbClr val="333446"/>
                </a:solidFill>
                <a:latin typeface="Poppins"/>
                <a:ea typeface="Poppins"/>
                <a:cs typeface="Poppins"/>
                <a:sym typeface="Poppins"/>
              </a:rPr>
              <a:t>• Environmental variable</a:t>
            </a:r>
          </a:p>
          <a:p>
            <a:pPr marL="0" lvl="0" indent="0" algn="just">
              <a:lnSpc>
                <a:spcPts val="2073"/>
              </a:lnSpc>
            </a:pPr>
            <a:r>
              <a:rPr lang="en-US" sz="1600" dirty="0">
                <a:solidFill>
                  <a:srgbClr val="333446"/>
                </a:solidFill>
                <a:latin typeface="Poppins"/>
                <a:ea typeface="Poppins"/>
                <a:cs typeface="Poppins"/>
                <a:sym typeface="Poppins"/>
              </a:rPr>
              <a:t>• Sensor calibration</a:t>
            </a:r>
          </a:p>
        </p:txBody>
      </p:sp>
      <p:sp>
        <p:nvSpPr>
          <p:cNvPr id="5" name="TextBox 5"/>
          <p:cNvSpPr txBox="1"/>
          <p:nvPr/>
        </p:nvSpPr>
        <p:spPr>
          <a:xfrm>
            <a:off x="1099603" y="5105400"/>
            <a:ext cx="7868063" cy="528734"/>
          </a:xfrm>
          <a:prstGeom prst="rect">
            <a:avLst/>
          </a:prstGeom>
        </p:spPr>
        <p:txBody>
          <a:bodyPr lIns="0" tIns="0" rIns="0" bIns="0" rtlCol="0" anchor="t">
            <a:spAutoFit/>
          </a:bodyPr>
          <a:lstStyle/>
          <a:p>
            <a:pPr marL="0" lvl="0" indent="0" algn="just">
              <a:lnSpc>
                <a:spcPts val="2073"/>
              </a:lnSpc>
            </a:pPr>
            <a:r>
              <a:rPr lang="en-US" sz="1600">
                <a:solidFill>
                  <a:srgbClr val="333446"/>
                </a:solidFill>
                <a:latin typeface="Poppins"/>
                <a:ea typeface="Poppins"/>
                <a:cs typeface="Poppins"/>
                <a:sym typeface="Poppins"/>
              </a:rPr>
              <a:t>INVESTIGATION STEPS</a:t>
            </a:r>
          </a:p>
          <a:p>
            <a:pPr marL="0" lvl="0" indent="0" algn="just">
              <a:lnSpc>
                <a:spcPts val="2073"/>
              </a:lnSpc>
            </a:pPr>
            <a:r>
              <a:rPr lang="en-US" sz="1600">
                <a:solidFill>
                  <a:srgbClr val="333446"/>
                </a:solidFill>
                <a:latin typeface="Poppins"/>
                <a:ea typeface="Poppins"/>
                <a:cs typeface="Poppins"/>
                <a:sym typeface="Poppins"/>
              </a:rPr>
              <a:t>Document your steps here:</a:t>
            </a:r>
          </a:p>
        </p:txBody>
      </p:sp>
      <p:sp>
        <p:nvSpPr>
          <p:cNvPr id="6" name="TextBox 6"/>
          <p:cNvSpPr txBox="1"/>
          <p:nvPr/>
        </p:nvSpPr>
        <p:spPr>
          <a:xfrm>
            <a:off x="10203461" y="5105400"/>
            <a:ext cx="7868063" cy="1875257"/>
          </a:xfrm>
          <a:prstGeom prst="rect">
            <a:avLst/>
          </a:prstGeom>
        </p:spPr>
        <p:txBody>
          <a:bodyPr lIns="0" tIns="0" rIns="0" bIns="0" rtlCol="0" anchor="t">
            <a:spAutoFit/>
          </a:bodyPr>
          <a:lstStyle/>
          <a:p>
            <a:pPr marL="0" lvl="0" indent="0" algn="just">
              <a:lnSpc>
                <a:spcPts val="2073"/>
              </a:lnSpc>
            </a:pPr>
            <a:r>
              <a:rPr lang="en-US" sz="1600" dirty="0">
                <a:solidFill>
                  <a:srgbClr val="333446"/>
                </a:solidFill>
                <a:latin typeface="Poppins"/>
                <a:ea typeface="Poppins"/>
                <a:cs typeface="Poppins"/>
                <a:sym typeface="Poppins"/>
              </a:rPr>
              <a:t>FINDINGS &amp; REFLECTION</a:t>
            </a:r>
          </a:p>
          <a:p>
            <a:pPr marL="0" lvl="0" indent="0" algn="just">
              <a:lnSpc>
                <a:spcPts val="2073"/>
              </a:lnSpc>
            </a:pPr>
            <a:r>
              <a:rPr lang="en-US" sz="1600" dirty="0">
                <a:solidFill>
                  <a:srgbClr val="333446"/>
                </a:solidFill>
                <a:latin typeface="Poppins"/>
                <a:ea typeface="Poppins"/>
                <a:cs typeface="Poppins"/>
                <a:sym typeface="Poppins"/>
              </a:rPr>
              <a:t>How did light and other factors impact the AI Vision sensor?</a:t>
            </a:r>
          </a:p>
          <a:p>
            <a:pPr marL="0" lvl="0" indent="0" algn="just">
              <a:lnSpc>
                <a:spcPts val="2073"/>
              </a:lnSpc>
            </a:pPr>
            <a:r>
              <a:rPr lang="en-US" sz="1600" dirty="0">
                <a:solidFill>
                  <a:srgbClr val="333446"/>
                </a:solidFill>
                <a:highlight>
                  <a:srgbClr val="FFFF00"/>
                </a:highlight>
                <a:latin typeface="Poppins"/>
                <a:ea typeface="Poppins"/>
                <a:cs typeface="Poppins"/>
                <a:sym typeface="Poppins"/>
              </a:rPr>
              <a:t>The light didn’t impact it, but people in the background did</a:t>
            </a:r>
          </a:p>
          <a:p>
            <a:pPr marL="0" lvl="0" indent="0" algn="just">
              <a:lnSpc>
                <a:spcPts val="2073"/>
              </a:lnSpc>
            </a:pPr>
            <a:r>
              <a:rPr lang="en-US" sz="1600" dirty="0">
                <a:solidFill>
                  <a:srgbClr val="333446"/>
                </a:solidFill>
                <a:latin typeface="Poppins"/>
                <a:ea typeface="Poppins"/>
                <a:cs typeface="Poppins"/>
                <a:sym typeface="Poppins"/>
              </a:rPr>
              <a:t>What changes improved sensor accuracy?</a:t>
            </a:r>
          </a:p>
          <a:p>
            <a:pPr marL="0" lvl="0" indent="0" algn="just">
              <a:lnSpc>
                <a:spcPts val="2073"/>
              </a:lnSpc>
            </a:pPr>
            <a:r>
              <a:rPr lang="en-US" sz="1600" dirty="0">
                <a:solidFill>
                  <a:srgbClr val="333446"/>
                </a:solidFill>
                <a:highlight>
                  <a:srgbClr val="FFFF00"/>
                </a:highlight>
                <a:latin typeface="Poppins"/>
                <a:ea typeface="Poppins"/>
                <a:cs typeface="Poppins"/>
                <a:sym typeface="Poppins"/>
              </a:rPr>
              <a:t>Placing the ball in front of the camera</a:t>
            </a:r>
          </a:p>
          <a:p>
            <a:pPr marL="0" lvl="0" indent="0" algn="just">
              <a:lnSpc>
                <a:spcPts val="2073"/>
              </a:lnSpc>
            </a:pPr>
            <a:r>
              <a:rPr lang="en-US" sz="1600" dirty="0">
                <a:solidFill>
                  <a:srgbClr val="333446"/>
                </a:solidFill>
                <a:latin typeface="Poppins"/>
                <a:ea typeface="Poppins"/>
                <a:cs typeface="Poppins"/>
                <a:sym typeface="Poppins"/>
              </a:rPr>
              <a:t>What would you test next time?</a:t>
            </a:r>
          </a:p>
          <a:p>
            <a:pPr marL="0" lvl="0" indent="0" algn="just">
              <a:lnSpc>
                <a:spcPts val="2073"/>
              </a:lnSpc>
            </a:pPr>
            <a:r>
              <a:rPr lang="en-US" sz="1600" dirty="0">
                <a:solidFill>
                  <a:srgbClr val="333446"/>
                </a:solidFill>
                <a:highlight>
                  <a:srgbClr val="FFFF00"/>
                </a:highlight>
                <a:latin typeface="Poppins"/>
                <a:ea typeface="Poppins"/>
                <a:cs typeface="Poppins"/>
                <a:sym typeface="Poppins"/>
              </a:rPr>
              <a:t>Finding barrels and collecting them </a:t>
            </a:r>
          </a:p>
        </p:txBody>
      </p:sp>
      <p:pic>
        <p:nvPicPr>
          <p:cNvPr id="8" name="Picture 7">
            <a:extLst>
              <a:ext uri="{FF2B5EF4-FFF2-40B4-BE49-F238E27FC236}">
                <a16:creationId xmlns:a16="http://schemas.microsoft.com/office/drawing/2014/main" id="{81DEE746-9FF2-BAC5-E42F-19A3607261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00" y="5634134"/>
            <a:ext cx="4972744" cy="4391638"/>
          </a:xfrm>
          <a:prstGeom prst="rect">
            <a:avLst/>
          </a:prstGeom>
        </p:spPr>
      </p:pic>
      <p:sp>
        <p:nvSpPr>
          <p:cNvPr id="9" name="TextBox 8">
            <a:extLst>
              <a:ext uri="{FF2B5EF4-FFF2-40B4-BE49-F238E27FC236}">
                <a16:creationId xmlns:a16="http://schemas.microsoft.com/office/drawing/2014/main" id="{C01288D5-D670-39B7-CA1E-A0314501839A}"/>
              </a:ext>
            </a:extLst>
          </p:cNvPr>
          <p:cNvSpPr txBox="1"/>
          <p:nvPr/>
        </p:nvSpPr>
        <p:spPr>
          <a:xfrm>
            <a:off x="3705159" y="5793536"/>
            <a:ext cx="2495963" cy="369332"/>
          </a:xfrm>
          <a:prstGeom prst="rect">
            <a:avLst/>
          </a:prstGeom>
          <a:noFill/>
        </p:spPr>
        <p:txBody>
          <a:bodyPr wrap="square" rtlCol="0">
            <a:spAutoFit/>
          </a:bodyPr>
          <a:lstStyle/>
          <a:p>
            <a:r>
              <a:rPr lang="en-AU" dirty="0">
                <a:highlight>
                  <a:srgbClr val="FFFF00"/>
                </a:highlight>
              </a:rPr>
              <a:t>Do this code twice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9902492" y="0"/>
            <a:ext cx="8385508" cy="3731551"/>
          </a:xfrm>
          <a:custGeom>
            <a:avLst/>
            <a:gdLst/>
            <a:ahLst/>
            <a:cxnLst/>
            <a:rect l="l" t="t" r="r" b="b"/>
            <a:pathLst>
              <a:path w="8385508" h="3731551">
                <a:moveTo>
                  <a:pt x="0" y="0"/>
                </a:moveTo>
                <a:lnTo>
                  <a:pt x="8385508" y="0"/>
                </a:lnTo>
                <a:lnTo>
                  <a:pt x="8385508" y="3731551"/>
                </a:lnTo>
                <a:lnTo>
                  <a:pt x="0" y="3731551"/>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80135" y="-171450"/>
            <a:ext cx="9542275" cy="2252665"/>
          </a:xfrm>
          <a:prstGeom prst="rect">
            <a:avLst/>
          </a:prstGeom>
        </p:spPr>
        <p:txBody>
          <a:bodyPr lIns="0" tIns="0" rIns="0" bIns="0" rtlCol="0" anchor="t">
            <a:spAutoFit/>
          </a:bodyPr>
          <a:lstStyle/>
          <a:p>
            <a:pPr marL="0" lvl="0" indent="0" algn="ctr">
              <a:lnSpc>
                <a:spcPts val="8827"/>
              </a:lnSpc>
              <a:spcBef>
                <a:spcPct val="0"/>
              </a:spcBef>
            </a:pPr>
            <a:r>
              <a:rPr lang="en-US" sz="6305">
                <a:solidFill>
                  <a:srgbClr val="333446"/>
                </a:solidFill>
                <a:latin typeface="Poppins Light"/>
                <a:ea typeface="Poppins Light"/>
                <a:cs typeface="Poppins Light"/>
                <a:sym typeface="Poppins Light"/>
              </a:rPr>
              <a:t>UNIT 8 – CONTROLLING DECISIONS</a:t>
            </a:r>
          </a:p>
        </p:txBody>
      </p:sp>
      <p:sp>
        <p:nvSpPr>
          <p:cNvPr id="4" name="TextBox 4"/>
          <p:cNvSpPr txBox="1"/>
          <p:nvPr/>
        </p:nvSpPr>
        <p:spPr>
          <a:xfrm>
            <a:off x="1028700" y="3062473"/>
            <a:ext cx="7868063" cy="2142125"/>
          </a:xfrm>
          <a:prstGeom prst="rect">
            <a:avLst/>
          </a:prstGeom>
        </p:spPr>
        <p:txBody>
          <a:bodyPr lIns="0" tIns="0" rIns="0" bIns="0" rtlCol="0" anchor="t">
            <a:spAutoFit/>
          </a:bodyPr>
          <a:lstStyle/>
          <a:p>
            <a:pPr marL="0" lvl="0" indent="0" algn="just">
              <a:lnSpc>
                <a:spcPts val="2372"/>
              </a:lnSpc>
            </a:pPr>
            <a:r>
              <a:rPr lang="en-US" sz="1600" dirty="0">
                <a:solidFill>
                  <a:srgbClr val="333446"/>
                </a:solidFill>
                <a:latin typeface="Poppins"/>
                <a:ea typeface="Poppins"/>
                <a:cs typeface="Poppins"/>
                <a:sym typeface="Poppins"/>
              </a:rPr>
              <a:t>What I Learned:</a:t>
            </a:r>
          </a:p>
          <a:p>
            <a:pPr marL="0" lvl="0" indent="0" algn="just">
              <a:lnSpc>
                <a:spcPts val="2372"/>
              </a:lnSpc>
            </a:pPr>
            <a:r>
              <a:rPr lang="en-US" sz="1600" dirty="0">
                <a:solidFill>
                  <a:srgbClr val="333446"/>
                </a:solidFill>
                <a:latin typeface="Poppins"/>
                <a:ea typeface="Poppins"/>
                <a:cs typeface="Poppins"/>
                <a:sym typeface="Poppins"/>
              </a:rPr>
              <a:t>Describe how you used conditional logic and decision-making in your code. How did the robot "decide" what action to take based on sensor input or conditions?</a:t>
            </a:r>
          </a:p>
          <a:p>
            <a:pPr marL="0" lvl="0" indent="0" algn="just">
              <a:lnSpc>
                <a:spcPts val="2372"/>
              </a:lnSpc>
            </a:pPr>
            <a:r>
              <a:rPr lang="en-US" sz="1600" dirty="0">
                <a:solidFill>
                  <a:srgbClr val="333446"/>
                </a:solidFill>
                <a:latin typeface="Poppins"/>
                <a:ea typeface="Poppins"/>
                <a:cs typeface="Poppins"/>
                <a:sym typeface="Poppins"/>
              </a:rPr>
              <a:t>Key Vocabulary:</a:t>
            </a:r>
          </a:p>
          <a:p>
            <a:pPr marL="0" lvl="0" indent="0" algn="just">
              <a:lnSpc>
                <a:spcPts val="2372"/>
              </a:lnSpc>
            </a:pPr>
            <a:r>
              <a:rPr lang="en-US" sz="1600" dirty="0">
                <a:solidFill>
                  <a:srgbClr val="333446"/>
                </a:solidFill>
                <a:latin typeface="Poppins"/>
                <a:ea typeface="Poppins"/>
                <a:cs typeface="Poppins"/>
                <a:sym typeface="Poppins"/>
              </a:rPr>
              <a:t>List 3–5 important terms (e.g., conditional, if/else, Boolean, sensor trigger, decision tree) </a:t>
            </a:r>
            <a:r>
              <a:rPr lang="en-US" sz="1600" dirty="0">
                <a:solidFill>
                  <a:srgbClr val="333446"/>
                </a:solidFill>
                <a:highlight>
                  <a:srgbClr val="FFFF00"/>
                </a:highlight>
                <a:latin typeface="Poppins"/>
                <a:ea typeface="Poppins"/>
                <a:cs typeface="Poppins"/>
                <a:sym typeface="Poppins"/>
              </a:rPr>
              <a:t>coordination, ai vision, control</a:t>
            </a:r>
          </a:p>
        </p:txBody>
      </p:sp>
      <p:sp>
        <p:nvSpPr>
          <p:cNvPr id="5" name="TextBox 5"/>
          <p:cNvSpPr txBox="1"/>
          <p:nvPr/>
        </p:nvSpPr>
        <p:spPr>
          <a:xfrm>
            <a:off x="1099603" y="5786289"/>
            <a:ext cx="7868063" cy="911019"/>
          </a:xfrm>
          <a:prstGeom prst="rect">
            <a:avLst/>
          </a:prstGeom>
        </p:spPr>
        <p:txBody>
          <a:bodyPr lIns="0" tIns="0" rIns="0" bIns="0" rtlCol="0" anchor="t">
            <a:spAutoFit/>
          </a:bodyPr>
          <a:lstStyle/>
          <a:p>
            <a:pPr marL="0" lvl="0" indent="0" algn="just">
              <a:lnSpc>
                <a:spcPts val="2372"/>
              </a:lnSpc>
            </a:pPr>
            <a:r>
              <a:rPr lang="en-US" sz="1600">
                <a:solidFill>
                  <a:srgbClr val="333446"/>
                </a:solidFill>
                <a:latin typeface="Poppins"/>
                <a:ea typeface="Poppins"/>
                <a:cs typeface="Poppins"/>
                <a:sym typeface="Poppins"/>
              </a:rPr>
              <a:t>Code / Programming Notes:</a:t>
            </a:r>
          </a:p>
          <a:p>
            <a:pPr marL="0" lvl="0" indent="0" algn="just">
              <a:lnSpc>
                <a:spcPts val="2372"/>
              </a:lnSpc>
            </a:pPr>
            <a:r>
              <a:rPr lang="en-US" sz="1600">
                <a:solidFill>
                  <a:srgbClr val="333446"/>
                </a:solidFill>
                <a:latin typeface="Poppins"/>
                <a:ea typeface="Poppins"/>
                <a:cs typeface="Poppins"/>
                <a:sym typeface="Poppins"/>
              </a:rPr>
              <a:t>Sketch or describe the decision-making logic you programmed. What conditions did you set? What actions followed each condition?</a:t>
            </a:r>
          </a:p>
        </p:txBody>
      </p:sp>
      <p:sp>
        <p:nvSpPr>
          <p:cNvPr id="6" name="TextBox 6"/>
          <p:cNvSpPr txBox="1"/>
          <p:nvPr/>
        </p:nvSpPr>
        <p:spPr>
          <a:xfrm>
            <a:off x="9462140" y="7762568"/>
            <a:ext cx="7868063" cy="1218795"/>
          </a:xfrm>
          <a:prstGeom prst="rect">
            <a:avLst/>
          </a:prstGeom>
        </p:spPr>
        <p:txBody>
          <a:bodyPr lIns="0" tIns="0" rIns="0" bIns="0" rtlCol="0" anchor="t">
            <a:spAutoFit/>
          </a:bodyPr>
          <a:lstStyle/>
          <a:p>
            <a:pPr marL="0" lvl="0" indent="0" algn="just">
              <a:lnSpc>
                <a:spcPts val="2372"/>
              </a:lnSpc>
            </a:pPr>
            <a:r>
              <a:rPr lang="en-US" sz="1600" dirty="0">
                <a:solidFill>
                  <a:srgbClr val="333446"/>
                </a:solidFill>
                <a:latin typeface="Poppins"/>
                <a:ea typeface="Poppins"/>
                <a:cs typeface="Poppins"/>
                <a:sym typeface="Poppins"/>
              </a:rPr>
              <a:t>Capstone Preparation Reflection:</a:t>
            </a:r>
          </a:p>
          <a:p>
            <a:pPr marL="0" lvl="0" indent="0" algn="just">
              <a:lnSpc>
                <a:spcPts val="2372"/>
              </a:lnSpc>
            </a:pPr>
            <a:r>
              <a:rPr lang="en-US" sz="1600" dirty="0">
                <a:solidFill>
                  <a:srgbClr val="333446"/>
                </a:solidFill>
                <a:latin typeface="Poppins"/>
                <a:ea typeface="Poppins"/>
                <a:cs typeface="Poppins"/>
                <a:sym typeface="Poppins"/>
              </a:rPr>
              <a:t>How does controlling decisions connect to the Delivery Dash challenge? Which skills from Units 1–7 will you integrate? What is your biggest strength going into the capstone? </a:t>
            </a:r>
            <a:r>
              <a:rPr lang="en-US" sz="1600" dirty="0">
                <a:solidFill>
                  <a:srgbClr val="333446"/>
                </a:solidFill>
                <a:highlight>
                  <a:srgbClr val="FFFF00"/>
                </a:highlight>
                <a:latin typeface="Poppins"/>
                <a:ea typeface="Poppins"/>
                <a:cs typeface="Poppins"/>
                <a:sym typeface="Poppins"/>
              </a:rPr>
              <a:t>I used some of the skills from unit 5, 6 and 7.</a:t>
            </a:r>
          </a:p>
        </p:txBody>
      </p:sp>
      <p:pic>
        <p:nvPicPr>
          <p:cNvPr id="8" name="Picture 7">
            <a:extLst>
              <a:ext uri="{FF2B5EF4-FFF2-40B4-BE49-F238E27FC236}">
                <a16:creationId xmlns:a16="http://schemas.microsoft.com/office/drawing/2014/main" id="{6669C9F5-B6DC-CD01-5E87-A0144B72E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6000" y="4133535"/>
            <a:ext cx="1524000" cy="3818498"/>
          </a:xfrm>
          <a:prstGeom prst="rect">
            <a:avLst/>
          </a:prstGeom>
        </p:spPr>
      </p:pic>
      <p:cxnSp>
        <p:nvCxnSpPr>
          <p:cNvPr id="10" name="Straight Arrow Connector 9">
            <a:extLst>
              <a:ext uri="{FF2B5EF4-FFF2-40B4-BE49-F238E27FC236}">
                <a16:creationId xmlns:a16="http://schemas.microsoft.com/office/drawing/2014/main" id="{2875580D-0187-A006-2982-6673A42C1F0D}"/>
              </a:ext>
            </a:extLst>
          </p:cNvPr>
          <p:cNvCxnSpPr/>
          <p:nvPr/>
        </p:nvCxnSpPr>
        <p:spPr>
          <a:xfrm flipV="1">
            <a:off x="7696200" y="6042784"/>
            <a:ext cx="5181600" cy="6545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0" y="6103480"/>
            <a:ext cx="9144000" cy="4069080"/>
          </a:xfrm>
          <a:custGeom>
            <a:avLst/>
            <a:gdLst/>
            <a:ahLst/>
            <a:cxnLst/>
            <a:rect l="l" t="t" r="r" b="b"/>
            <a:pathLst>
              <a:path w="9144000" h="4069080">
                <a:moveTo>
                  <a:pt x="0" y="0"/>
                </a:moveTo>
                <a:lnTo>
                  <a:pt x="9144000" y="0"/>
                </a:lnTo>
                <a:lnTo>
                  <a:pt x="9144000" y="4069080"/>
                </a:lnTo>
                <a:lnTo>
                  <a:pt x="0" y="4069080"/>
                </a:lnTo>
                <a:lnTo>
                  <a:pt x="0" y="0"/>
                </a:lnTo>
                <a:close/>
              </a:path>
            </a:pathLst>
          </a:custGeom>
          <a:blipFill>
            <a:blip r:embed="rId2"/>
            <a:stretch>
              <a:fillRect/>
            </a:stretch>
          </a:blipFill>
        </p:spPr>
        <p:txBody>
          <a:bodyPr/>
          <a:lstStyle/>
          <a:p>
            <a:endParaRPr lang="en-AU"/>
          </a:p>
        </p:txBody>
      </p:sp>
      <p:sp>
        <p:nvSpPr>
          <p:cNvPr id="3" name="TextBox 3"/>
          <p:cNvSpPr txBox="1"/>
          <p:nvPr/>
        </p:nvSpPr>
        <p:spPr>
          <a:xfrm>
            <a:off x="865601" y="426752"/>
            <a:ext cx="10416817" cy="1703038"/>
          </a:xfrm>
          <a:prstGeom prst="rect">
            <a:avLst/>
          </a:prstGeom>
        </p:spPr>
        <p:txBody>
          <a:bodyPr lIns="0" tIns="0" rIns="0" bIns="0" rtlCol="0" anchor="t">
            <a:spAutoFit/>
          </a:bodyPr>
          <a:lstStyle/>
          <a:p>
            <a:pPr marL="0" lvl="0" indent="0" algn="l">
              <a:lnSpc>
                <a:spcPts val="13133"/>
              </a:lnSpc>
              <a:spcBef>
                <a:spcPct val="0"/>
              </a:spcBef>
            </a:pPr>
            <a:r>
              <a:rPr lang="en-US" sz="9381">
                <a:solidFill>
                  <a:srgbClr val="333446"/>
                </a:solidFill>
                <a:latin typeface="Poppins Light"/>
                <a:ea typeface="Poppins Light"/>
                <a:cs typeface="Poppins Light"/>
                <a:sym typeface="Poppins Light"/>
              </a:rPr>
              <a:t>DELIVERY DASH</a:t>
            </a:r>
          </a:p>
        </p:txBody>
      </p:sp>
      <p:sp>
        <p:nvSpPr>
          <p:cNvPr id="4" name="TextBox 4"/>
          <p:cNvSpPr txBox="1"/>
          <p:nvPr/>
        </p:nvSpPr>
        <p:spPr>
          <a:xfrm>
            <a:off x="865601" y="2902887"/>
            <a:ext cx="4233192" cy="2985048"/>
          </a:xfrm>
          <a:prstGeom prst="rect">
            <a:avLst/>
          </a:prstGeom>
        </p:spPr>
        <p:txBody>
          <a:bodyPr lIns="0" tIns="0" rIns="0" bIns="0" rtlCol="0" anchor="t">
            <a:spAutoFit/>
          </a:bodyPr>
          <a:lstStyle/>
          <a:p>
            <a:pPr marL="0" lvl="0" indent="0" algn="just">
              <a:lnSpc>
                <a:spcPts val="2633"/>
              </a:lnSpc>
            </a:pPr>
            <a:r>
              <a:rPr lang="en-US" sz="1881" dirty="0">
                <a:solidFill>
                  <a:srgbClr val="333446"/>
                </a:solidFill>
                <a:latin typeface="Poppins"/>
                <a:ea typeface="Poppins"/>
                <a:cs typeface="Poppins"/>
                <a:sym typeface="Poppins"/>
              </a:rPr>
              <a:t>Project Goal:</a:t>
            </a:r>
          </a:p>
          <a:p>
            <a:pPr marL="0" lvl="0" indent="0" algn="just">
              <a:lnSpc>
                <a:spcPts val="2633"/>
              </a:lnSpc>
            </a:pPr>
            <a:r>
              <a:rPr lang="en-US" sz="1881" dirty="0">
                <a:solidFill>
                  <a:srgbClr val="333446"/>
                </a:solidFill>
                <a:latin typeface="Poppins"/>
                <a:ea typeface="Poppins"/>
                <a:cs typeface="Poppins"/>
                <a:sym typeface="Poppins"/>
              </a:rPr>
              <a:t>My Approach / Strategy:</a:t>
            </a:r>
            <a:r>
              <a:rPr lang="en-US" sz="1881" dirty="0">
                <a:solidFill>
                  <a:srgbClr val="333446"/>
                </a:solidFill>
                <a:highlight>
                  <a:srgbClr val="FFFF00"/>
                </a:highlight>
                <a:latin typeface="Poppins"/>
                <a:ea typeface="Poppins"/>
                <a:cs typeface="Poppins"/>
                <a:sym typeface="Poppins"/>
              </a:rPr>
              <a:t> to grab multiple barrels at a time</a:t>
            </a:r>
          </a:p>
          <a:p>
            <a:pPr marL="0" lvl="0" indent="0" algn="just">
              <a:lnSpc>
                <a:spcPts val="2633"/>
              </a:lnSpc>
            </a:pPr>
            <a:r>
              <a:rPr lang="en-US" sz="1881" dirty="0">
                <a:solidFill>
                  <a:srgbClr val="333446"/>
                </a:solidFill>
                <a:latin typeface="Poppins"/>
                <a:ea typeface="Poppins"/>
                <a:cs typeface="Poppins"/>
                <a:sym typeface="Poppins"/>
              </a:rPr>
              <a:t>Steps I Plan to Take: </a:t>
            </a:r>
            <a:r>
              <a:rPr lang="en-US" sz="1881" dirty="0">
                <a:solidFill>
                  <a:srgbClr val="333446"/>
                </a:solidFill>
                <a:highlight>
                  <a:srgbClr val="FFFF00"/>
                </a:highlight>
                <a:latin typeface="Poppins"/>
                <a:ea typeface="Poppins"/>
                <a:cs typeface="Poppins"/>
                <a:sym typeface="Poppins"/>
              </a:rPr>
              <a:t>use ai vision to find barrels and bring back to tag</a:t>
            </a:r>
          </a:p>
          <a:p>
            <a:pPr marL="0" lvl="0" indent="0" algn="just">
              <a:lnSpc>
                <a:spcPts val="2633"/>
              </a:lnSpc>
            </a:pPr>
            <a:r>
              <a:rPr lang="en-US" sz="1881" dirty="0">
                <a:solidFill>
                  <a:srgbClr val="333446"/>
                </a:solidFill>
                <a:latin typeface="Poppins"/>
                <a:ea typeface="Poppins"/>
                <a:cs typeface="Poppins"/>
                <a:sym typeface="Poppins"/>
              </a:rPr>
              <a:t>Resources / Code I Will Use: </a:t>
            </a:r>
            <a:r>
              <a:rPr lang="en-US" sz="1881" dirty="0">
                <a:solidFill>
                  <a:srgbClr val="333446"/>
                </a:solidFill>
                <a:highlight>
                  <a:srgbClr val="FFFF00"/>
                </a:highlight>
                <a:latin typeface="Poppins"/>
                <a:ea typeface="Poppins"/>
                <a:cs typeface="Poppins"/>
                <a:sym typeface="Poppins"/>
              </a:rPr>
              <a:t>ai vision</a:t>
            </a:r>
          </a:p>
          <a:p>
            <a:pPr marL="0" lvl="0" indent="0" algn="just">
              <a:lnSpc>
                <a:spcPts val="2633"/>
              </a:lnSpc>
            </a:pPr>
            <a:r>
              <a:rPr lang="en-US" sz="1881" dirty="0">
                <a:solidFill>
                  <a:srgbClr val="333446"/>
                </a:solidFill>
                <a:latin typeface="Poppins"/>
                <a:ea typeface="Poppins"/>
                <a:cs typeface="Poppins"/>
                <a:sym typeface="Poppins"/>
              </a:rPr>
              <a:t>Potential Challenges: </a:t>
            </a:r>
            <a:r>
              <a:rPr lang="en-US" sz="1881" dirty="0">
                <a:solidFill>
                  <a:srgbClr val="333446"/>
                </a:solidFill>
                <a:highlight>
                  <a:srgbClr val="FFFF00"/>
                </a:highlight>
                <a:latin typeface="Poppins"/>
                <a:ea typeface="Poppins"/>
                <a:cs typeface="Poppins"/>
                <a:sym typeface="Poppins"/>
              </a:rPr>
              <a:t>complete quicker and less steps each time</a:t>
            </a:r>
          </a:p>
        </p:txBody>
      </p:sp>
      <p:sp>
        <p:nvSpPr>
          <p:cNvPr id="5" name="TextBox 5"/>
          <p:cNvSpPr txBox="1"/>
          <p:nvPr/>
        </p:nvSpPr>
        <p:spPr>
          <a:xfrm>
            <a:off x="865601" y="2467706"/>
            <a:ext cx="5919723" cy="435181"/>
          </a:xfrm>
          <a:prstGeom prst="rect">
            <a:avLst/>
          </a:prstGeom>
        </p:spPr>
        <p:txBody>
          <a:bodyPr lIns="0" tIns="0" rIns="0" bIns="0" rtlCol="0" anchor="t">
            <a:spAutoFit/>
          </a:bodyPr>
          <a:lstStyle/>
          <a:p>
            <a:pPr marL="0" lvl="0" indent="0" algn="just">
              <a:lnSpc>
                <a:spcPts val="3313"/>
              </a:lnSpc>
              <a:spcBef>
                <a:spcPct val="0"/>
              </a:spcBef>
            </a:pPr>
            <a:r>
              <a:rPr lang="en-US" sz="2366" b="1" spc="-47">
                <a:solidFill>
                  <a:srgbClr val="333446"/>
                </a:solidFill>
                <a:latin typeface="Poppins Bold"/>
                <a:ea typeface="Poppins Bold"/>
                <a:cs typeface="Poppins Bold"/>
                <a:sym typeface="Poppins Bold"/>
              </a:rPr>
              <a:t>CAPSTONE CHALLENGE – PLANNING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1028700" y="5111333"/>
            <a:ext cx="6259913" cy="795968"/>
          </a:xfrm>
          <a:prstGeom prst="rect">
            <a:avLst/>
          </a:prstGeom>
        </p:spPr>
        <p:txBody>
          <a:bodyPr lIns="0" tIns="0" rIns="0" bIns="0" rtlCol="0" anchor="t">
            <a:spAutoFit/>
          </a:bodyPr>
          <a:lstStyle/>
          <a:p>
            <a:pPr marL="0" lvl="0" indent="0" algn="just">
              <a:lnSpc>
                <a:spcPts val="3109"/>
              </a:lnSpc>
            </a:pPr>
            <a:r>
              <a:rPr lang="en-US" sz="2220">
                <a:solidFill>
                  <a:srgbClr val="333446"/>
                </a:solidFill>
                <a:latin typeface="Poppins"/>
                <a:ea typeface="Poppins"/>
                <a:cs typeface="Poppins"/>
                <a:sym typeface="Poppins"/>
              </a:rPr>
              <a:t>Steps I took to complete the Delivery Dash:</a:t>
            </a:r>
          </a:p>
          <a:p>
            <a:pPr marL="0" lvl="0" indent="0" algn="just">
              <a:lnSpc>
                <a:spcPts val="3109"/>
              </a:lnSpc>
            </a:pPr>
            <a:r>
              <a:rPr lang="en-US" sz="2220">
                <a:solidFill>
                  <a:srgbClr val="333446"/>
                </a:solidFill>
                <a:latin typeface="Poppins"/>
                <a:ea typeface="Poppins"/>
                <a:cs typeface="Poppins"/>
                <a:sym typeface="Poppins"/>
              </a:rPr>
              <a:t>Key coding highlights / snippets used:</a:t>
            </a:r>
          </a:p>
        </p:txBody>
      </p:sp>
      <p:sp>
        <p:nvSpPr>
          <p:cNvPr id="3" name="TextBox 3"/>
          <p:cNvSpPr txBox="1"/>
          <p:nvPr/>
        </p:nvSpPr>
        <p:spPr>
          <a:xfrm>
            <a:off x="1028700" y="6890927"/>
            <a:ext cx="6259913" cy="1968039"/>
          </a:xfrm>
          <a:prstGeom prst="rect">
            <a:avLst/>
          </a:prstGeom>
        </p:spPr>
        <p:txBody>
          <a:bodyPr lIns="0" tIns="0" rIns="0" bIns="0" rtlCol="0" anchor="t">
            <a:spAutoFit/>
          </a:bodyPr>
          <a:lstStyle/>
          <a:p>
            <a:pPr marL="0" lvl="0" indent="0" algn="just">
              <a:lnSpc>
                <a:spcPts val="3109"/>
              </a:lnSpc>
            </a:pPr>
            <a:r>
              <a:rPr lang="en-US" sz="2220" dirty="0">
                <a:solidFill>
                  <a:srgbClr val="333446"/>
                </a:solidFill>
                <a:latin typeface="Poppins"/>
                <a:ea typeface="Poppins"/>
                <a:cs typeface="Poppins"/>
                <a:sym typeface="Poppins"/>
              </a:rPr>
              <a:t>Outcomes &amp; robot performance:</a:t>
            </a:r>
            <a:r>
              <a:rPr lang="en-US" sz="2220" dirty="0">
                <a:solidFill>
                  <a:srgbClr val="333446"/>
                </a:solidFill>
                <a:highlight>
                  <a:srgbClr val="FFFF00"/>
                </a:highlight>
                <a:latin typeface="Poppins"/>
                <a:ea typeface="Poppins"/>
                <a:cs typeface="Poppins"/>
                <a:sym typeface="Poppins"/>
              </a:rPr>
              <a:t> robot performed well and completed task</a:t>
            </a:r>
          </a:p>
          <a:p>
            <a:pPr marL="0" lvl="0" indent="0" algn="just">
              <a:lnSpc>
                <a:spcPts val="3109"/>
              </a:lnSpc>
            </a:pPr>
            <a:r>
              <a:rPr lang="en-US" sz="2220" dirty="0">
                <a:solidFill>
                  <a:srgbClr val="333446"/>
                </a:solidFill>
                <a:latin typeface="Poppins"/>
                <a:ea typeface="Poppins"/>
                <a:cs typeface="Poppins"/>
                <a:sym typeface="Poppins"/>
              </a:rPr>
              <a:t>What went well: </a:t>
            </a:r>
            <a:r>
              <a:rPr lang="en-US" sz="2220" dirty="0">
                <a:solidFill>
                  <a:srgbClr val="333446"/>
                </a:solidFill>
                <a:highlight>
                  <a:srgbClr val="FFFF00"/>
                </a:highlight>
                <a:latin typeface="Poppins"/>
                <a:ea typeface="Poppins"/>
                <a:cs typeface="Poppins"/>
                <a:sym typeface="Poppins"/>
              </a:rPr>
              <a:t>all of it</a:t>
            </a:r>
          </a:p>
          <a:p>
            <a:pPr marL="0" lvl="0" indent="0" algn="just">
              <a:lnSpc>
                <a:spcPts val="3109"/>
              </a:lnSpc>
            </a:pPr>
            <a:r>
              <a:rPr lang="en-US" sz="2220" dirty="0">
                <a:solidFill>
                  <a:srgbClr val="333446"/>
                </a:solidFill>
                <a:latin typeface="Poppins"/>
                <a:ea typeface="Poppins"/>
                <a:cs typeface="Poppins"/>
                <a:sym typeface="Poppins"/>
              </a:rPr>
              <a:t>Lessons learned &amp; improvements for next time: </a:t>
            </a:r>
            <a:r>
              <a:rPr lang="en-US" sz="2220" dirty="0">
                <a:solidFill>
                  <a:srgbClr val="333446"/>
                </a:solidFill>
                <a:highlight>
                  <a:srgbClr val="FFFF00"/>
                </a:highlight>
                <a:latin typeface="Poppins"/>
                <a:ea typeface="Poppins"/>
                <a:cs typeface="Poppins"/>
                <a:sym typeface="Poppins"/>
              </a:rPr>
              <a:t>I learned how to do delivery dash</a:t>
            </a:r>
          </a:p>
        </p:txBody>
      </p:sp>
      <p:sp>
        <p:nvSpPr>
          <p:cNvPr id="4" name="TextBox 4"/>
          <p:cNvSpPr txBox="1"/>
          <p:nvPr/>
        </p:nvSpPr>
        <p:spPr>
          <a:xfrm>
            <a:off x="1028700" y="4679189"/>
            <a:ext cx="3220751" cy="402379"/>
          </a:xfrm>
          <a:prstGeom prst="rect">
            <a:avLst/>
          </a:prstGeom>
        </p:spPr>
        <p:txBody>
          <a:bodyPr lIns="0" tIns="0" rIns="0" bIns="0" rtlCol="0" anchor="t">
            <a:spAutoFit/>
          </a:bodyPr>
          <a:lstStyle/>
          <a:p>
            <a:pPr marL="0" lvl="0" indent="0" algn="l">
              <a:lnSpc>
                <a:spcPts val="3218"/>
              </a:lnSpc>
              <a:spcBef>
                <a:spcPct val="0"/>
              </a:spcBef>
            </a:pPr>
            <a:r>
              <a:rPr lang="en-US" sz="2299" b="1" spc="-45">
                <a:solidFill>
                  <a:srgbClr val="333446"/>
                </a:solidFill>
                <a:latin typeface="Poppins Bold"/>
                <a:ea typeface="Poppins Bold"/>
                <a:cs typeface="Poppins Bold"/>
                <a:sym typeface="Poppins Bold"/>
              </a:rPr>
              <a:t>EXECUTION &amp; CODING</a:t>
            </a:r>
          </a:p>
        </p:txBody>
      </p:sp>
      <p:sp>
        <p:nvSpPr>
          <p:cNvPr id="5" name="TextBox 5"/>
          <p:cNvSpPr txBox="1"/>
          <p:nvPr/>
        </p:nvSpPr>
        <p:spPr>
          <a:xfrm>
            <a:off x="1028700" y="6458783"/>
            <a:ext cx="3220751" cy="402379"/>
          </a:xfrm>
          <a:prstGeom prst="rect">
            <a:avLst/>
          </a:prstGeom>
        </p:spPr>
        <p:txBody>
          <a:bodyPr lIns="0" tIns="0" rIns="0" bIns="0" rtlCol="0" anchor="t">
            <a:spAutoFit/>
          </a:bodyPr>
          <a:lstStyle/>
          <a:p>
            <a:pPr marL="0" lvl="0" indent="0" algn="l">
              <a:lnSpc>
                <a:spcPts val="3218"/>
              </a:lnSpc>
              <a:spcBef>
                <a:spcPct val="0"/>
              </a:spcBef>
            </a:pPr>
            <a:r>
              <a:rPr lang="en-US" sz="2299" b="1" spc="-45">
                <a:solidFill>
                  <a:srgbClr val="333446"/>
                </a:solidFill>
                <a:latin typeface="Poppins Bold"/>
                <a:ea typeface="Poppins Bold"/>
                <a:cs typeface="Poppins Bold"/>
                <a:sym typeface="Poppins Bold"/>
              </a:rPr>
              <a:t>RESULTS &amp; REFLECTION</a:t>
            </a:r>
          </a:p>
        </p:txBody>
      </p:sp>
      <p:sp>
        <p:nvSpPr>
          <p:cNvPr id="6" name="TextBox 6"/>
          <p:cNvSpPr txBox="1"/>
          <p:nvPr/>
        </p:nvSpPr>
        <p:spPr>
          <a:xfrm>
            <a:off x="865601" y="426752"/>
            <a:ext cx="10416817" cy="1703038"/>
          </a:xfrm>
          <a:prstGeom prst="rect">
            <a:avLst/>
          </a:prstGeom>
        </p:spPr>
        <p:txBody>
          <a:bodyPr lIns="0" tIns="0" rIns="0" bIns="0" rtlCol="0" anchor="t">
            <a:spAutoFit/>
          </a:bodyPr>
          <a:lstStyle/>
          <a:p>
            <a:pPr marL="0" lvl="0" indent="0" algn="l">
              <a:lnSpc>
                <a:spcPts val="13133"/>
              </a:lnSpc>
              <a:spcBef>
                <a:spcPct val="0"/>
              </a:spcBef>
            </a:pPr>
            <a:r>
              <a:rPr lang="en-US" sz="9381">
                <a:solidFill>
                  <a:srgbClr val="333446"/>
                </a:solidFill>
                <a:latin typeface="Poppins Light"/>
                <a:ea typeface="Poppins Light"/>
                <a:cs typeface="Poppins Light"/>
                <a:sym typeface="Poppins Light"/>
              </a:rPr>
              <a:t>DELIVERY DASH</a:t>
            </a:r>
          </a:p>
        </p:txBody>
      </p:sp>
      <p:pic>
        <p:nvPicPr>
          <p:cNvPr id="8" name="Picture 7">
            <a:extLst>
              <a:ext uri="{FF2B5EF4-FFF2-40B4-BE49-F238E27FC236}">
                <a16:creationId xmlns:a16="http://schemas.microsoft.com/office/drawing/2014/main" id="{EDFE8E9E-CD28-DFAF-409C-C26B39C9C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00" y="230658"/>
            <a:ext cx="3872092" cy="9701820"/>
          </a:xfrm>
          <a:prstGeom prst="rect">
            <a:avLst/>
          </a:prstGeom>
        </p:spPr>
      </p:pic>
      <p:cxnSp>
        <p:nvCxnSpPr>
          <p:cNvPr id="10" name="Straight Arrow Connector 9">
            <a:extLst>
              <a:ext uri="{FF2B5EF4-FFF2-40B4-BE49-F238E27FC236}">
                <a16:creationId xmlns:a16="http://schemas.microsoft.com/office/drawing/2014/main" id="{2AD20DF2-A7E0-B374-A9D2-0CA6CBCFB10C}"/>
              </a:ext>
            </a:extLst>
          </p:cNvPr>
          <p:cNvCxnSpPr/>
          <p:nvPr/>
        </p:nvCxnSpPr>
        <p:spPr>
          <a:xfrm flipV="1">
            <a:off x="6934200" y="4679189"/>
            <a:ext cx="2209800" cy="122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2597906" y="0"/>
            <a:ext cx="5690094" cy="4426940"/>
          </a:xfrm>
          <a:custGeom>
            <a:avLst/>
            <a:gdLst/>
            <a:ahLst/>
            <a:cxnLst/>
            <a:rect l="l" t="t" r="r" b="b"/>
            <a:pathLst>
              <a:path w="5690094" h="4426940">
                <a:moveTo>
                  <a:pt x="0" y="0"/>
                </a:moveTo>
                <a:lnTo>
                  <a:pt x="5690094" y="0"/>
                </a:lnTo>
                <a:lnTo>
                  <a:pt x="5690094" y="4426940"/>
                </a:lnTo>
                <a:lnTo>
                  <a:pt x="0" y="4426940"/>
                </a:lnTo>
                <a:lnTo>
                  <a:pt x="0" y="0"/>
                </a:lnTo>
                <a:close/>
              </a:path>
            </a:pathLst>
          </a:custGeom>
          <a:blipFill>
            <a:blip r:embed="rId2"/>
            <a:stretch>
              <a:fillRect t="-13788" b="-14744"/>
            </a:stretch>
          </a:blipFill>
        </p:spPr>
        <p:txBody>
          <a:bodyPr/>
          <a:lstStyle/>
          <a:p>
            <a:endParaRPr lang="en-AU"/>
          </a:p>
        </p:txBody>
      </p:sp>
      <p:sp>
        <p:nvSpPr>
          <p:cNvPr id="3" name="Freeform 3"/>
          <p:cNvSpPr/>
          <p:nvPr/>
        </p:nvSpPr>
        <p:spPr>
          <a:xfrm>
            <a:off x="0" y="1250465"/>
            <a:ext cx="7997903" cy="3189164"/>
          </a:xfrm>
          <a:custGeom>
            <a:avLst/>
            <a:gdLst/>
            <a:ahLst/>
            <a:cxnLst/>
            <a:rect l="l" t="t" r="r" b="b"/>
            <a:pathLst>
              <a:path w="7997903" h="3189164">
                <a:moveTo>
                  <a:pt x="0" y="0"/>
                </a:moveTo>
                <a:lnTo>
                  <a:pt x="7997903" y="0"/>
                </a:lnTo>
                <a:lnTo>
                  <a:pt x="7997903" y="3189164"/>
                </a:lnTo>
                <a:lnTo>
                  <a:pt x="0" y="3189164"/>
                </a:lnTo>
                <a:lnTo>
                  <a:pt x="0" y="0"/>
                </a:lnTo>
                <a:close/>
              </a:path>
            </a:pathLst>
          </a:custGeom>
          <a:blipFill>
            <a:blip r:embed="rId3"/>
            <a:stretch>
              <a:fillRect/>
            </a:stretch>
          </a:blipFill>
        </p:spPr>
        <p:txBody>
          <a:bodyPr/>
          <a:lstStyle/>
          <a:p>
            <a:endParaRPr lang="en-AU"/>
          </a:p>
        </p:txBody>
      </p:sp>
      <p:sp>
        <p:nvSpPr>
          <p:cNvPr id="4" name="TextBox 4"/>
          <p:cNvSpPr txBox="1"/>
          <p:nvPr/>
        </p:nvSpPr>
        <p:spPr>
          <a:xfrm>
            <a:off x="0" y="-209550"/>
            <a:ext cx="10386091" cy="1356207"/>
          </a:xfrm>
          <a:prstGeom prst="rect">
            <a:avLst/>
          </a:prstGeom>
        </p:spPr>
        <p:txBody>
          <a:bodyPr lIns="0" tIns="0" rIns="0" bIns="0" rtlCol="0" anchor="t">
            <a:spAutoFit/>
          </a:bodyPr>
          <a:lstStyle/>
          <a:p>
            <a:pPr marL="0" lvl="0" indent="0" algn="l">
              <a:lnSpc>
                <a:spcPts val="10557"/>
              </a:lnSpc>
              <a:spcBef>
                <a:spcPct val="0"/>
              </a:spcBef>
            </a:pPr>
            <a:r>
              <a:rPr lang="en-US" sz="7541">
                <a:solidFill>
                  <a:srgbClr val="333446"/>
                </a:solidFill>
                <a:latin typeface="Poppins Light"/>
                <a:ea typeface="Poppins Light"/>
                <a:cs typeface="Poppins Light"/>
                <a:sym typeface="Poppins Light"/>
              </a:rPr>
              <a:t>SHOWCASE PLANNING</a:t>
            </a:r>
          </a:p>
        </p:txBody>
      </p:sp>
      <p:sp>
        <p:nvSpPr>
          <p:cNvPr id="5" name="TextBox 5"/>
          <p:cNvSpPr txBox="1"/>
          <p:nvPr/>
        </p:nvSpPr>
        <p:spPr>
          <a:xfrm>
            <a:off x="2099101" y="5588995"/>
            <a:ext cx="3427592" cy="516753"/>
          </a:xfrm>
          <a:prstGeom prst="rect">
            <a:avLst/>
          </a:prstGeom>
        </p:spPr>
        <p:txBody>
          <a:bodyPr lIns="0" tIns="0" rIns="0" bIns="0" rtlCol="0" anchor="t">
            <a:spAutoFit/>
          </a:bodyPr>
          <a:lstStyle/>
          <a:p>
            <a:pPr marL="0" lvl="0" indent="0" algn="ctr">
              <a:lnSpc>
                <a:spcPts val="4067"/>
              </a:lnSpc>
              <a:spcBef>
                <a:spcPct val="0"/>
              </a:spcBef>
            </a:pPr>
            <a:r>
              <a:rPr lang="en-US" sz="2905" b="1" spc="-58" dirty="0">
                <a:solidFill>
                  <a:srgbClr val="333446"/>
                </a:solidFill>
                <a:latin typeface="Poppins Bold"/>
                <a:ea typeface="Poppins Bold"/>
                <a:cs typeface="Poppins Bold"/>
                <a:sym typeface="Poppins Bold"/>
              </a:rPr>
              <a:t>DEMO ACTIVITY</a:t>
            </a:r>
          </a:p>
        </p:txBody>
      </p:sp>
      <p:sp>
        <p:nvSpPr>
          <p:cNvPr id="6" name="TextBox 6"/>
          <p:cNvSpPr txBox="1"/>
          <p:nvPr/>
        </p:nvSpPr>
        <p:spPr>
          <a:xfrm>
            <a:off x="10391347" y="5588995"/>
            <a:ext cx="3427592" cy="516753"/>
          </a:xfrm>
          <a:prstGeom prst="rect">
            <a:avLst/>
          </a:prstGeom>
        </p:spPr>
        <p:txBody>
          <a:bodyPr lIns="0" tIns="0" rIns="0" bIns="0" rtlCol="0" anchor="t">
            <a:spAutoFit/>
          </a:bodyPr>
          <a:lstStyle/>
          <a:p>
            <a:pPr marL="0" lvl="0" indent="0" algn="ctr">
              <a:lnSpc>
                <a:spcPts val="4067"/>
              </a:lnSpc>
              <a:spcBef>
                <a:spcPct val="0"/>
              </a:spcBef>
            </a:pPr>
            <a:r>
              <a:rPr lang="en-US" sz="2905" b="1" spc="-58" dirty="0">
                <a:solidFill>
                  <a:srgbClr val="333446"/>
                </a:solidFill>
                <a:latin typeface="Poppins Bold"/>
                <a:ea typeface="Poppins Bold"/>
                <a:cs typeface="Poppins Bold"/>
                <a:sym typeface="Poppins Bold"/>
              </a:rPr>
              <a:t>MATERIALS NEEDED</a:t>
            </a:r>
          </a:p>
        </p:txBody>
      </p:sp>
      <p:sp>
        <p:nvSpPr>
          <p:cNvPr id="7" name="TextBox 7"/>
          <p:cNvSpPr txBox="1"/>
          <p:nvPr/>
        </p:nvSpPr>
        <p:spPr>
          <a:xfrm>
            <a:off x="1440040" y="6983327"/>
            <a:ext cx="6332360" cy="2776914"/>
          </a:xfrm>
          <a:prstGeom prst="rect">
            <a:avLst/>
          </a:prstGeom>
        </p:spPr>
        <p:txBody>
          <a:bodyPr wrap="square" lIns="0" tIns="0" rIns="0" bIns="0" rtlCol="0" anchor="t">
            <a:spAutoFit/>
          </a:bodyPr>
          <a:lstStyle/>
          <a:p>
            <a:pPr marL="0" lvl="0" indent="0" algn="just">
              <a:lnSpc>
                <a:spcPts val="1769"/>
              </a:lnSpc>
              <a:spcBef>
                <a:spcPct val="0"/>
              </a:spcBef>
            </a:pPr>
            <a:r>
              <a:rPr lang="en-US" dirty="0">
                <a:solidFill>
                  <a:srgbClr val="333446"/>
                </a:solidFill>
                <a:latin typeface="Poppins"/>
                <a:ea typeface="Poppins"/>
                <a:cs typeface="Poppins"/>
                <a:sym typeface="Poppins"/>
              </a:rPr>
              <a:t>Activity Description:</a:t>
            </a:r>
          </a:p>
          <a:p>
            <a:pPr marL="0" lvl="0" indent="0" algn="just">
              <a:lnSpc>
                <a:spcPts val="1769"/>
              </a:lnSpc>
              <a:spcBef>
                <a:spcPct val="0"/>
              </a:spcBef>
            </a:pPr>
            <a:r>
              <a:rPr lang="en-US" dirty="0">
                <a:solidFill>
                  <a:srgbClr val="333446"/>
                </a:solidFill>
                <a:latin typeface="Poppins"/>
                <a:ea typeface="Poppins"/>
                <a:cs typeface="Poppins"/>
                <a:sym typeface="Poppins"/>
              </a:rPr>
              <a:t>Demonstrate your VEX </a:t>
            </a:r>
            <a:r>
              <a:rPr lang="en-US" dirty="0" err="1">
                <a:solidFill>
                  <a:srgbClr val="333446"/>
                </a:solidFill>
                <a:latin typeface="Poppins"/>
                <a:ea typeface="Poppins"/>
                <a:cs typeface="Poppins"/>
                <a:sym typeface="Poppins"/>
              </a:rPr>
              <a:t>Aimbot</a:t>
            </a:r>
            <a:r>
              <a:rPr lang="en-US" dirty="0">
                <a:solidFill>
                  <a:srgbClr val="333446"/>
                </a:solidFill>
                <a:latin typeface="Poppins"/>
                <a:ea typeface="Poppins"/>
                <a:cs typeface="Poppins"/>
                <a:sym typeface="Poppins"/>
              </a:rPr>
              <a:t> robot to parents and visitors. Show how your robot navigates, avoids obstacles, and completes tasks using your chosen coding approach.</a:t>
            </a:r>
          </a:p>
          <a:p>
            <a:pPr marL="0" lvl="0" indent="0" algn="just">
              <a:lnSpc>
                <a:spcPts val="1769"/>
              </a:lnSpc>
              <a:spcBef>
                <a:spcPct val="0"/>
              </a:spcBef>
            </a:pPr>
            <a:endParaRPr lang="en-US" dirty="0">
              <a:solidFill>
                <a:srgbClr val="333446"/>
              </a:solidFill>
              <a:latin typeface="Poppins"/>
              <a:ea typeface="Poppins"/>
              <a:cs typeface="Poppins"/>
              <a:sym typeface="Poppins"/>
            </a:endParaRPr>
          </a:p>
          <a:p>
            <a:pPr marL="0" lvl="0" indent="0" algn="just">
              <a:lnSpc>
                <a:spcPts val="1769"/>
              </a:lnSpc>
              <a:spcBef>
                <a:spcPct val="0"/>
              </a:spcBef>
            </a:pPr>
            <a:r>
              <a:rPr lang="en-US" dirty="0">
                <a:solidFill>
                  <a:srgbClr val="333446"/>
                </a:solidFill>
                <a:latin typeface="Poppins"/>
                <a:ea typeface="Poppins"/>
                <a:cs typeface="Poppins"/>
                <a:sym typeface="Poppins"/>
              </a:rPr>
              <a:t>Step-by-Step Instructions:</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Set up the robot and arena</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Explain your coding method</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Run a live demonstration</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Invite visitors to try the controller</a:t>
            </a:r>
          </a:p>
          <a:p>
            <a:pPr marL="272820" lvl="1" indent="-136410" algn="just">
              <a:lnSpc>
                <a:spcPts val="1769"/>
              </a:lnSpc>
              <a:spcBef>
                <a:spcPct val="0"/>
              </a:spcBef>
              <a:buAutoNum type="arabicPeriod"/>
            </a:pPr>
            <a:r>
              <a:rPr lang="en-US" dirty="0">
                <a:solidFill>
                  <a:srgbClr val="333446"/>
                </a:solidFill>
                <a:latin typeface="Poppins"/>
                <a:ea typeface="Poppins"/>
                <a:cs typeface="Poppins"/>
                <a:sym typeface="Poppins"/>
              </a:rPr>
              <a:t>Answer questions about your learning</a:t>
            </a:r>
          </a:p>
        </p:txBody>
      </p:sp>
      <p:sp>
        <p:nvSpPr>
          <p:cNvPr id="8" name="TextBox 8"/>
          <p:cNvSpPr txBox="1"/>
          <p:nvPr/>
        </p:nvSpPr>
        <p:spPr>
          <a:xfrm>
            <a:off x="9732286" y="6970636"/>
            <a:ext cx="6650714" cy="2546082"/>
          </a:xfrm>
          <a:prstGeom prst="rect">
            <a:avLst/>
          </a:prstGeom>
        </p:spPr>
        <p:txBody>
          <a:bodyPr wrap="square" lIns="0" tIns="0" rIns="0" bIns="0" rtlCol="0" anchor="t">
            <a:spAutoFit/>
          </a:bodyPr>
          <a:lstStyle/>
          <a:p>
            <a:pPr marL="0" lvl="0" indent="0" algn="just">
              <a:lnSpc>
                <a:spcPts val="1769"/>
              </a:lnSpc>
              <a:spcBef>
                <a:spcPct val="0"/>
              </a:spcBef>
            </a:pPr>
            <a:r>
              <a:rPr lang="en-US" dirty="0">
                <a:solidFill>
                  <a:srgbClr val="333446"/>
                </a:solidFill>
                <a:latin typeface="Poppins"/>
                <a:ea typeface="Poppins"/>
                <a:cs typeface="Poppins"/>
                <a:sym typeface="Poppins"/>
              </a:rPr>
              <a:t>Materials Checklist:</a:t>
            </a:r>
          </a:p>
          <a:p>
            <a:pPr marL="0" lvl="0" indent="0" algn="just">
              <a:lnSpc>
                <a:spcPts val="1769"/>
              </a:lnSpc>
              <a:spcBef>
                <a:spcPct val="0"/>
              </a:spcBef>
            </a:pPr>
            <a:r>
              <a:rPr lang="en-US" dirty="0">
                <a:solidFill>
                  <a:srgbClr val="333446"/>
                </a:solidFill>
                <a:latin typeface="Poppins"/>
                <a:ea typeface="Poppins"/>
                <a:cs typeface="Poppins"/>
                <a:sym typeface="Poppins"/>
              </a:rPr>
              <a:t>• VEX </a:t>
            </a:r>
            <a:r>
              <a:rPr lang="en-US" dirty="0" err="1">
                <a:solidFill>
                  <a:srgbClr val="333446"/>
                </a:solidFill>
                <a:latin typeface="Poppins"/>
                <a:ea typeface="Poppins"/>
                <a:cs typeface="Poppins"/>
                <a:sym typeface="Poppins"/>
              </a:rPr>
              <a:t>Aimbot</a:t>
            </a:r>
            <a:r>
              <a:rPr lang="en-US" dirty="0">
                <a:solidFill>
                  <a:srgbClr val="333446"/>
                </a:solidFill>
                <a:latin typeface="Poppins"/>
                <a:ea typeface="Poppins"/>
                <a:cs typeface="Poppins"/>
                <a:sym typeface="Poppins"/>
              </a:rPr>
              <a:t> robot (charged)</a:t>
            </a:r>
          </a:p>
          <a:p>
            <a:pPr marL="0" lvl="0" indent="0" algn="just">
              <a:lnSpc>
                <a:spcPts val="1769"/>
              </a:lnSpc>
              <a:spcBef>
                <a:spcPct val="0"/>
              </a:spcBef>
            </a:pPr>
            <a:r>
              <a:rPr lang="en-US" dirty="0">
                <a:solidFill>
                  <a:srgbClr val="333446"/>
                </a:solidFill>
                <a:latin typeface="Poppins"/>
                <a:ea typeface="Poppins"/>
                <a:cs typeface="Poppins"/>
                <a:sym typeface="Poppins"/>
              </a:rPr>
              <a:t>• Remote controller</a:t>
            </a:r>
          </a:p>
          <a:p>
            <a:pPr marL="0" lvl="0" indent="0" algn="just">
              <a:lnSpc>
                <a:spcPts val="1769"/>
              </a:lnSpc>
              <a:spcBef>
                <a:spcPct val="0"/>
              </a:spcBef>
            </a:pPr>
            <a:r>
              <a:rPr lang="en-US" dirty="0">
                <a:solidFill>
                  <a:srgbClr val="333446"/>
                </a:solidFill>
                <a:latin typeface="Poppins"/>
                <a:ea typeface="Poppins"/>
                <a:cs typeface="Poppins"/>
                <a:sym typeface="Poppins"/>
              </a:rPr>
              <a:t>• Laptop with VEX coding environment</a:t>
            </a:r>
          </a:p>
          <a:p>
            <a:pPr marL="0" lvl="0" indent="0" algn="just">
              <a:lnSpc>
                <a:spcPts val="1769"/>
              </a:lnSpc>
              <a:spcBef>
                <a:spcPct val="0"/>
              </a:spcBef>
            </a:pPr>
            <a:r>
              <a:rPr lang="en-US" dirty="0">
                <a:solidFill>
                  <a:srgbClr val="333446"/>
                </a:solidFill>
                <a:latin typeface="Poppins"/>
                <a:ea typeface="Poppins"/>
                <a:cs typeface="Poppins"/>
                <a:sym typeface="Poppins"/>
              </a:rPr>
              <a:t>• Arena/obstacle course setup</a:t>
            </a:r>
          </a:p>
          <a:p>
            <a:pPr marL="0" lvl="0" indent="0" algn="just">
              <a:lnSpc>
                <a:spcPts val="1769"/>
              </a:lnSpc>
              <a:spcBef>
                <a:spcPct val="0"/>
              </a:spcBef>
            </a:pPr>
            <a:r>
              <a:rPr lang="en-US" dirty="0">
                <a:solidFill>
                  <a:srgbClr val="333446"/>
                </a:solidFill>
                <a:latin typeface="Poppins"/>
                <a:ea typeface="Poppins"/>
                <a:cs typeface="Poppins"/>
                <a:sym typeface="Poppins"/>
              </a:rPr>
              <a:t>• Printed program or cue cards</a:t>
            </a:r>
          </a:p>
          <a:p>
            <a:pPr marL="0" lvl="0" indent="0" algn="just">
              <a:lnSpc>
                <a:spcPts val="1769"/>
              </a:lnSpc>
              <a:spcBef>
                <a:spcPct val="0"/>
              </a:spcBef>
            </a:pPr>
            <a:endParaRPr lang="en-US" dirty="0">
              <a:solidFill>
                <a:srgbClr val="333446"/>
              </a:solidFill>
              <a:latin typeface="Poppins"/>
              <a:ea typeface="Poppins"/>
              <a:cs typeface="Poppins"/>
              <a:sym typeface="Poppins"/>
            </a:endParaRPr>
          </a:p>
          <a:p>
            <a:pPr marL="0" lvl="0" indent="0" algn="just">
              <a:lnSpc>
                <a:spcPts val="1769"/>
              </a:lnSpc>
              <a:spcBef>
                <a:spcPct val="0"/>
              </a:spcBef>
            </a:pPr>
            <a:r>
              <a:rPr lang="en-US" dirty="0">
                <a:solidFill>
                  <a:srgbClr val="333446"/>
                </a:solidFill>
                <a:latin typeface="Poppins"/>
                <a:ea typeface="Poppins"/>
                <a:cs typeface="Poppins"/>
                <a:sym typeface="Poppins"/>
              </a:rPr>
              <a:t>Expected Learning Outcomes:</a:t>
            </a:r>
          </a:p>
          <a:p>
            <a:pPr marL="0" lvl="0" indent="0" algn="just">
              <a:lnSpc>
                <a:spcPts val="1769"/>
              </a:lnSpc>
              <a:spcBef>
                <a:spcPct val="0"/>
              </a:spcBef>
            </a:pPr>
            <a:r>
              <a:rPr lang="en-US" dirty="0">
                <a:solidFill>
                  <a:srgbClr val="333446"/>
                </a:solidFill>
                <a:latin typeface="Poppins"/>
                <a:ea typeface="Poppins"/>
                <a:cs typeface="Poppins"/>
                <a:sym typeface="Poppins"/>
              </a:rPr>
              <a:t>Visitors will understand how students use block code, AI vision, and remote control to program autonomous and manual robot </a:t>
            </a:r>
            <a:r>
              <a:rPr lang="en-US" dirty="0" err="1">
                <a:solidFill>
                  <a:srgbClr val="333446"/>
                </a:solidFill>
                <a:latin typeface="Poppins"/>
                <a:ea typeface="Poppins"/>
                <a:cs typeface="Poppins"/>
                <a:sym typeface="Poppins"/>
              </a:rPr>
              <a:t>behaviours</a:t>
            </a:r>
            <a:r>
              <a:rPr lang="en-US" dirty="0">
                <a:solidFill>
                  <a:srgbClr val="333446"/>
                </a:solidFill>
                <a:latin typeface="Poppins"/>
                <a:ea typeface="Poppins"/>
                <a:cs typeface="Poppins"/>
                <a:sym typeface="Poppins"/>
              </a:rPr>
              <a:t> in real-world challenges.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0" y="3575788"/>
            <a:ext cx="18288000" cy="1465039"/>
          </a:xfrm>
          <a:prstGeom prst="rect">
            <a:avLst/>
          </a:prstGeom>
        </p:spPr>
        <p:txBody>
          <a:bodyPr lIns="0" tIns="0" rIns="0" bIns="0" rtlCol="0" anchor="t">
            <a:spAutoFit/>
          </a:bodyPr>
          <a:lstStyle/>
          <a:p>
            <a:pPr marL="0" lvl="0" indent="0" algn="ctr">
              <a:lnSpc>
                <a:spcPts val="11318"/>
              </a:lnSpc>
              <a:spcBef>
                <a:spcPct val="0"/>
              </a:spcBef>
            </a:pPr>
            <a:r>
              <a:rPr lang="en-US" sz="8084">
                <a:solidFill>
                  <a:srgbClr val="333446"/>
                </a:solidFill>
                <a:latin typeface="Poppins Light"/>
                <a:ea typeface="Poppins Light"/>
                <a:cs typeface="Poppins Light"/>
                <a:sym typeface="Poppins Light"/>
              </a:rPr>
              <a:t>SHOWCASE CODING OPTIONS</a:t>
            </a:r>
          </a:p>
        </p:txBody>
      </p:sp>
      <p:sp>
        <p:nvSpPr>
          <p:cNvPr id="3" name="TextBox 3"/>
          <p:cNvSpPr txBox="1"/>
          <p:nvPr/>
        </p:nvSpPr>
        <p:spPr>
          <a:xfrm>
            <a:off x="1028700" y="5487075"/>
            <a:ext cx="5087534"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REMOTES: MANUAL CONTROL</a:t>
            </a:r>
          </a:p>
        </p:txBody>
      </p:sp>
      <p:sp>
        <p:nvSpPr>
          <p:cNvPr id="4" name="TextBox 4"/>
          <p:cNvSpPr txBox="1"/>
          <p:nvPr/>
        </p:nvSpPr>
        <p:spPr>
          <a:xfrm>
            <a:off x="1164146"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Use a controller to drive the robot live during the demo. Great for showing visitors how to steer and interact with the robot in real time. Simple, engaging, and easy to explain to parents and guests.</a:t>
            </a:r>
          </a:p>
        </p:txBody>
      </p:sp>
      <p:sp>
        <p:nvSpPr>
          <p:cNvPr id="5" name="TextBox 5"/>
          <p:cNvSpPr txBox="1"/>
          <p:nvPr/>
        </p:nvSpPr>
        <p:spPr>
          <a:xfrm>
            <a:off x="7002720" y="5487075"/>
            <a:ext cx="4554061"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BUTTON CODING: INTERACTIVE TRIGGERS</a:t>
            </a:r>
          </a:p>
        </p:txBody>
      </p:sp>
      <p:sp>
        <p:nvSpPr>
          <p:cNvPr id="6" name="TextBox 6"/>
          <p:cNvSpPr txBox="1"/>
          <p:nvPr/>
        </p:nvSpPr>
        <p:spPr>
          <a:xfrm>
            <a:off x="12543263" y="5487075"/>
            <a:ext cx="4554061" cy="316890"/>
          </a:xfrm>
          <a:prstGeom prst="rect">
            <a:avLst/>
          </a:prstGeom>
        </p:spPr>
        <p:txBody>
          <a:bodyPr lIns="0" tIns="0" rIns="0" bIns="0" rtlCol="0" anchor="t">
            <a:spAutoFit/>
          </a:bodyPr>
          <a:lstStyle/>
          <a:p>
            <a:pPr marL="0" lvl="0" indent="0" algn="ctr">
              <a:lnSpc>
                <a:spcPts val="2483"/>
              </a:lnSpc>
              <a:spcBef>
                <a:spcPct val="0"/>
              </a:spcBef>
            </a:pPr>
            <a:r>
              <a:rPr lang="en-US" sz="1774" b="1" spc="-35">
                <a:solidFill>
                  <a:srgbClr val="333446"/>
                </a:solidFill>
                <a:latin typeface="Poppins Heavy"/>
                <a:ea typeface="Poppins Heavy"/>
                <a:cs typeface="Poppins Heavy"/>
                <a:sym typeface="Poppins Heavy"/>
              </a:rPr>
              <a:t>BLOCK CODE: AUTOMATED SCRIPTS</a:t>
            </a:r>
          </a:p>
        </p:txBody>
      </p:sp>
      <p:sp>
        <p:nvSpPr>
          <p:cNvPr id="7" name="TextBox 7"/>
          <p:cNvSpPr txBox="1"/>
          <p:nvPr/>
        </p:nvSpPr>
        <p:spPr>
          <a:xfrm>
            <a:off x="6871429"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Program specific buttons to trigger robot actions. Visitors can press a button and watch the robot respond. A great way to show how simple inputs create programmed outputs and introduce coding logic.</a:t>
            </a:r>
          </a:p>
        </p:txBody>
      </p:sp>
      <p:sp>
        <p:nvSpPr>
          <p:cNvPr id="8" name="TextBox 8"/>
          <p:cNvSpPr txBox="1"/>
          <p:nvPr/>
        </p:nvSpPr>
        <p:spPr>
          <a:xfrm>
            <a:off x="12411972" y="6036726"/>
            <a:ext cx="4816643" cy="1427199"/>
          </a:xfrm>
          <a:prstGeom prst="rect">
            <a:avLst/>
          </a:prstGeom>
        </p:spPr>
        <p:txBody>
          <a:bodyPr lIns="0" tIns="0" rIns="0" bIns="0" rtlCol="0" anchor="t">
            <a:spAutoFit/>
          </a:bodyPr>
          <a:lstStyle/>
          <a:p>
            <a:pPr marL="0" lvl="0" indent="0" algn="just">
              <a:lnSpc>
                <a:spcPts val="2260"/>
              </a:lnSpc>
              <a:spcBef>
                <a:spcPct val="0"/>
              </a:spcBef>
            </a:pPr>
            <a:r>
              <a:rPr lang="en-US" sz="1614">
                <a:solidFill>
                  <a:srgbClr val="333446"/>
                </a:solidFill>
                <a:latin typeface="Poppins"/>
                <a:ea typeface="Poppins"/>
                <a:cs typeface="Poppins"/>
                <a:sym typeface="Poppins"/>
              </a:rPr>
              <a:t>Set up a fully automated sequence using block code. The robot runs a pre-programmed routine independently. Ideal for demonstrating autonomous navigation, obstacle avoidance, or cargo transport without manual input.</a:t>
            </a:r>
          </a:p>
        </p:txBody>
      </p:sp>
      <p:grpSp>
        <p:nvGrpSpPr>
          <p:cNvPr id="9" name="Group 9"/>
          <p:cNvGrpSpPr/>
          <p:nvPr/>
        </p:nvGrpSpPr>
        <p:grpSpPr>
          <a:xfrm>
            <a:off x="1028700" y="1028700"/>
            <a:ext cx="16199915" cy="2891208"/>
            <a:chOff x="0" y="0"/>
            <a:chExt cx="1220443" cy="217813"/>
          </a:xfrm>
        </p:grpSpPr>
        <p:sp>
          <p:nvSpPr>
            <p:cNvPr id="10" name="Freeform 10"/>
            <p:cNvSpPr/>
            <p:nvPr/>
          </p:nvSpPr>
          <p:spPr>
            <a:xfrm>
              <a:off x="0" y="0"/>
              <a:ext cx="1220443" cy="217813"/>
            </a:xfrm>
            <a:custGeom>
              <a:avLst/>
              <a:gdLst/>
              <a:ahLst/>
              <a:cxnLst/>
              <a:rect l="l" t="t" r="r" b="b"/>
              <a:pathLst>
                <a:path w="1220443" h="217813">
                  <a:moveTo>
                    <a:pt x="10992" y="0"/>
                  </a:moveTo>
                  <a:lnTo>
                    <a:pt x="1209451" y="0"/>
                  </a:lnTo>
                  <a:cubicBezTo>
                    <a:pt x="1215522" y="0"/>
                    <a:pt x="1220443" y="4921"/>
                    <a:pt x="1220443" y="10992"/>
                  </a:cubicBezTo>
                  <a:lnTo>
                    <a:pt x="1220443" y="206821"/>
                  </a:lnTo>
                  <a:cubicBezTo>
                    <a:pt x="1220443" y="209737"/>
                    <a:pt x="1219285" y="212532"/>
                    <a:pt x="1217223" y="214594"/>
                  </a:cubicBezTo>
                  <a:cubicBezTo>
                    <a:pt x="1215162" y="216655"/>
                    <a:pt x="1212366" y="217813"/>
                    <a:pt x="1209451" y="217813"/>
                  </a:cubicBezTo>
                  <a:lnTo>
                    <a:pt x="10992" y="217813"/>
                  </a:lnTo>
                  <a:cubicBezTo>
                    <a:pt x="8076" y="217813"/>
                    <a:pt x="5281" y="216655"/>
                    <a:pt x="3219" y="214594"/>
                  </a:cubicBezTo>
                  <a:cubicBezTo>
                    <a:pt x="1158" y="212532"/>
                    <a:pt x="0" y="209737"/>
                    <a:pt x="0" y="206821"/>
                  </a:cubicBezTo>
                  <a:lnTo>
                    <a:pt x="0" y="10992"/>
                  </a:lnTo>
                  <a:cubicBezTo>
                    <a:pt x="0" y="8076"/>
                    <a:pt x="1158" y="5281"/>
                    <a:pt x="3219" y="3219"/>
                  </a:cubicBezTo>
                  <a:cubicBezTo>
                    <a:pt x="5281" y="1158"/>
                    <a:pt x="8076" y="0"/>
                    <a:pt x="10992" y="0"/>
                  </a:cubicBezTo>
                  <a:close/>
                </a:path>
              </a:pathLst>
            </a:custGeom>
            <a:blipFill>
              <a:blip r:embed="rId2"/>
              <a:stretch>
                <a:fillRect t="-109690" b="-109690"/>
              </a:stretch>
            </a:blipFill>
          </p:spPr>
          <p:txBody>
            <a:bodyPr/>
            <a:lstStyle/>
            <a:p>
              <a:endParaRPr lang="en-AU"/>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579692" y="3737961"/>
            <a:ext cx="16697624" cy="2939415"/>
          </a:xfrm>
          <a:prstGeom prst="rect">
            <a:avLst/>
          </a:prstGeom>
        </p:spPr>
        <p:txBody>
          <a:bodyPr lIns="0" tIns="0" rIns="0" bIns="0" rtlCol="0" anchor="t">
            <a:spAutoFit/>
          </a:bodyPr>
          <a:lstStyle/>
          <a:p>
            <a:pPr marL="0" lvl="0" indent="0" algn="just">
              <a:lnSpc>
                <a:spcPts val="3359"/>
              </a:lnSpc>
            </a:pPr>
            <a:r>
              <a:rPr lang="en-US" sz="2400">
                <a:solidFill>
                  <a:srgbClr val="333446"/>
                </a:solidFill>
                <a:latin typeface="Poppins"/>
                <a:ea typeface="Poppins"/>
                <a:cs typeface="Poppins"/>
                <a:sym typeface="Poppins"/>
              </a:rPr>
              <a:t>🏆 My biggest achievement:</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Challenges I overcame:</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How my understanding improved:</a:t>
            </a:r>
          </a:p>
          <a:p>
            <a:pPr marL="0" lvl="0" indent="0" algn="just">
              <a:lnSpc>
                <a:spcPts val="3359"/>
              </a:lnSpc>
            </a:pPr>
            <a:endParaRPr lang="en-US" sz="2400">
              <a:solidFill>
                <a:srgbClr val="333446"/>
              </a:solidFill>
              <a:latin typeface="Poppins"/>
              <a:ea typeface="Poppins"/>
              <a:cs typeface="Poppins"/>
              <a:sym typeface="Poppins"/>
            </a:endParaRPr>
          </a:p>
          <a:p>
            <a:pPr marL="0" lvl="0" indent="0" algn="just">
              <a:lnSpc>
                <a:spcPts val="3359"/>
              </a:lnSpc>
            </a:pPr>
            <a:r>
              <a:rPr lang="en-US" sz="2400">
                <a:solidFill>
                  <a:srgbClr val="333446"/>
                </a:solidFill>
                <a:latin typeface="Poppins"/>
                <a:ea typeface="Poppins"/>
                <a:cs typeface="Poppins"/>
                <a:sym typeface="Poppins"/>
              </a:rPr>
              <a:t>🚀 Skills I'll take forward:</a:t>
            </a:r>
          </a:p>
        </p:txBody>
      </p:sp>
      <p:sp>
        <p:nvSpPr>
          <p:cNvPr id="3" name="TextBox 3"/>
          <p:cNvSpPr txBox="1"/>
          <p:nvPr/>
        </p:nvSpPr>
        <p:spPr>
          <a:xfrm>
            <a:off x="0" y="-247650"/>
            <a:ext cx="13423108" cy="1566187"/>
          </a:xfrm>
          <a:prstGeom prst="rect">
            <a:avLst/>
          </a:prstGeom>
        </p:spPr>
        <p:txBody>
          <a:bodyPr lIns="0" tIns="0" rIns="0" bIns="0" rtlCol="0" anchor="t">
            <a:spAutoFit/>
          </a:bodyPr>
          <a:lstStyle/>
          <a:p>
            <a:pPr marL="0" lvl="0" indent="0" algn="r">
              <a:lnSpc>
                <a:spcPts val="12118"/>
              </a:lnSpc>
              <a:spcBef>
                <a:spcPct val="0"/>
              </a:spcBef>
            </a:pPr>
            <a:r>
              <a:rPr lang="en-US" sz="8656">
                <a:solidFill>
                  <a:srgbClr val="333446"/>
                </a:solidFill>
                <a:latin typeface="Poppins Light"/>
                <a:ea typeface="Poppins Light"/>
                <a:cs typeface="Poppins Light"/>
                <a:sym typeface="Poppins Light"/>
              </a:rPr>
              <a:t>OVERALL UNIT REFLECTION</a:t>
            </a:r>
          </a:p>
        </p:txBody>
      </p:sp>
      <p:sp>
        <p:nvSpPr>
          <p:cNvPr id="4" name="TextBox 4"/>
          <p:cNvSpPr txBox="1"/>
          <p:nvPr/>
        </p:nvSpPr>
        <p:spPr>
          <a:xfrm>
            <a:off x="710215" y="2611497"/>
            <a:ext cx="4358828" cy="516864"/>
          </a:xfrm>
          <a:prstGeom prst="rect">
            <a:avLst/>
          </a:prstGeom>
        </p:spPr>
        <p:txBody>
          <a:bodyPr lIns="0" tIns="0" rIns="0" bIns="0" rtlCol="0" anchor="t">
            <a:spAutoFit/>
          </a:bodyPr>
          <a:lstStyle/>
          <a:p>
            <a:pPr marL="0" lvl="0" indent="0" algn="l">
              <a:lnSpc>
                <a:spcPts val="4061"/>
              </a:lnSpc>
              <a:spcBef>
                <a:spcPct val="0"/>
              </a:spcBef>
            </a:pPr>
            <a:r>
              <a:rPr lang="en-US" sz="2901" b="1" spc="-58">
                <a:solidFill>
                  <a:srgbClr val="333446"/>
                </a:solidFill>
                <a:latin typeface="Poppins Bold"/>
                <a:ea typeface="Poppins Bold"/>
                <a:cs typeface="Poppins Bold"/>
                <a:sym typeface="Poppins Bold"/>
              </a:rPr>
              <a:t>MY LEARNING SUMMARY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3717172" y="1028700"/>
            <a:ext cx="11946717" cy="8229600"/>
          </a:xfrm>
          <a:custGeom>
            <a:avLst/>
            <a:gdLst/>
            <a:ahLst/>
            <a:cxnLst/>
            <a:rect l="l" t="t" r="r" b="b"/>
            <a:pathLst>
              <a:path w="11946717" h="8229600">
                <a:moveTo>
                  <a:pt x="0" y="0"/>
                </a:moveTo>
                <a:lnTo>
                  <a:pt x="11946717" y="0"/>
                </a:lnTo>
                <a:lnTo>
                  <a:pt x="11946717" y="8229600"/>
                </a:lnTo>
                <a:lnTo>
                  <a:pt x="0" y="8229600"/>
                </a:lnTo>
                <a:lnTo>
                  <a:pt x="0" y="0"/>
                </a:lnTo>
                <a:close/>
              </a:path>
            </a:pathLst>
          </a:custGeom>
          <a:blipFill>
            <a:blip r:embed="rId2"/>
            <a:stretch>
              <a:fillRect/>
            </a:stretch>
          </a:blipFill>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D125B19AF5A64F9D9DB7A4BA1D0C89" ma:contentTypeVersion="13" ma:contentTypeDescription="Create a new document." ma:contentTypeScope="" ma:versionID="345816fe092ee3232c81a20ecd7cf515">
  <xsd:schema xmlns:xsd="http://www.w3.org/2001/XMLSchema" xmlns:xs="http://www.w3.org/2001/XMLSchema" xmlns:p="http://schemas.microsoft.com/office/2006/metadata/properties" xmlns:ns3="1609ea9a-3549-4d65-83ac-92ebd28e6aed" xmlns:ns4="5ae4dc1f-b65e-4b80-9f73-6f264f8d647a" targetNamespace="http://schemas.microsoft.com/office/2006/metadata/properties" ma:root="true" ma:fieldsID="83b983b2b19db3c4e32c80c006253187" ns3:_="" ns4:_="">
    <xsd:import namespace="1609ea9a-3549-4d65-83ac-92ebd28e6aed"/>
    <xsd:import namespace="5ae4dc1f-b65e-4b80-9f73-6f264f8d647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4:SharedWithUsers" minOccurs="0"/>
                <xsd:element ref="ns4:SharedWithDetails" minOccurs="0"/>
                <xsd:element ref="ns4:SharingHintHash"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09ea9a-3549-4d65-83ac-92ebd28e6a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ae4dc1f-b65e-4b80-9f73-6f264f8d647a"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609ea9a-3549-4d65-83ac-92ebd28e6aed" xsi:nil="true"/>
  </documentManagement>
</p:properties>
</file>

<file path=customXml/itemProps1.xml><?xml version="1.0" encoding="utf-8"?>
<ds:datastoreItem xmlns:ds="http://schemas.openxmlformats.org/officeDocument/2006/customXml" ds:itemID="{9EB7C668-B4DD-4881-B949-9F3CB66C68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09ea9a-3549-4d65-83ac-92ebd28e6aed"/>
    <ds:schemaRef ds:uri="5ae4dc1f-b65e-4b80-9f73-6f264f8d647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464775-CA4F-4F10-B736-4A89D7EDE742}">
  <ds:schemaRefs>
    <ds:schemaRef ds:uri="http://schemas.microsoft.com/sharepoint/v3/contenttype/forms"/>
  </ds:schemaRefs>
</ds:datastoreItem>
</file>

<file path=customXml/itemProps3.xml><?xml version="1.0" encoding="utf-8"?>
<ds:datastoreItem xmlns:ds="http://schemas.openxmlformats.org/officeDocument/2006/customXml" ds:itemID="{8DA0696D-2A9D-47C3-AE29-13EA82BCB55A}">
  <ds:schemaRefs>
    <ds:schemaRef ds:uri="http://purl.org/dc/dcmitype/"/>
    <ds:schemaRef ds:uri="http://purl.org/dc/terms/"/>
    <ds:schemaRef ds:uri="http://purl.org/dc/elements/1.1/"/>
    <ds:schemaRef ds:uri="http://schemas.microsoft.com/office/2006/documentManagement/types"/>
    <ds:schemaRef ds:uri="http://schemas.microsoft.com/office/2006/metadata/properties"/>
    <ds:schemaRef ds:uri="http://www.w3.org/XML/1998/namespace"/>
    <ds:schemaRef ds:uri="1609ea9a-3549-4d65-83ac-92ebd28e6aed"/>
    <ds:schemaRef ds:uri="http://schemas.microsoft.com/office/infopath/2007/PartnerControls"/>
    <ds:schemaRef ds:uri="http://schemas.openxmlformats.org/package/2006/metadata/core-properties"/>
    <ds:schemaRef ds:uri="5ae4dc1f-b65e-4b80-9f73-6f264f8d647a"/>
  </ds:schemaRefs>
</ds:datastoreItem>
</file>

<file path=docProps/app.xml><?xml version="1.0" encoding="utf-8"?>
<Properties xmlns="http://schemas.openxmlformats.org/officeDocument/2006/extended-properties" xmlns:vt="http://schemas.openxmlformats.org/officeDocument/2006/docPropsVTypes">
  <TotalTime>126</TotalTime>
  <Words>2084</Words>
  <Application>Microsoft Office PowerPoint</Application>
  <PresentationFormat>Custom</PresentationFormat>
  <Paragraphs>238</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Poppins</vt:lpstr>
      <vt:lpstr>Poppins Bold</vt:lpstr>
      <vt:lpstr>Calibri</vt:lpstr>
      <vt:lpstr>Poppins Ultra-Bold</vt:lpstr>
      <vt:lpstr>Arial</vt:lpstr>
      <vt:lpstr>Poppins Light</vt:lpstr>
      <vt:lpstr>Poppins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9 STEM Digital Portfolio: VEX Aimbots Unit</dc:title>
  <dc:creator>Grace Ladiges</dc:creator>
  <cp:lastModifiedBy>Grace Ladiges</cp:lastModifiedBy>
  <cp:revision>4</cp:revision>
  <dcterms:created xsi:type="dcterms:W3CDTF">2006-08-16T00:00:00Z</dcterms:created>
  <dcterms:modified xsi:type="dcterms:W3CDTF">2026-08-20T02:35:55Z</dcterms:modified>
  <dc:identifier>DAHMCSqlsy4</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0x010100B1D125B19AF5A64F9D9DB7A4BA1D0C89</vt:lpwstr>
  </property>
</Properties>
</file>